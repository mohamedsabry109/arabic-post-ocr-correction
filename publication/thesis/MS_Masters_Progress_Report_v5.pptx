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2000" cy="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Arabic Post-OCR Correction with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55E"/>
                </a:solidFill>
                <a:latin typeface="Calibri"/>
              </a:rPr>
              <a:t>Can LLMs bridge the gap between open-source and closed-source Arabic OCR?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17"/>
                </a:solidFill>
                <a:latin typeface="Calibri"/>
              </a:rPr>
              <a:t>Final Progress Report  ·  3 Experiments  ·  9 Datasets  ·  4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Mohamed Sabry  ·  Faculty of Engineering, Cairo University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D7EE"/>
                </a:solidFill>
                <a:latin typeface="Calibri"/>
              </a:rPr>
              <a:t>Primary model: Qwen3-4B-Instruct-2507  ·  OCR: Qaari (Qari-OCR-0.1-VL-2B)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Datasets: PATS-A01 (8 fonts)  +  KHATT  +  KHATT-Para  +  Yarmouk  +  Muharaf  +  Historical  +  BM  +  Kitab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Research Question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Three experiments — progressive prompt engineering, model scaling, domain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The Problem:</a:t>
            </a: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Qaari (open-source Arabic OCR) produces systematic character-level errors: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Dot-group confusions: ب/ت/ث/ي/ن — identical skeletons, differ only in dots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Similar-shape pairs: ف/ق, ر/ز, ص/ض — easily confused under noise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Runaway bug: Qaari repeats phrases on noisy/blank images (up to 17.7% of samples)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/>
            </a: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The Opportunity:</a:t>
            </a: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LLMs have broad Arabic linguistic knowledge from pre-training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Instruction-following enables prompt-based correction without fine-tuning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Can post-OCR correction close the gap to expensive closed-source VLMs?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/>
            </a: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Evaluation methodology:</a:t>
            </a: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Normal samples only (OCR/GT length ratio ≤5.0 — exclude Qaari runaways)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Diacritics stripped before CER/WER — fair comparison across models</a:t>
            </a:r>
          </a:p>
          <a:p>
            <a:pPr>
              <a:lnSpc>
                <a:spcPts val="1820"/>
              </a:lnSpc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400">
                <a:solidFill>
                  <a:srgbClr val="222222"/>
                </a:solidFill>
                <a:latin typeface="Calibri"/>
              </a:rPr>
              <a:t>Runaway corrector applied where noted (CER†): ratio threshold 3.0×GT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51560"/>
            <a:ext cx="6035040" cy="521208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Calibri"/>
              </a:rPr>
              <a:t>Experimental Structure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91640"/>
          <a:ext cx="566928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Question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Phases 1–9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Does any LLM strategy improve Qaari OCR?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Which knowledge type helps most?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phases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Which prompt design is optimal?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Aggressive vs conservative vs RAG vs error-pattern?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trials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Best prompt × 4 models × 2 OCR sources × 3 domains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 runs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3035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Primary metric throughout: CER (mean over normal samples, diacritics stripped)
Primary model: Qwen3-4B-Instruct-2507  |  OCR: Qaari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Phased Knowledge 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8 experimental phases, each isolating one variable  ·  PATS-A01 (8 fonts) + KHATT  ·  Qwen3-4B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Phase 1: </a:t>
            </a:r>
            <a:r>
              <a:rPr sz="1600">
                <a:solidFill>
                  <a:srgbClr val="BDD7EE"/>
                </a:solidFill>
                <a:latin typeface="Calibri"/>
              </a:rPr>
              <a:t>Qaari OCR baseline — error taxonomy, confusion matrix, runaway analysis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Phases 2–6,8,9: </a:t>
            </a:r>
            <a:r>
              <a:rPr sz="1600">
                <a:solidFill>
                  <a:srgbClr val="BDD7EE"/>
                </a:solidFill>
                <a:latin typeface="Calibri"/>
              </a:rPr>
              <a:t>Progressive LLM correction — zero-shot → confusion matrix → self-reflective → combinations → RAG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LLM correction is net harmful on PATS average; only RAG achieves below OCR baseline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KHATT consistently improves ~1 pp CER across all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Phase 1: Qaari OCR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Source: results_first_experiment_pats_khatt_only_8_phases_complete/phase1/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5943600" cy="40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365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(normal)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Runaway %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437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★ Easiest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★ Easiest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9.56%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○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31.11%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441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3,458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5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75.60%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33271"/>
            <a:ext cx="5760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Key observations: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PATS-A01 CER spans 2.12%–12.12% (5.7× range) across 8 fonts rendering identical text — typeface alone drives this variation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 handwritten: 34.24% CER = 6.1× harder than PATS average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Runaway samples excluded from all LLM metrics (Qaari repetition bug)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Error taxonomy (PATS-A01 aggregate):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42.1% dot confusions (ب/ت/ث/ي/ن)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18.3% similar-shape substitutions (ف/ق, ر/ز)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11.6% hamza/alef variants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9.0% taa marbuta/ha confusions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KHATT error profile: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37% segmentation errors (word merges + splits) — rare in typewritten text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Segmentation errors are structurally harder for text-only LLM correction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Two correction regimes: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PATS: already accurate — LLM risks introducing more errors than it fixes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KHATT: high noise — LLM has more signal but errors are harder to infer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Phases 2–9: All LLM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PATS avg + KHATT  |  Δ vs Phase 1 OCR baseline  |  Red = harms PATS  |  Green = improves vs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11887200" cy="34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171"/>
                <a:gridCol w="1698171"/>
                <a:gridCol w="1698171"/>
                <a:gridCol w="1698171"/>
                <a:gridCol w="1698171"/>
                <a:gridCol w="1698171"/>
                <a:gridCol w="1698174"/>
              </a:tblGrid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PATS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KHATT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 Baseline (Qaari)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Zero-Shot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+0.27%↑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−0.99%↓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OCR-Aware (confusion matrix)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+0.17%↑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14.16%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−0.98%↓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Self-Reflective (training artifacts)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−1.00%↓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P5†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CAMeL Validation (buggy†)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21.89%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90.74%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41.62%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D46B08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Combination: conf+self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+0.19%↑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−0.97%↓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RAG BM25 (char n-gram)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−0.12%↓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12.04%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−0.41%↓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Error-Signature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−0.10%↓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−1.11%↓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87959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† Phase 5 had implementation bugs (MorphAnalyzer init + position-keyed revert). Results are invalid; excluded from conclusions.    |  Best PATS: P8 RAG (5.45%, −0.12% vs baseline).  Best KHATT: P9 Error-Sig (33.13%, −1.11%).  All prompt strategies except RAG HARM or are neutral on PATS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Font-Level Impact: Which Strategies Help Which Fonts?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Green = improvement vs OCR baseline  |  Red = degradation  |  Values = CER%  |  Bold = best per font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24128"/>
          <a:ext cx="11887200" cy="41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7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P2 ZS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P3 Conf.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P4 Self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P6 C+S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P8 RAG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P9 Err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2.57%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2.46%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2.93%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2.72%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2.56%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2.75%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2.88%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4.08%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3.76%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4.13%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3.94%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5.91%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6.15%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10.92%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10.94%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10.67%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10.61%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12.27%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11.75%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11.51%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13.22%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11.98%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01675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P2 zero-shot harms 7 of 8 fonts (Traditional only exception: 3.63%→2.96%, −18.5%).  P8 RAG is only strategy with PATS avg below OCR baseline.  KHATT: all strategies improve by ~1 pp except P8 (slightly worse) and P9 (best: 33.13%).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1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The over-correction problem dominates typewritten correction; RAG is the only reliable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1 — Zero-shot LLM is net harmful on PATS: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P2 zero-shot increases PATS avg CER from 5.57% to 5.84% (+4.8%)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7 of 8 PATS fonts are harmed; only Traditional improves (−18.5%)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Root cause: model is "helpful" — rewrites correct tokens even with conservative prompt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2 — RAG achieves the only PATS improvement: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P8 RAG BM25: 5.45% (−0.12% vs OCR baseline) — only strategy below baseline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P9 Error-Sig RAG: 5.47% (−0.10%) — close second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Domain-matched retrieval prevents false corrections; zero-shot examples on clean input ≈ no-op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3 — KHATT: modest but consistent improvement: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All prompt strategies reduce KHATT CER by 0.4–1.1 pp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P9 best: 33.13% (−1.11% abs vs OCR baseline 34.24%)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Segmentation errors limit further gains (37% of KHATT errors = word merges/splits)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Finding 4 — No universal threshold: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Traditional (3.63% CER) is helped; Arial (3.65%) is harmed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Error type, not just baseline CER, determines whether LLM helps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51560"/>
            <a:ext cx="6080760" cy="530352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715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Per-Font: Which Fonts Benefit from P8 RAG?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737360"/>
          <a:ext cx="5715000" cy="3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</a:tblGrid>
              <a:tr h="36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P8 RAG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+0.89%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55555"/>
                          </a:solidFill>
                          <a:latin typeface="Calibri"/>
                        </a:defRPr>
                      </a:pPr>
                      <a:r>
                        <a:t>○ flat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−0.56%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+0.26%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✖ harmed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−0.53%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helped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6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−0.12%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✓ best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Prompt Design Study — 8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Systematic prompt engineering: base vs conservative vs error-pattern × zero-shot vs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13 datasets: </a:t>
            </a:r>
            <a:r>
              <a:rPr sz="1600">
                <a:solidFill>
                  <a:srgbClr val="BDD7EE"/>
                </a:solidFill>
                <a:latin typeface="Calibri"/>
              </a:rPr>
              <a:t>PATS-A01 (8 fonts) + KHATT + KHATT-Para + Yarmouk + Muharaf + Historical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Model: </a:t>
            </a:r>
            <a:r>
              <a:rPr sz="1600">
                <a:solidFill>
                  <a:srgbClr val="BDD7EE"/>
                </a:solidFill>
                <a:latin typeface="Calibri"/>
              </a:rPr>
              <a:t>Qwen3-4B-Instruct-2507 (same as Exp1)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Goal: </a:t>
            </a:r>
            <a:r>
              <a:rPr sz="1600">
                <a:solidFill>
                  <a:srgbClr val="BDD7EE"/>
                </a:solidFill>
                <a:latin typeface="Calibri"/>
              </a:rPr>
              <a:t>Find the optimal prompt configuration for Experiment 3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Key finding: </a:t>
            </a:r>
            <a:r>
              <a:rPr sz="1600">
                <a:solidFill>
                  <a:srgbClr val="BDD7EE"/>
                </a:solidFill>
                <a:latin typeface="Calibri"/>
              </a:rPr>
              <a:t>T3 (conservative zero-shot) best PATS (5.27%); T7 catastrophic (190%!)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2 — 8 Prompt Trials: PATS &amp; KHATT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13 datasets  |  normal-only, diacritics stripped  |  Qwen3-4B  |  ✔ = best per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11887200" cy="3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 ID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Prompt Style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RAG?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Baseline (no LLM)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75.60%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base_zs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 (aggressive)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12.03%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73.76%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cons_zs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13.35%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74.15%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27.02%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28.10%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32.69%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73.29%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hp_zs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19.64%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24.52%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32.64%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73.40%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hp_cons_zs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⚠ Err-pat+Cons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190.60%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198.12%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51.64%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90.58%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88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hp_cons_rag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Err-pat+Cons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46.56%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48.79%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32.54%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73.67%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870448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✔ T3 (conservative zero-shot): best PATS — 5.27% (−5.4% relative vs OCR baseline). No RAG overhead.  ✔ T2 (base+RAG): best overall balance — 5.44% PATS + 33.82% KHATT. → Chosen for Experiment 3.  ⚠ T7: catastrophic — prompt-template tags leaked into LLM output (template injection bug).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2 — Per-Font PATS 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Error-pattern prompts (T4, T6, T7, T8) cause catastrophic font-specific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024128"/>
          <a:ext cx="11978640" cy="3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  <a:gridCol w="1197864"/>
              </a:tblGrid>
              <a:tr h="3720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Trad.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 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2.32%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11.68%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3.74%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3.69%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5.54%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2.58%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25.32%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36.67%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4.01%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2.56%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5.61%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116.3%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4.02%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59.77%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5.28%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5.18%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38.96%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7.77%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25.9%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153.0%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355.4%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300.1%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156.6%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73.9%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199.0%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202.0%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190.6%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3.25%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53.21%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4.21%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196.4%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6.43%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 81.4%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T3 (gold) beats T2 on 6/8 fonts. T2 wins Andalus (10.42% vs 11.68%) and Thuluth (9.68% vs 10.23%). Error-pattern prompts (T4-T8) are unreliable: different fonts fail unpredictably.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2000" cy="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82496"/>
            <a:ext cx="109728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4A017"/>
                </a:solidFill>
                <a:latin typeface="Calibri"/>
              </a:rPr>
              <a:t>Exp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Final Experiment — 3 Research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A017"/>
                </a:solidFill>
                <a:latin typeface="Calibri"/>
              </a:rPr>
              <a:t>Best prompt (T2 base_rag)  ·  4 models  ·  2 OCR sources  ·  BM Bench + Kitab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3A — Model comparison: </a:t>
            </a:r>
            <a:r>
              <a:rPr sz="1600">
                <a:solidFill>
                  <a:srgbClr val="BDD7EE"/>
                </a:solidFill>
                <a:latin typeface="Calibri"/>
              </a:rPr>
              <a:t>4 models × val set × Qaari OCR × T2  (9 datasets each)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3B — OCR source impact: </a:t>
            </a:r>
            <a:r>
              <a:rPr sz="1600">
                <a:solidFill>
                  <a:srgbClr val="BDD7EE"/>
                </a:solidFill>
                <a:latin typeface="Calibri"/>
              </a:rPr>
              <a:t>Qwen3-4B × val set × T2  ×  Qaari vs Gemma-3 VLM as OCR engine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3C — Generalization: </a:t>
            </a:r>
            <a:r>
              <a:rPr sz="1600">
                <a:solidFill>
                  <a:srgbClr val="BDD7EE"/>
                </a:solidFill>
                <a:latin typeface="Calibri"/>
              </a:rPr>
              <a:t>Qwen3-4B × T2  ×  RDI-Test Benchmark + Kitab  ×  2 OCR sources</a:t>
            </a:r>
          </a:p>
          <a:p>
            <a:pPr>
              <a:lnSpc>
                <a:spcPts val="2080"/>
              </a:lnSpc>
              <a:spcAft>
                <a:spcPts val="200"/>
              </a:spcAft>
            </a:pPr>
            <a:r>
              <a:rPr sz="1600" b="1">
                <a:solidFill>
                  <a:srgbClr val="BDD7EE"/>
                </a:solidFill>
                <a:latin typeface="Calibri"/>
              </a:rPr>
              <a:t>Runaway corrector applied (CER†): </a:t>
            </a:r>
            <a:r>
              <a:rPr sz="1600">
                <a:solidFill>
                  <a:srgbClr val="BDD7EE"/>
                </a:solidFill>
                <a:latin typeface="Calibri"/>
              </a:rPr>
              <a:t>critical for Qwen3-14B which has massive runaway epidemic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3A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val set · Qaari OCR · T2 (base_rag)  |  CER = raw output  |  CER† = after runaway correction  |  FP = Full-page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33271"/>
          <a:ext cx="7223760" cy="249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965"/>
                <a:gridCol w="1031965"/>
                <a:gridCol w="1031965"/>
                <a:gridCol w="1031965"/>
                <a:gridCol w="1031965"/>
                <a:gridCol w="1031965"/>
                <a:gridCol w="1031970"/>
              </a:tblGrid>
              <a:tr h="41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OCR Baseline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Qwen3-4B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Qwen3-14B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15.30%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5.60%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175.69%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35.55%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88.51%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Gemma-3-4B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71.12%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41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Gemma-3-12B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70.01%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06640" y="103327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Calibri"/>
              </a:rPr>
              <a:t>Per-font PATS CER† (runaway-corrected)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1508760"/>
          <a:ext cx="4663440" cy="3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72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Q3-4B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Q3-14B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G3-4B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G3-12B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4.93%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3.26%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3.96%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3.35%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5.90%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3.67%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4.75%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5.94%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4.41%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7.64%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6.03%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9.06%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11.81%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8.86%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13.26%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10.00%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</a:tr>
              <a:tr h="372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5440680"/>
            <a:ext cx="11887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95"/>
              </a:lnSpc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Calibri"/>
              </a:rPr>
              <a:t>Key: </a:t>
            </a:r>
            <a:r>
              <a:rPr sz="1150">
                <a:solidFill>
                  <a:srgbClr val="222222"/>
                </a:solidFill>
                <a:latin typeface="Calibri"/>
              </a:rPr>
              <a:t>Runaway corrector essential for Q3-14B (KHATT 175.69%→35.55% with fix).  G3-12B best PATS (5.33%); Q3-4B best KHATT (33.82%) + FP (68.18%).  FP = Full-page: OCR 86.50% → Q3-4B 68.18% (−21% abs).  G3-4B consistently worst; larger scale helps only within each family.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3B — OCR Source Quality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Qwen3-4B · T2  |  Full-page datasets only (Gemma excluded for line-strip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887200" cy="650000"/>
          </a:xfrm>
          <a:prstGeom prst="rect">
            <a:avLst/>
          </a:prstGeom>
          <a:solidFill>
            <a:srgbClr val="FFF0C8"/>
          </a:solidFill>
          <a:ln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C3D00"/>
                </a:solidFill>
                <a:latin typeface="Calibri"/>
              </a:rPr>
              <a:t>⚠  Gemma-3 VLM OCR is EXCLUDED for PATS and KHATT (line-strip images, 10–16:1 aspect ratio). Gemma's image preprocessor squashes these to near-square → hallucinations + loops → results invalid. Gemma results reported only for full-page datasets (~0.6:1 ratio) where the comparison is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727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Full-page datasets — Qaari vs Gemma OCR (valid comparison)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965960"/>
          <a:ext cx="7315200" cy="3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WER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WER†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KHATT-Paragraph-val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61.68%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91.24%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45.06%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68.49%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64.43%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Yarmouk-testing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78.32%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43.35%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Muharaf-validation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129.39%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152.67%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123.10%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141.15%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182.26%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105.10%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136.81%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127.03%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121.77%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74.09%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118.52%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116.67%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80.60%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87.33%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123.17%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64.28%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1572768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Key findings: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Full-page comparison: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OCR ≈ Qaari (87% vs 87%)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corrected: 64.28% vs Qaari 68.18%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LLM extracts more from Gemma FP output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Why not PATS/KHATT: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Line strips: 10–16:1 ratio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preprocessor: squashes to square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Result: hallucinations + loops → invalid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Implication: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OCR source matters less for full-page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Line-strip OCR: Qaari is the reliable engine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VLM OCR needs aspect-ratio-aware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Experiment 3C — Generalization to New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Qwen3-4B · T2 · British Museum Arabic Benchmark + Kitab Benchmark  |  CER†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RDI-Test-Lines (line-strip images, text GT)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898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Note: RDI-Test Line Segmentation excluded — polygon-only GT, no text transcription.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1691640"/>
          <a:ext cx="6126480" cy="319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80"/>
                <a:gridCol w="1021080"/>
                <a:gridCol w="1021080"/>
                <a:gridCol w="1021080"/>
                <a:gridCol w="1021080"/>
                <a:gridCol w="1021080"/>
              </a:tblGrid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LR-Handwritten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385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98.82%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91.55%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62.53%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57.71%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LR-Manuscripts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1009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81.94%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79.00%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−2.9%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70.36%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LR-Typewritten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671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105.19%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84.79%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−20.4%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64.86%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55.31%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RDI-Test-Lines Overall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2065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95.31%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85.11%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−10.7%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RDI-Test-Lines Overall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3251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68.49%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−10.7%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00584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55E"/>
                </a:solidFill>
                <a:latin typeface="Calibri"/>
              </a:rPr>
              <a:t>Kitab Benchmark (13 subsets)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417320"/>
          <a:ext cx="5623560" cy="381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1124712"/>
                <a:gridCol w="1124712"/>
                <a:gridCol w="1124712"/>
                <a:gridCol w="1124712"/>
              </a:tblGrid>
              <a:tr h="347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Src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kitab-hindawi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31.46%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24.31%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−7.2%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kitab-historyar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kitab-muharaf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76.04%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58.72%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−17.3%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kitab-isippt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kitab-patsocr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87.98%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69.95%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−18.0%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kitab-khattpar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205.27%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90.60%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−114.7%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kitab-arabicocr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1.80%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7.21%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+5.4%⚠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kitab-evarest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C02020"/>
                          </a:solidFill>
                          <a:latin typeface="Calibri"/>
                        </a:defRPr>
                      </a:pPr>
                      <a:r>
                        <a:t>+27.8%⚠</a:t>
                      </a:r>
                    </a:p>
                  </a:txBody>
                  <a:tcPr>
                    <a:solidFill>
                      <a:srgbClr val="FAE0E0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Kitab Overall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49.28%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40.73%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−17.3%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47000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Overall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79.45%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60.07%</a:t>
                      </a:r>
                    </a:p>
                  </a:txBody>
                  <a:tcPr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−24.4%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2880" y="594360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alibri"/>
              </a:rPr>
              <a:t>RDI-Test-Lines: Gemma OCR better than Qaari on Handwritten (62% vs 98%) and Typewritten (65% vs 105%) — Qaari struggles on diverse BM images.  Kitab −17% (Qaari) / −24% (Gemma).  Low-CER subsets harmed (arabicocr 1.8%); khattparagraph 205%→90% (runaway corrector essential).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* Normal samples only (OCR/GT ratio ≤5.0), diacritics stripped. CER† = after runaway correction (ratio threshold 3.0×GT).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Summary — Final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Calibri"/>
              </a:rPr>
              <a:t>All metrics: normal samples only, diacritics stripped, CER† = runaway-corrected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731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F5F5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33271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Research Answer: Yes, with important caveats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Exp1 — Phased strategies: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LLM correction net harmful on PATS avg (zero-shot: +4.8%)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Only RAG achieves below OCR baseline: P8 5.45% (−0.12%)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KHATT: ~1 pp improvement across all strategies (P9 best: 33.13%)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Over-correction: 7/8 fonts harmed by zero-shot; font-specific, not CER-threshold-based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Exp2 — Prompt design: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Conservative zero-shot (T3): best PATS 5.27% (−5.4% relative)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Base+RAG (T2): best overall balance — used in Exp3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Error-pattern prompts: risky — catastrophic on some fonts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/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Exp3 — Final results:</a:t>
            </a:r>
            <a:r>
              <a:rPr sz="13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Best PATS: Gemma-3-12B 5.33%  |  Best KHATT: Qwen3-4B 33.82%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Qwen3-14B: runaway epidemic (175%→35% with corrector)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Full-page: OCR 86.50% → 68.18% (−21% abs)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Generalizes: BM −10.7%, Kitab −17–24%</a:t>
            </a:r>
          </a:p>
          <a:p>
            <a:pPr>
              <a:lnSpc>
                <a:spcPts val="1690"/>
              </a:lnSpc>
              <a:spcAft>
                <a:spcPts val="2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  • </a:t>
            </a:r>
            <a:r>
              <a:rPr sz="1300">
                <a:solidFill>
                  <a:srgbClr val="222222"/>
                </a:solidFill>
                <a:latin typeface="Calibri"/>
              </a:rPr>
              <a:t>Gemma VLM OCR: excluded for line strips (invalid); better than Qaari on RDI-Test-Lines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33271"/>
            <a:ext cx="6035040" cy="5303520"/>
          </a:xfrm>
          <a:prstGeom prst="rect">
            <a:avLst/>
          </a:prstGeom>
          <a:solidFill>
            <a:srgbClr val="E8F2FB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1704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Calibri"/>
              </a:rPr>
              <a:t>Best Results 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45920"/>
          <a:ext cx="566928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950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Dataset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Config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OCR</a:t>
                      </a:r>
                    </a:p>
                  </a:txBody>
                  <a:tcPr>
                    <a:solidFill>
                      <a:srgbClr val="1B355E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(8 fonts)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G3-12B,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−4.3%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PATS (no 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T3 cons_zs, Q3-4B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B355E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FF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−5.4%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−1.2%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Full-page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−21% abs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RDI-Test Benchmark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85.11%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−10.7% abs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(Qaari)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40.73%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−17.3%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  <a:tr h="39500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Kitab (Gemma OCR)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Q3-4B, T2, Gemma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60.07%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E6B2E"/>
                          </a:solidFill>
                          <a:latin typeface="Calibri"/>
                        </a:defRPr>
                      </a:pPr>
                      <a:r>
                        <a:t>−24.4% rel</a:t>
                      </a:r>
                    </a:p>
                  </a:txBody>
                  <a:tcPr>
                    <a:solidFill>
                      <a:srgbClr val="D8F0D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5760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Mohamed Sabry  ·  Master’s Thesis  ·  Cairo University  ·  June 2026
Metric: normal samples only, diacritics stripped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
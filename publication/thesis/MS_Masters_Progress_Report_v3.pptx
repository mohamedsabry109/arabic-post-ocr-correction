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94960"/>
            <a:ext cx="12188952" cy="14630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698480" cy="914400"/>
          </a:xfrm>
          <a:prstGeom prst="rect">
            <a:avLst/>
          </a:prstGeom>
          <a:noFill/>
        </p:spPr>
        <p:txBody>
          <a:bodyPr wrap="square">
            <a:spAutoFit/>
          </a:bodyPr>
          <a:lstStyle/>
          <a:p>
            <a:pPr algn="ctr"/>
            <a:r>
              <a:rPr sz="3600" b="1">
                <a:solidFill>
                  <a:srgbClr val="FFFFFF"/>
                </a:solidFill>
              </a:rPr>
              <a:t>Arabic Post-OCR Correction with LLMs</a:t>
            </a:r>
          </a:p>
        </p:txBody>
      </p:sp>
      <p:sp>
        <p:nvSpPr>
          <p:cNvPr id="5" name="TextBox 4"/>
          <p:cNvSpPr txBox="1"/>
          <p:nvPr/>
        </p:nvSpPr>
        <p:spPr>
          <a:xfrm>
            <a:off x="731520" y="1828800"/>
            <a:ext cx="10698480" cy="640080"/>
          </a:xfrm>
          <a:prstGeom prst="rect">
            <a:avLst/>
          </a:prstGeom>
          <a:noFill/>
        </p:spPr>
        <p:txBody>
          <a:bodyPr wrap="square">
            <a:spAutoFit/>
          </a:bodyPr>
          <a:lstStyle/>
          <a:p>
            <a:pPr algn="ctr"/>
            <a:r>
              <a:rPr sz="2000" b="0">
                <a:solidFill>
                  <a:srgbClr val="BDD7EE"/>
                </a:solidFill>
              </a:rPr>
              <a:t>Can LLMs bridge the performance gap between open-source and closed-source Arabic OCR?</a:t>
            </a:r>
          </a:p>
        </p:txBody>
      </p:sp>
      <p:sp>
        <p:nvSpPr>
          <p:cNvPr id="6" name="TextBox 5"/>
          <p:cNvSpPr txBox="1"/>
          <p:nvPr/>
        </p:nvSpPr>
        <p:spPr>
          <a:xfrm>
            <a:off x="731520" y="3017520"/>
            <a:ext cx="10698480" cy="369332"/>
          </a:xfrm>
          <a:prstGeom prst="rect">
            <a:avLst/>
          </a:prstGeom>
          <a:noFill/>
        </p:spPr>
        <p:txBody>
          <a:bodyPr wrap="square">
            <a:spAutoFit/>
          </a:bodyPr>
          <a:lstStyle/>
          <a:p>
            <a:pPr algn="ctr"/>
            <a:r>
              <a:rPr sz="1800" b="0" dirty="0">
                <a:solidFill>
                  <a:srgbClr val="FFC000"/>
                </a:solidFill>
              </a:rPr>
              <a:t>Progress </a:t>
            </a:r>
            <a:r>
              <a:rPr sz="1800" b="0" dirty="0" smtClean="0">
                <a:solidFill>
                  <a:srgbClr val="FFC000"/>
                </a:solidFill>
              </a:rPr>
              <a:t>Report</a:t>
            </a:r>
            <a:endParaRPr sz="1800" b="0" dirty="0">
              <a:solidFill>
                <a:srgbClr val="FFC000"/>
              </a:solidFill>
            </a:endParaRPr>
          </a:p>
        </p:txBody>
      </p:sp>
      <p:sp>
        <p:nvSpPr>
          <p:cNvPr id="7" name="TextBox 6"/>
          <p:cNvSpPr txBox="1"/>
          <p:nvPr/>
        </p:nvSpPr>
        <p:spPr>
          <a:xfrm>
            <a:off x="731520" y="3749039"/>
            <a:ext cx="10698480" cy="323165"/>
          </a:xfrm>
          <a:prstGeom prst="rect">
            <a:avLst/>
          </a:prstGeom>
          <a:noFill/>
        </p:spPr>
        <p:txBody>
          <a:bodyPr wrap="square">
            <a:spAutoFit/>
          </a:bodyPr>
          <a:lstStyle/>
          <a:p>
            <a:pPr algn="ctr"/>
            <a:r>
              <a:rPr sz="1500" b="0" dirty="0">
                <a:solidFill>
                  <a:srgbClr val="BDD7EE"/>
                </a:solidFill>
              </a:rPr>
              <a:t>Mohamed Sabry </a:t>
            </a:r>
            <a:r>
              <a:rPr sz="1500" b="0" dirty="0" smtClean="0">
                <a:solidFill>
                  <a:srgbClr val="BDD7EE"/>
                </a:solidFill>
              </a:rPr>
              <a:t>· </a:t>
            </a:r>
            <a:r>
              <a:rPr sz="1500" b="0" dirty="0">
                <a:solidFill>
                  <a:srgbClr val="BDD7EE"/>
                </a:solidFill>
              </a:rPr>
              <a:t>May 2026</a:t>
            </a:r>
          </a:p>
        </p:txBody>
      </p:sp>
      <p:sp>
        <p:nvSpPr>
          <p:cNvPr id="8" name="TextBox 7"/>
          <p:cNvSpPr txBox="1"/>
          <p:nvPr/>
        </p:nvSpPr>
        <p:spPr>
          <a:xfrm>
            <a:off x="731520" y="5577840"/>
            <a:ext cx="10698480" cy="457200"/>
          </a:xfrm>
          <a:prstGeom prst="rect">
            <a:avLst/>
          </a:prstGeom>
          <a:noFill/>
        </p:spPr>
        <p:txBody>
          <a:bodyPr wrap="square">
            <a:spAutoFit/>
          </a:bodyPr>
          <a:lstStyle/>
          <a:p>
            <a:pPr algn="ctr"/>
            <a:r>
              <a:rPr sz="1300" b="0">
                <a:solidFill>
                  <a:srgbClr val="FFFFFF"/>
                </a:solidFill>
              </a:rPr>
              <a:t>Model: Qwen3-4B-Instruct-2507  ·  Datasets: PATS-A01 (typewritten) + KHATT (handwritten)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Research Question &amp; Motivation</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2 / 15</a:t>
            </a:r>
          </a:p>
        </p:txBody>
      </p:sp>
      <p:sp>
        <p:nvSpPr>
          <p:cNvPr id="5" name="Rectangle 4"/>
          <p:cNvSpPr/>
          <p:nvPr/>
        </p:nvSpPr>
        <p:spPr>
          <a:xfrm>
            <a:off x="320040" y="1325879"/>
            <a:ext cx="5486400" cy="241401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0"/>
            <a:ext cx="5212080" cy="365760"/>
          </a:xfrm>
          <a:prstGeom prst="rect">
            <a:avLst/>
          </a:prstGeom>
          <a:noFill/>
        </p:spPr>
        <p:txBody>
          <a:bodyPr wrap="square">
            <a:spAutoFit/>
          </a:bodyPr>
          <a:lstStyle/>
          <a:p>
            <a:pPr algn="l"/>
            <a:r>
              <a:rPr sz="1700" b="1">
                <a:solidFill>
                  <a:srgbClr val="1F3864"/>
                </a:solidFill>
              </a:rPr>
              <a:t>The Problem</a:t>
            </a:r>
          </a:p>
        </p:txBody>
      </p:sp>
      <p:sp>
        <p:nvSpPr>
          <p:cNvPr id="7" name="TextBox 6"/>
          <p:cNvSpPr txBox="1"/>
          <p:nvPr/>
        </p:nvSpPr>
        <p:spPr>
          <a:xfrm>
            <a:off x="457200" y="1783080"/>
            <a:ext cx="5212080" cy="301752"/>
          </a:xfrm>
          <a:prstGeom prst="rect">
            <a:avLst/>
          </a:prstGeom>
          <a:noFill/>
        </p:spPr>
        <p:txBody>
          <a:bodyPr wrap="square">
            <a:spAutoFit/>
          </a:bodyPr>
          <a:lstStyle/>
          <a:p>
            <a:pPr algn="l"/>
            <a:r>
              <a:rPr sz="1400" b="0">
                <a:solidFill>
                  <a:srgbClr val="404040"/>
                </a:solidFill>
              </a:rPr>
              <a:t>• Arabic OCR (Qaari) is open-source &amp; accessible</a:t>
            </a:r>
          </a:p>
        </p:txBody>
      </p:sp>
      <p:sp>
        <p:nvSpPr>
          <p:cNvPr id="8" name="TextBox 7"/>
          <p:cNvSpPr txBox="1"/>
          <p:nvPr/>
        </p:nvSpPr>
        <p:spPr>
          <a:xfrm>
            <a:off x="457200" y="2066544"/>
            <a:ext cx="5212080" cy="301752"/>
          </a:xfrm>
          <a:prstGeom prst="rect">
            <a:avLst/>
          </a:prstGeom>
          <a:noFill/>
        </p:spPr>
        <p:txBody>
          <a:bodyPr wrap="square">
            <a:spAutoFit/>
          </a:bodyPr>
          <a:lstStyle/>
          <a:p>
            <a:pPr algn="l"/>
            <a:r>
              <a:rPr sz="1400" b="0">
                <a:solidFill>
                  <a:srgbClr val="404040"/>
                </a:solidFill>
              </a:rPr>
              <a:t>• But makes systematic character-level errors:</a:t>
            </a:r>
          </a:p>
        </p:txBody>
      </p:sp>
      <p:sp>
        <p:nvSpPr>
          <p:cNvPr id="9" name="TextBox 8"/>
          <p:cNvSpPr txBox="1"/>
          <p:nvPr/>
        </p:nvSpPr>
        <p:spPr>
          <a:xfrm>
            <a:off x="457200" y="2350008"/>
            <a:ext cx="5212080" cy="301752"/>
          </a:xfrm>
          <a:prstGeom prst="rect">
            <a:avLst/>
          </a:prstGeom>
          <a:noFill/>
        </p:spPr>
        <p:txBody>
          <a:bodyPr wrap="square">
            <a:spAutoFit/>
          </a:bodyPr>
          <a:lstStyle/>
          <a:p>
            <a:pPr algn="l"/>
            <a:r>
              <a:rPr sz="1400" b="0">
                <a:solidFill>
                  <a:srgbClr val="404040"/>
                </a:solidFill>
              </a:rPr>
              <a:t>   - Similar-shape confusions (ب / ت / ث)</a:t>
            </a:r>
          </a:p>
        </p:txBody>
      </p:sp>
      <p:sp>
        <p:nvSpPr>
          <p:cNvPr id="10" name="TextBox 9"/>
          <p:cNvSpPr txBox="1"/>
          <p:nvPr/>
        </p:nvSpPr>
        <p:spPr>
          <a:xfrm>
            <a:off x="457200" y="2633472"/>
            <a:ext cx="5212080" cy="301752"/>
          </a:xfrm>
          <a:prstGeom prst="rect">
            <a:avLst/>
          </a:prstGeom>
          <a:noFill/>
        </p:spPr>
        <p:txBody>
          <a:bodyPr wrap="square">
            <a:spAutoFit/>
          </a:bodyPr>
          <a:lstStyle/>
          <a:p>
            <a:pPr algn="l"/>
            <a:r>
              <a:rPr sz="1400" b="0">
                <a:solidFill>
                  <a:srgbClr val="404040"/>
                </a:solidFill>
              </a:rPr>
              <a:t>   - Missing/extra diacritics</a:t>
            </a:r>
          </a:p>
        </p:txBody>
      </p:sp>
      <p:sp>
        <p:nvSpPr>
          <p:cNvPr id="11" name="TextBox 10"/>
          <p:cNvSpPr txBox="1"/>
          <p:nvPr/>
        </p:nvSpPr>
        <p:spPr>
          <a:xfrm>
            <a:off x="457200" y="2916936"/>
            <a:ext cx="5212080" cy="301752"/>
          </a:xfrm>
          <a:prstGeom prst="rect">
            <a:avLst/>
          </a:prstGeom>
          <a:noFill/>
        </p:spPr>
        <p:txBody>
          <a:bodyPr wrap="square">
            <a:spAutoFit/>
          </a:bodyPr>
          <a:lstStyle/>
          <a:p>
            <a:pPr algn="l"/>
            <a:r>
              <a:rPr sz="1400" b="0">
                <a:solidFill>
                  <a:srgbClr val="404040"/>
                </a:solidFill>
              </a:rPr>
              <a:t>   - Punctuation &amp; spacing artefacts</a:t>
            </a:r>
          </a:p>
        </p:txBody>
      </p:sp>
      <p:sp>
        <p:nvSpPr>
          <p:cNvPr id="12" name="TextBox 11"/>
          <p:cNvSpPr txBox="1"/>
          <p:nvPr/>
        </p:nvSpPr>
        <p:spPr>
          <a:xfrm>
            <a:off x="457200" y="3200400"/>
            <a:ext cx="5212080" cy="301752"/>
          </a:xfrm>
          <a:prstGeom prst="rect">
            <a:avLst/>
          </a:prstGeom>
          <a:noFill/>
        </p:spPr>
        <p:txBody>
          <a:bodyPr wrap="square">
            <a:spAutoFit/>
          </a:bodyPr>
          <a:lstStyle/>
          <a:p>
            <a:pPr algn="l"/>
            <a:r>
              <a:rPr sz="1400" b="0">
                <a:solidFill>
                  <a:srgbClr val="404040"/>
                </a:solidFill>
              </a:rPr>
              <a:t>• Closed-source VLMs are far more accurate</a:t>
            </a:r>
          </a:p>
        </p:txBody>
      </p:sp>
      <p:sp>
        <p:nvSpPr>
          <p:cNvPr id="13" name="TextBox 12"/>
          <p:cNvSpPr txBox="1"/>
          <p:nvPr/>
        </p:nvSpPr>
        <p:spPr>
          <a:xfrm>
            <a:off x="457200" y="3483864"/>
            <a:ext cx="5212080" cy="301752"/>
          </a:xfrm>
          <a:prstGeom prst="rect">
            <a:avLst/>
          </a:prstGeom>
          <a:noFill/>
        </p:spPr>
        <p:txBody>
          <a:bodyPr wrap="square">
            <a:spAutoFit/>
          </a:bodyPr>
          <a:lstStyle/>
          <a:p>
            <a:pPr algn="l"/>
            <a:r>
              <a:rPr sz="1400" b="0">
                <a:solidFill>
                  <a:srgbClr val="404040"/>
                </a:solidFill>
              </a:rPr>
              <a:t>  but expensive and API-dependent</a:t>
            </a:r>
          </a:p>
        </p:txBody>
      </p:sp>
      <p:sp>
        <p:nvSpPr>
          <p:cNvPr id="14" name="Rectangle 13"/>
          <p:cNvSpPr/>
          <p:nvPr/>
        </p:nvSpPr>
        <p:spPr>
          <a:xfrm>
            <a:off x="6035040" y="1325880"/>
            <a:ext cx="583387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417320"/>
            <a:ext cx="5577840" cy="1005840"/>
          </a:xfrm>
          <a:prstGeom prst="rect">
            <a:avLst/>
          </a:prstGeom>
          <a:noFill/>
        </p:spPr>
        <p:txBody>
          <a:bodyPr wrap="square">
            <a:spAutoFit/>
          </a:bodyPr>
          <a:lstStyle/>
          <a:p>
            <a:pPr algn="l"/>
            <a:r>
              <a:rPr sz="1500" b="0">
                <a:solidFill>
                  <a:srgbClr val="FFFFFF"/>
                </a:solidFill>
              </a:rPr>
              <a:t>Research Question
Can a small open-source LLM (4B) post-process Qaari OCR output to approach the accuracy of closed-source VLMs?</a:t>
            </a:r>
          </a:p>
        </p:txBody>
      </p:sp>
      <p:sp>
        <p:nvSpPr>
          <p:cNvPr id="16" name="Rectangle 15"/>
          <p:cNvSpPr/>
          <p:nvPr/>
        </p:nvSpPr>
        <p:spPr>
          <a:xfrm>
            <a:off x="6035040" y="2651760"/>
            <a:ext cx="5833872" cy="10058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743200"/>
            <a:ext cx="5577840" cy="822960"/>
          </a:xfrm>
          <a:prstGeom prst="rect">
            <a:avLst/>
          </a:prstGeom>
          <a:noFill/>
        </p:spPr>
        <p:txBody>
          <a:bodyPr wrap="square">
            <a:spAutoFit/>
          </a:bodyPr>
          <a:lstStyle/>
          <a:p>
            <a:pPr algn="l"/>
            <a:r>
              <a:rPr sz="1400" b="0">
                <a:solidFill>
                  <a:srgbClr val="FFFFFF"/>
                </a:solidFill>
              </a:rPr>
              <a:t>Hypothesis
LLMs can exploit linguistic context to fix OCR errors cheaply — making open-source OCR competitive.</a:t>
            </a:r>
          </a:p>
        </p:txBody>
      </p:sp>
      <p:sp>
        <p:nvSpPr>
          <p:cNvPr id="18" name="Rectangle 17"/>
          <p:cNvSpPr/>
          <p:nvPr/>
        </p:nvSpPr>
        <p:spPr>
          <a:xfrm>
            <a:off x="320040" y="3749039"/>
            <a:ext cx="11548872" cy="9144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94760"/>
            <a:ext cx="11338560" cy="731520"/>
          </a:xfrm>
          <a:prstGeom prst="rect">
            <a:avLst/>
          </a:prstGeom>
          <a:noFill/>
        </p:spPr>
        <p:txBody>
          <a:bodyPr wrap="square">
            <a:spAutoFit/>
          </a:bodyPr>
          <a:lstStyle/>
          <a:p>
            <a:pPr algn="l"/>
            <a:r>
              <a:rPr sz="1400" b="0">
                <a:solidFill>
                  <a:srgbClr val="1F3864"/>
                </a:solidFill>
              </a:rPr>
              <a:t>Why It Matters:  Digitising Arabic manuscripts, newspapers, and historical archives at low cost requires accurate open-source OCR — LLM post-correction is a practical bridge.</a:t>
            </a:r>
          </a:p>
        </p:txBody>
      </p:sp>
      <p:sp>
        <p:nvSpPr>
          <p:cNvPr id="20" name="TextBox 19"/>
          <p:cNvSpPr txBox="1"/>
          <p:nvPr/>
        </p:nvSpPr>
        <p:spPr>
          <a:xfrm>
            <a:off x="320040" y="4846320"/>
            <a:ext cx="11548872" cy="307777"/>
          </a:xfrm>
          <a:prstGeom prst="rect">
            <a:avLst/>
          </a:prstGeom>
          <a:noFill/>
        </p:spPr>
        <p:txBody>
          <a:bodyPr wrap="square">
            <a:spAutoFit/>
          </a:bodyPr>
          <a:lstStyle/>
          <a:p>
            <a:pPr algn="l"/>
            <a:r>
              <a:rPr sz="1400" b="1" dirty="0">
                <a:solidFill>
                  <a:srgbClr val="1F3864"/>
                </a:solidFill>
              </a:rPr>
              <a:t>Approach:  8 experiments test progressively richer prompting strategies (zero-shot → prompt engineering → </a:t>
            </a:r>
            <a:r>
              <a:rPr sz="1400" b="1" dirty="0" smtClean="0">
                <a:solidFill>
                  <a:srgbClr val="1F3864"/>
                </a:solidFill>
              </a:rPr>
              <a:t>RAG)</a:t>
            </a:r>
            <a:endParaRPr sz="1400" b="1" dirty="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Datasets &amp; OCR Baseline (Phase 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domains: typewritten (PATS-A01) vs handwritten (KHATT)</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3 / 15</a:t>
            </a:r>
          </a:p>
        </p:txBody>
      </p:sp>
      <p:sp>
        <p:nvSpPr>
          <p:cNvPr id="6" name="Rectangle 5"/>
          <p:cNvSpPr/>
          <p:nvPr/>
        </p:nvSpPr>
        <p:spPr>
          <a:xfrm>
            <a:off x="320040" y="1280160"/>
            <a:ext cx="566928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5394960" cy="365760"/>
          </a:xfrm>
          <a:prstGeom prst="rect">
            <a:avLst/>
          </a:prstGeom>
          <a:noFill/>
        </p:spPr>
        <p:txBody>
          <a:bodyPr wrap="square">
            <a:spAutoFit/>
          </a:bodyPr>
          <a:lstStyle/>
          <a:p>
            <a:pPr algn="l"/>
            <a:r>
              <a:rPr sz="1600" b="1">
                <a:solidFill>
                  <a:srgbClr val="1F3864"/>
                </a:solidFill>
              </a:rPr>
              <a:t>PATS-A01  (Typewritten / Synthetic)</a:t>
            </a:r>
          </a:p>
        </p:txBody>
      </p:sp>
      <p:sp>
        <p:nvSpPr>
          <p:cNvPr id="8" name="TextBox 7"/>
          <p:cNvSpPr txBox="1"/>
          <p:nvPr/>
        </p:nvSpPr>
        <p:spPr>
          <a:xfrm>
            <a:off x="457200" y="1691640"/>
            <a:ext cx="5394960" cy="320040"/>
          </a:xfrm>
          <a:prstGeom prst="rect">
            <a:avLst/>
          </a:prstGeom>
          <a:noFill/>
        </p:spPr>
        <p:txBody>
          <a:bodyPr wrap="square">
            <a:spAutoFit/>
          </a:bodyPr>
          <a:lstStyle/>
          <a:p>
            <a:pPr algn="l"/>
            <a:r>
              <a:rPr sz="1300" b="0">
                <a:solidFill>
                  <a:srgbClr val="404040"/>
                </a:solidFill>
              </a:rPr>
              <a:t>8 Arabic fonts  ·  ~2766 pages/font  ·  85/15 train/val split</a:t>
            </a:r>
          </a:p>
        </p:txBody>
      </p:sp>
      <p:graphicFrame>
        <p:nvGraphicFramePr>
          <p:cNvPr id="9" name="Table 8"/>
          <p:cNvGraphicFramePr>
            <a:graphicFrameLocks noGrp="1"/>
          </p:cNvGraphicFramePr>
          <p:nvPr/>
        </p:nvGraphicFramePr>
        <p:xfrm>
          <a:off x="384048" y="2057400"/>
          <a:ext cx="5486400" cy="4206240"/>
        </p:xfrm>
        <a:graphic>
          <a:graphicData uri="http://schemas.openxmlformats.org/drawingml/2006/table">
            <a:tbl>
              <a:tblPr firstRow="1" bandRow="1">
                <a:tableStyleId>{5C22544A-7EE6-4342-B048-85BDC9FD1C3A}</a:tableStyleId>
              </a:tblPr>
              <a:tblGrid>
                <a:gridCol w="2286000"/>
                <a:gridCol w="1600200"/>
                <a:gridCol w="1600200"/>
              </a:tblGrid>
              <a:tr h="420624">
                <a:tc>
                  <a:txBody>
                    <a:bodyPr/>
                    <a:lstStyle/>
                    <a:p>
                      <a:pPr algn="ctr">
                        <a:spcBef>
                          <a:spcPts val="200"/>
                        </a:spcBef>
                        <a:spcAft>
                          <a:spcPts val="200"/>
                        </a:spcAft>
                      </a:pPr>
                      <a:r>
                        <a:rPr sz="1300" b="1">
                          <a:solidFill>
                            <a:srgbClr val="FFFFFF"/>
                          </a:solidFill>
                        </a:rPr>
                        <a:t>Font</a:t>
                      </a:r>
                    </a:p>
                  </a:txBody>
                  <a:tcPr>
                    <a:solidFill>
                      <a:srgbClr val="1F3864"/>
                    </a:solidFill>
                  </a:tcPr>
                </a:tc>
                <a:tc>
                  <a:txBody>
                    <a:bodyPr/>
                    <a:lstStyle/>
                    <a:p>
                      <a:pPr algn="ctr">
                        <a:spcBef>
                          <a:spcPts val="200"/>
                        </a:spcBef>
                        <a:spcAft>
                          <a:spcPts val="200"/>
                        </a:spcAft>
                      </a:pPr>
                      <a:r>
                        <a:rPr sz="1300" b="1">
                          <a:solidFill>
                            <a:srgbClr val="FFFFFF"/>
                          </a:solidFill>
                        </a:rPr>
                        <a:t>Val CER</a:t>
                      </a:r>
                    </a:p>
                  </a:txBody>
                  <a:tcPr>
                    <a:solidFill>
                      <a:srgbClr val="1F3864"/>
                    </a:solidFill>
                  </a:tcPr>
                </a:tc>
                <a:tc>
                  <a:txBody>
                    <a:bodyPr/>
                    <a:lstStyle/>
                    <a:p>
                      <a:pPr algn="ctr">
                        <a:spcBef>
                          <a:spcPts val="200"/>
                        </a:spcBef>
                        <a:spcAft>
                          <a:spcPts val="200"/>
                        </a:spcAft>
                      </a:pPr>
                      <a:r>
                        <a:rPr sz="1300" b="1">
                          <a:solidFill>
                            <a:srgbClr val="FFFFFF"/>
                          </a:solidFill>
                        </a:rPr>
                        <a:t>Val WER</a:t>
                      </a:r>
                    </a:p>
                  </a:txBody>
                  <a:tcPr>
                    <a:solidFill>
                      <a:srgbClr val="1F3864"/>
                    </a:solidFill>
                  </a:tcPr>
                </a:tc>
              </a:tr>
              <a:tr h="420624">
                <a:tc>
                  <a:txBody>
                    <a:bodyPr/>
                    <a:lstStyle/>
                    <a:p>
                      <a:pPr algn="l">
                        <a:spcBef>
                          <a:spcPts val="200"/>
                        </a:spcBef>
                        <a:spcAft>
                          <a:spcPts val="200"/>
                        </a:spcAft>
                      </a:pPr>
                      <a:r>
                        <a:rPr sz="1200" b="0">
                          <a:solidFill>
                            <a:srgbClr val="404040"/>
                          </a:solidFill>
                        </a:rPr>
                        <a:t>Naskh</a:t>
                      </a:r>
                    </a:p>
                  </a:txBody>
                  <a:tcPr>
                    <a:solidFill>
                      <a:srgbClr val="FFFFFF"/>
                    </a:solidFill>
                  </a:tcPr>
                </a:tc>
                <a:tc>
                  <a:txBody>
                    <a:bodyPr/>
                    <a:lstStyle/>
                    <a:p>
                      <a:pPr algn="ctr">
                        <a:spcBef>
                          <a:spcPts val="200"/>
                        </a:spcBef>
                        <a:spcAft>
                          <a:spcPts val="200"/>
                        </a:spcAft>
                      </a:pPr>
                      <a:r>
                        <a:rPr sz="1200" b="0">
                          <a:solidFill>
                            <a:srgbClr val="404040"/>
                          </a:solidFill>
                        </a:rPr>
                        <a:t>0.86%</a:t>
                      </a:r>
                    </a:p>
                  </a:txBody>
                  <a:tcPr>
                    <a:solidFill>
                      <a:srgbClr val="FFFFFF"/>
                    </a:solidFill>
                  </a:tcPr>
                </a:tc>
                <a:tc>
                  <a:txBody>
                    <a:bodyPr/>
                    <a:lstStyle/>
                    <a:p>
                      <a:pPr algn="ctr">
                        <a:spcBef>
                          <a:spcPts val="200"/>
                        </a:spcBef>
                        <a:spcAft>
                          <a:spcPts val="200"/>
                        </a:spcAft>
                      </a:pPr>
                      <a:r>
                        <a:rPr sz="1200" b="0">
                          <a:solidFill>
                            <a:srgbClr val="404040"/>
                          </a:solidFill>
                        </a:rPr>
                        <a:t>0.92%</a:t>
                      </a:r>
                    </a:p>
                  </a:txBody>
                  <a:tcPr>
                    <a:solidFill>
                      <a:srgbClr val="FFFFFF"/>
                    </a:solidFill>
                  </a:tcPr>
                </a:tc>
              </a:tr>
              <a:tr h="420624">
                <a:tc>
                  <a:txBody>
                    <a:bodyPr/>
                    <a:lstStyle/>
                    <a:p>
                      <a:pPr algn="l">
                        <a:spcBef>
                          <a:spcPts val="200"/>
                        </a:spcBef>
                        <a:spcAft>
                          <a:spcPts val="200"/>
                        </a:spcAft>
                      </a:pPr>
                      <a:r>
                        <a:rPr sz="1200" b="0">
                          <a:solidFill>
                            <a:srgbClr val="404040"/>
                          </a:solidFill>
                        </a:rPr>
                        <a:t>Thuluth</a:t>
                      </a:r>
                    </a:p>
                  </a:txBody>
                  <a:tcPr>
                    <a:solidFill>
                      <a:srgbClr val="F2F2F2"/>
                    </a:solidFill>
                  </a:tcPr>
                </a:tc>
                <a:tc>
                  <a:txBody>
                    <a:bodyPr/>
                    <a:lstStyle/>
                    <a:p>
                      <a:pPr algn="ctr">
                        <a:spcBef>
                          <a:spcPts val="200"/>
                        </a:spcBef>
                        <a:spcAft>
                          <a:spcPts val="200"/>
                        </a:spcAft>
                      </a:pPr>
                      <a:r>
                        <a:rPr sz="1200" b="0">
                          <a:solidFill>
                            <a:srgbClr val="404040"/>
                          </a:solidFill>
                        </a:rPr>
                        <a:t>1.02%</a:t>
                      </a:r>
                    </a:p>
                  </a:txBody>
                  <a:tcPr>
                    <a:solidFill>
                      <a:srgbClr val="F2F2F2"/>
                    </a:solidFill>
                  </a:tcPr>
                </a:tc>
                <a:tc>
                  <a:txBody>
                    <a:bodyPr/>
                    <a:lstStyle/>
                    <a:p>
                      <a:pPr algn="ctr">
                        <a:spcBef>
                          <a:spcPts val="200"/>
                        </a:spcBef>
                        <a:spcAft>
                          <a:spcPts val="200"/>
                        </a:spcAft>
                      </a:pPr>
                      <a:r>
                        <a:rPr sz="1200" b="0">
                          <a:solidFill>
                            <a:srgbClr val="404040"/>
                          </a:solidFill>
                        </a:rPr>
                        <a:t>1.07%</a:t>
                      </a:r>
                    </a:p>
                  </a:txBody>
                  <a:tcPr>
                    <a:solidFill>
                      <a:srgbClr val="F2F2F2"/>
                    </a:solidFill>
                  </a:tcPr>
                </a:tc>
              </a:tr>
              <a:tr h="420624">
                <a:tc>
                  <a:txBody>
                    <a:bodyPr/>
                    <a:lstStyle/>
                    <a:p>
                      <a:pPr algn="l">
                        <a:spcBef>
                          <a:spcPts val="200"/>
                        </a:spcBef>
                        <a:spcAft>
                          <a:spcPts val="200"/>
                        </a:spcAft>
                      </a:pPr>
                      <a:r>
                        <a:rPr sz="1200" b="0">
                          <a:solidFill>
                            <a:srgbClr val="404040"/>
                          </a:solidFill>
                        </a:rPr>
                        <a:t>Arial</a:t>
                      </a:r>
                    </a:p>
                  </a:txBody>
                  <a:tcPr>
                    <a:solidFill>
                      <a:srgbClr val="FFFFFF"/>
                    </a:solidFill>
                  </a:tcPr>
                </a:tc>
                <a:tc>
                  <a:txBody>
                    <a:bodyPr/>
                    <a:lstStyle/>
                    <a:p>
                      <a:pPr algn="ctr">
                        <a:spcBef>
                          <a:spcPts val="200"/>
                        </a:spcBef>
                        <a:spcAft>
                          <a:spcPts val="200"/>
                        </a:spcAft>
                      </a:pPr>
                      <a:r>
                        <a:rPr sz="1200" b="0">
                          <a:solidFill>
                            <a:srgbClr val="404040"/>
                          </a:solidFill>
                        </a:rPr>
                        <a:t>1.06%</a:t>
                      </a:r>
                    </a:p>
                  </a:txBody>
                  <a:tcPr>
                    <a:solidFill>
                      <a:srgbClr val="FFFFFF"/>
                    </a:solidFill>
                  </a:tcPr>
                </a:tc>
                <a:tc>
                  <a:txBody>
                    <a:bodyPr/>
                    <a:lstStyle/>
                    <a:p>
                      <a:pPr algn="ctr">
                        <a:spcBef>
                          <a:spcPts val="200"/>
                        </a:spcBef>
                        <a:spcAft>
                          <a:spcPts val="200"/>
                        </a:spcAft>
                      </a:pPr>
                      <a:r>
                        <a:rPr sz="1200" b="0">
                          <a:solidFill>
                            <a:srgbClr val="404040"/>
                          </a:solidFill>
                        </a:rPr>
                        <a:t>1.08%</a:t>
                      </a:r>
                    </a:p>
                  </a:txBody>
                  <a:tcPr>
                    <a:solidFill>
                      <a:srgbClr val="FFFFFF"/>
                    </a:solidFill>
                  </a:tcPr>
                </a:tc>
              </a:tr>
              <a:tr h="420624">
                <a:tc>
                  <a:txBody>
                    <a:bodyPr/>
                    <a:lstStyle/>
                    <a:p>
                      <a:pPr algn="l">
                        <a:spcBef>
                          <a:spcPts val="200"/>
                        </a:spcBef>
                        <a:spcAft>
                          <a:spcPts val="200"/>
                        </a:spcAft>
                      </a:pPr>
                      <a:r>
                        <a:rPr sz="1200" b="0">
                          <a:solidFill>
                            <a:srgbClr val="404040"/>
                          </a:solidFill>
                        </a:rPr>
                        <a:t>Akhbar</a:t>
                      </a:r>
                    </a:p>
                  </a:txBody>
                  <a:tcPr>
                    <a:solidFill>
                      <a:srgbClr val="F2F2F2"/>
                    </a:solidFill>
                  </a:tcPr>
                </a:tc>
                <a:tc>
                  <a:txBody>
                    <a:bodyPr/>
                    <a:lstStyle/>
                    <a:p>
                      <a:pPr algn="ctr">
                        <a:spcBef>
                          <a:spcPts val="200"/>
                        </a:spcBef>
                        <a:spcAft>
                          <a:spcPts val="200"/>
                        </a:spcAft>
                      </a:pPr>
                      <a:r>
                        <a:rPr sz="1200" b="0">
                          <a:solidFill>
                            <a:srgbClr val="404040"/>
                          </a:solidFill>
                        </a:rPr>
                        <a:t>1.14%</a:t>
                      </a:r>
                    </a:p>
                  </a:txBody>
                  <a:tcPr>
                    <a:solidFill>
                      <a:srgbClr val="F2F2F2"/>
                    </a:solidFill>
                  </a:tcPr>
                </a:tc>
                <a:tc>
                  <a:txBody>
                    <a:bodyPr/>
                    <a:lstStyle/>
                    <a:p>
                      <a:pPr algn="ctr">
                        <a:spcBef>
                          <a:spcPts val="200"/>
                        </a:spcBef>
                        <a:spcAft>
                          <a:spcPts val="200"/>
                        </a:spcAft>
                      </a:pPr>
                      <a:r>
                        <a:rPr sz="1200" b="0">
                          <a:solidFill>
                            <a:srgbClr val="404040"/>
                          </a:solidFill>
                        </a:rPr>
                        <a:t>1.11%</a:t>
                      </a:r>
                    </a:p>
                  </a:txBody>
                  <a:tcPr>
                    <a:solidFill>
                      <a:srgbClr val="F2F2F2"/>
                    </a:solidFill>
                  </a:tcPr>
                </a:tc>
              </a:tr>
              <a:tr h="4206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1.33%</a:t>
                      </a:r>
                    </a:p>
                  </a:txBody>
                  <a:tcPr>
                    <a:solidFill>
                      <a:srgbClr val="FFFFFF"/>
                    </a:solidFill>
                  </a:tcPr>
                </a:tc>
              </a:tr>
              <a:tr h="4206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1.22%</a:t>
                      </a:r>
                    </a:p>
                  </a:txBody>
                  <a:tcPr>
                    <a:solidFill>
                      <a:srgbClr val="F2F2F2"/>
                    </a:solidFill>
                  </a:tcPr>
                </a:tc>
              </a:tr>
              <a:tr h="420624">
                <a:tc>
                  <a:txBody>
                    <a:bodyPr/>
                    <a:lstStyle/>
                    <a:p>
                      <a:pPr algn="l">
                        <a:spcBef>
                          <a:spcPts val="200"/>
                        </a:spcBef>
                        <a:spcAft>
                          <a:spcPts val="200"/>
                        </a:spcAft>
                      </a:pPr>
                      <a:r>
                        <a:rPr sz="1200" b="0">
                          <a:solidFill>
                            <a:srgbClr val="404040"/>
                          </a:solidFill>
                        </a:rPr>
                        <a:t>Andalus</a:t>
                      </a:r>
                    </a:p>
                  </a:txBody>
                  <a:tcPr>
                    <a:solidFill>
                      <a:srgbClr val="FFFFFF"/>
                    </a:solidFill>
                  </a:tcPr>
                </a:tc>
                <a:tc>
                  <a:txBody>
                    <a:bodyPr/>
                    <a:lstStyle/>
                    <a:p>
                      <a:pPr algn="ctr">
                        <a:spcBef>
                          <a:spcPts val="200"/>
                        </a:spcBef>
                        <a:spcAft>
                          <a:spcPts val="200"/>
                        </a:spcAft>
                      </a:pPr>
                      <a:r>
                        <a:rPr sz="1200" b="0">
                          <a:solidFill>
                            <a:srgbClr val="404040"/>
                          </a:solidFill>
                        </a:rPr>
                        <a:t>1.54%</a:t>
                      </a:r>
                    </a:p>
                  </a:txBody>
                  <a:tcPr>
                    <a:solidFill>
                      <a:srgbClr val="FFFFFF"/>
                    </a:solidFill>
                  </a:tcPr>
                </a:tc>
                <a:tc>
                  <a:txBody>
                    <a:bodyPr/>
                    <a:lstStyle/>
                    <a:p>
                      <a:pPr algn="ctr">
                        <a:spcBef>
                          <a:spcPts val="200"/>
                        </a:spcBef>
                        <a:spcAft>
                          <a:spcPts val="200"/>
                        </a:spcAft>
                      </a:pPr>
                      <a:r>
                        <a:rPr sz="1200" b="0">
                          <a:solidFill>
                            <a:srgbClr val="404040"/>
                          </a:solidFill>
                        </a:rPr>
                        <a:t>1.66%</a:t>
                      </a:r>
                    </a:p>
                  </a:txBody>
                  <a:tcPr>
                    <a:solidFill>
                      <a:srgbClr val="FFFFFF"/>
                    </a:solidFill>
                  </a:tcPr>
                </a:tc>
              </a:tr>
              <a:tr h="420624">
                <a:tc>
                  <a:txBody>
                    <a:bodyPr/>
                    <a:lstStyle/>
                    <a:p>
                      <a:pPr algn="l">
                        <a:spcBef>
                          <a:spcPts val="200"/>
                        </a:spcBef>
                        <a:spcAft>
                          <a:spcPts val="200"/>
                        </a:spcAft>
                      </a:pPr>
                      <a:r>
                        <a:rPr sz="1200" b="0">
                          <a:solidFill>
                            <a:srgbClr val="404040"/>
                          </a:solidFill>
                        </a:rPr>
                        <a:t>Tahoma</a:t>
                      </a:r>
                    </a:p>
                  </a:txBody>
                  <a:tcPr>
                    <a:solidFill>
                      <a:srgbClr val="F2F2F2"/>
                    </a:solidFill>
                  </a:tcPr>
                </a:tc>
                <a:tc>
                  <a:txBody>
                    <a:bodyPr/>
                    <a:lstStyle/>
                    <a:p>
                      <a:pPr algn="ctr">
                        <a:spcBef>
                          <a:spcPts val="200"/>
                        </a:spcBef>
                        <a:spcAft>
                          <a:spcPts val="200"/>
                        </a:spcAft>
                      </a:pPr>
                      <a:r>
                        <a:rPr sz="1200" b="0">
                          <a:solidFill>
                            <a:srgbClr val="404040"/>
                          </a:solidFill>
                        </a:rPr>
                        <a:t>2.39%</a:t>
                      </a:r>
                    </a:p>
                  </a:txBody>
                  <a:tcPr>
                    <a:solidFill>
                      <a:srgbClr val="F2F2F2"/>
                    </a:solidFill>
                  </a:tcPr>
                </a:tc>
                <a:tc>
                  <a:txBody>
                    <a:bodyPr/>
                    <a:lstStyle/>
                    <a:p>
                      <a:pPr algn="ctr">
                        <a:spcBef>
                          <a:spcPts val="200"/>
                        </a:spcBef>
                        <a:spcAft>
                          <a:spcPts val="200"/>
                        </a:spcAft>
                      </a:pPr>
                      <a:r>
                        <a:rPr sz="1200" b="0">
                          <a:solidFill>
                            <a:srgbClr val="404040"/>
                          </a:solidFill>
                        </a:rPr>
                        <a:t>2.35%</a:t>
                      </a:r>
                    </a:p>
                  </a:txBody>
                  <a:tcPr>
                    <a:solidFill>
                      <a:srgbClr val="F2F2F2"/>
                    </a:solidFill>
                  </a:tcPr>
                </a:tc>
              </a:tr>
              <a:tr h="4206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1">
                          <a:solidFill>
                            <a:srgbClr val="404040"/>
                          </a:solidFill>
                        </a:rPr>
                        <a:t>1.31%</a:t>
                      </a:r>
                    </a:p>
                  </a:txBody>
                  <a:tcPr>
                    <a:solidFill>
                      <a:srgbClr val="BDD7EE"/>
                    </a:solidFill>
                  </a:tcPr>
                </a:tc>
                <a:tc>
                  <a:txBody>
                    <a:bodyPr/>
                    <a:lstStyle/>
                    <a:p>
                      <a:pPr algn="ctr">
                        <a:spcBef>
                          <a:spcPts val="200"/>
                        </a:spcBef>
                        <a:spcAft>
                          <a:spcPts val="200"/>
                        </a:spcAft>
                      </a:pPr>
                      <a:r>
                        <a:rPr sz="1200" b="1">
                          <a:solidFill>
                            <a:srgbClr val="404040"/>
                          </a:solidFill>
                        </a:rPr>
                        <a:t>1.34%</a:t>
                      </a:r>
                    </a:p>
                  </a:txBody>
                  <a:tcPr>
                    <a:solidFill>
                      <a:srgbClr val="BDD7EE"/>
                    </a:solidFill>
                  </a:tcPr>
                </a:tc>
              </a:tr>
            </a:tbl>
          </a:graphicData>
        </a:graphic>
      </p:graphicFrame>
      <p:sp>
        <p:nvSpPr>
          <p:cNvPr id="10" name="Rectangle 9"/>
          <p:cNvSpPr/>
          <p:nvPr/>
        </p:nvSpPr>
        <p:spPr>
          <a:xfrm>
            <a:off x="6126480" y="1280160"/>
            <a:ext cx="5742432"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325880"/>
            <a:ext cx="5486400" cy="365760"/>
          </a:xfrm>
          <a:prstGeom prst="rect">
            <a:avLst/>
          </a:prstGeom>
          <a:noFill/>
        </p:spPr>
        <p:txBody>
          <a:bodyPr wrap="square">
            <a:spAutoFit/>
          </a:bodyPr>
          <a:lstStyle/>
          <a:p>
            <a:pPr algn="l"/>
            <a:r>
              <a:rPr sz="1600" b="1">
                <a:solidFill>
                  <a:srgbClr val="1F3864"/>
                </a:solidFill>
              </a:rPr>
              <a:t>KHATT  (Handwritten / Real)</a:t>
            </a:r>
          </a:p>
        </p:txBody>
      </p:sp>
      <p:sp>
        <p:nvSpPr>
          <p:cNvPr id="12" name="TextBox 11"/>
          <p:cNvSpPr txBox="1"/>
          <p:nvPr/>
        </p:nvSpPr>
        <p:spPr>
          <a:xfrm>
            <a:off x="6263640" y="1691640"/>
            <a:ext cx="5486400" cy="320040"/>
          </a:xfrm>
          <a:prstGeom prst="rect">
            <a:avLst/>
          </a:prstGeom>
          <a:noFill/>
        </p:spPr>
        <p:txBody>
          <a:bodyPr wrap="square">
            <a:spAutoFit/>
          </a:bodyPr>
          <a:lstStyle/>
          <a:p>
            <a:pPr algn="l"/>
            <a:r>
              <a:rPr sz="1300" b="0">
                <a:solidFill>
                  <a:srgbClr val="404040"/>
                </a:solidFill>
              </a:rPr>
              <a:t>Writers of varied styles  ·  226 validation pages</a:t>
            </a:r>
          </a:p>
        </p:txBody>
      </p:sp>
      <p:sp>
        <p:nvSpPr>
          <p:cNvPr id="13" name="TextBox 12"/>
          <p:cNvSpPr txBox="1"/>
          <p:nvPr/>
        </p:nvSpPr>
        <p:spPr>
          <a:xfrm>
            <a:off x="6263640" y="2103120"/>
            <a:ext cx="5486400" cy="365760"/>
          </a:xfrm>
          <a:prstGeom prst="rect">
            <a:avLst/>
          </a:prstGeom>
          <a:noFill/>
        </p:spPr>
        <p:txBody>
          <a:bodyPr wrap="square">
            <a:spAutoFit/>
          </a:bodyPr>
          <a:lstStyle/>
          <a:p>
            <a:pPr algn="l"/>
            <a:r>
              <a:rPr sz="1900" b="1">
                <a:solidFill>
                  <a:srgbClr val="C00000"/>
                </a:solidFill>
              </a:rPr>
              <a:t>CER: 5.66%   |   WER: 7.25%   |   Runaway: 17.7%</a:t>
            </a:r>
          </a:p>
        </p:txBody>
      </p:sp>
      <p:sp>
        <p:nvSpPr>
          <p:cNvPr id="14" name="TextBox 13"/>
          <p:cNvSpPr txBox="1"/>
          <p:nvPr/>
        </p:nvSpPr>
        <p:spPr>
          <a:xfrm>
            <a:off x="6263640" y="2743200"/>
            <a:ext cx="5486400" cy="365760"/>
          </a:xfrm>
          <a:prstGeom prst="rect">
            <a:avLst/>
          </a:prstGeom>
          <a:noFill/>
        </p:spPr>
        <p:txBody>
          <a:bodyPr wrap="square">
            <a:spAutoFit/>
          </a:bodyPr>
          <a:lstStyle/>
          <a:p>
            <a:pPr algn="l"/>
            <a:r>
              <a:rPr sz="1400" b="1">
                <a:solidFill>
                  <a:srgbClr val="1F3864"/>
                </a:solidFill>
              </a:rPr>
              <a:t>Key Observations:</a:t>
            </a:r>
          </a:p>
        </p:txBody>
      </p:sp>
      <p:sp>
        <p:nvSpPr>
          <p:cNvPr id="15" name="TextBox 14"/>
          <p:cNvSpPr txBox="1"/>
          <p:nvPr/>
        </p:nvSpPr>
        <p:spPr>
          <a:xfrm>
            <a:off x="6263640" y="3108960"/>
            <a:ext cx="5486400" cy="283464"/>
          </a:xfrm>
          <a:prstGeom prst="rect">
            <a:avLst/>
          </a:prstGeom>
          <a:noFill/>
        </p:spPr>
        <p:txBody>
          <a:bodyPr wrap="square">
            <a:spAutoFit/>
          </a:bodyPr>
          <a:lstStyle/>
          <a:p>
            <a:pPr algn="l"/>
            <a:r>
              <a:rPr sz="1300" b="0">
                <a:solidFill>
                  <a:srgbClr val="404040"/>
                </a:solidFill>
              </a:rPr>
              <a:t>KHATT CER is 4.3x higher than PATS average</a:t>
            </a:r>
          </a:p>
        </p:txBody>
      </p:sp>
      <p:sp>
        <p:nvSpPr>
          <p:cNvPr id="16" name="TextBox 15"/>
          <p:cNvSpPr txBox="1"/>
          <p:nvPr/>
        </p:nvSpPr>
        <p:spPr>
          <a:xfrm>
            <a:off x="6263640" y="3374136"/>
            <a:ext cx="5486400" cy="283464"/>
          </a:xfrm>
          <a:prstGeom prst="rect">
            <a:avLst/>
          </a:prstGeom>
          <a:noFill/>
        </p:spPr>
        <p:txBody>
          <a:bodyPr wrap="square">
            <a:spAutoFit/>
          </a:bodyPr>
          <a:lstStyle/>
          <a:p>
            <a:pPr algn="l"/>
            <a:r>
              <a:rPr sz="1300" b="0">
                <a:solidFill>
                  <a:srgbClr val="404040"/>
                </a:solidFill>
              </a:rPr>
              <a:t>Runaway samples (Qaari repetition bug):</a:t>
            </a:r>
          </a:p>
        </p:txBody>
      </p:sp>
      <p:sp>
        <p:nvSpPr>
          <p:cNvPr id="17" name="TextBox 16"/>
          <p:cNvSpPr txBox="1"/>
          <p:nvPr/>
        </p:nvSpPr>
        <p:spPr>
          <a:xfrm>
            <a:off x="6263640" y="3639312"/>
            <a:ext cx="5486400" cy="283464"/>
          </a:xfrm>
          <a:prstGeom prst="rect">
            <a:avLst/>
          </a:prstGeom>
          <a:noFill/>
        </p:spPr>
        <p:txBody>
          <a:bodyPr wrap="square">
            <a:spAutoFit/>
          </a:bodyPr>
          <a:lstStyle/>
          <a:p>
            <a:pPr algn="l"/>
            <a:r>
              <a:rPr sz="1300" b="0">
                <a:solidFill>
                  <a:srgbClr val="404040"/>
                </a:solidFill>
              </a:rPr>
              <a:t>  KHATT: 17.7%,  Tahoma: 10.4%</a:t>
            </a:r>
          </a:p>
        </p:txBody>
      </p:sp>
      <p:sp>
        <p:nvSpPr>
          <p:cNvPr id="18" name="TextBox 17"/>
          <p:cNvSpPr txBox="1"/>
          <p:nvPr/>
        </p:nvSpPr>
        <p:spPr>
          <a:xfrm>
            <a:off x="6263640" y="3904488"/>
            <a:ext cx="5486400" cy="283464"/>
          </a:xfrm>
          <a:prstGeom prst="rect">
            <a:avLst/>
          </a:prstGeom>
          <a:noFill/>
        </p:spPr>
        <p:txBody>
          <a:bodyPr wrap="square">
            <a:spAutoFit/>
          </a:bodyPr>
          <a:lstStyle/>
          <a:p>
            <a:pPr algn="l"/>
            <a:r>
              <a:rPr sz="1300" b="0">
                <a:solidFill>
                  <a:srgbClr val="404040"/>
                </a:solidFill>
              </a:rPr>
              <a:t>  Most PATS fonts: 3.5 – 6%</a:t>
            </a:r>
          </a:p>
        </p:txBody>
      </p:sp>
      <p:sp>
        <p:nvSpPr>
          <p:cNvPr id="19" name="TextBox 18"/>
          <p:cNvSpPr txBox="1"/>
          <p:nvPr/>
        </p:nvSpPr>
        <p:spPr>
          <a:xfrm>
            <a:off x="6263640" y="4169664"/>
            <a:ext cx="5486400" cy="283464"/>
          </a:xfrm>
          <a:prstGeom prst="rect">
            <a:avLst/>
          </a:prstGeom>
          <a:noFill/>
        </p:spPr>
        <p:txBody>
          <a:bodyPr wrap="square">
            <a:spAutoFit/>
          </a:bodyPr>
          <a:lstStyle/>
          <a:p>
            <a:pPr algn="l"/>
            <a:r>
              <a:rPr sz="1300" b="0">
                <a:solidFill>
                  <a:srgbClr val="404040"/>
                </a:solidFill>
              </a:rPr>
              <a:t>Tahoma is hardest typewritten font (CER 2.39%)</a:t>
            </a:r>
          </a:p>
        </p:txBody>
      </p:sp>
      <p:sp>
        <p:nvSpPr>
          <p:cNvPr id="20" name="TextBox 19"/>
          <p:cNvSpPr txBox="1"/>
          <p:nvPr/>
        </p:nvSpPr>
        <p:spPr>
          <a:xfrm>
            <a:off x="6263640" y="4434840"/>
            <a:ext cx="5486400" cy="283464"/>
          </a:xfrm>
          <a:prstGeom prst="rect">
            <a:avLst/>
          </a:prstGeom>
          <a:noFill/>
        </p:spPr>
        <p:txBody>
          <a:bodyPr wrap="square">
            <a:spAutoFit/>
          </a:bodyPr>
          <a:lstStyle/>
          <a:p>
            <a:pPr algn="l"/>
            <a:r>
              <a:rPr sz="1300" b="0">
                <a:solidFill>
                  <a:srgbClr val="404040"/>
                </a:solidFill>
              </a:rPr>
              <a:t>Naskh is easiest typewritten font (CER 0.86%)</a:t>
            </a:r>
          </a:p>
        </p:txBody>
      </p:sp>
      <p:sp>
        <p:nvSpPr>
          <p:cNvPr id="21" name="TextBox 20"/>
          <p:cNvSpPr txBox="1"/>
          <p:nvPr/>
        </p:nvSpPr>
        <p:spPr>
          <a:xfrm>
            <a:off x="6263640" y="4700016"/>
            <a:ext cx="5486400" cy="283464"/>
          </a:xfrm>
          <a:prstGeom prst="rect">
            <a:avLst/>
          </a:prstGeom>
          <a:noFill/>
        </p:spPr>
        <p:txBody>
          <a:bodyPr wrap="square">
            <a:spAutoFit/>
          </a:bodyPr>
          <a:lstStyle/>
          <a:p>
            <a:pPr algn="l"/>
            <a:endParaRPr/>
          </a:p>
        </p:txBody>
      </p:sp>
      <p:sp>
        <p:nvSpPr>
          <p:cNvPr id="22" name="TextBox 21"/>
          <p:cNvSpPr txBox="1"/>
          <p:nvPr/>
        </p:nvSpPr>
        <p:spPr>
          <a:xfrm>
            <a:off x="6263640" y="4965192"/>
            <a:ext cx="5486400" cy="283464"/>
          </a:xfrm>
          <a:prstGeom prst="rect">
            <a:avLst/>
          </a:prstGeom>
          <a:noFill/>
        </p:spPr>
        <p:txBody>
          <a:bodyPr wrap="square">
            <a:spAutoFit/>
          </a:bodyPr>
          <a:lstStyle/>
          <a:p>
            <a:pPr algn="l"/>
            <a:r>
              <a:rPr sz="1300" b="0">
                <a:solidFill>
                  <a:srgbClr val="404040"/>
                </a:solidFill>
              </a:rPr>
              <a:t>Two very different correction challenges:</a:t>
            </a:r>
          </a:p>
        </p:txBody>
      </p:sp>
      <p:sp>
        <p:nvSpPr>
          <p:cNvPr id="23" name="TextBox 22"/>
          <p:cNvSpPr txBox="1"/>
          <p:nvPr/>
        </p:nvSpPr>
        <p:spPr>
          <a:xfrm>
            <a:off x="6263640" y="5230368"/>
            <a:ext cx="5486400" cy="283464"/>
          </a:xfrm>
          <a:prstGeom prst="rect">
            <a:avLst/>
          </a:prstGeom>
          <a:noFill/>
        </p:spPr>
        <p:txBody>
          <a:bodyPr wrap="square">
            <a:spAutoFit/>
          </a:bodyPr>
          <a:lstStyle/>
          <a:p>
            <a:pPr algn="l"/>
            <a:r>
              <a:rPr sz="1300" b="0">
                <a:solidFill>
                  <a:srgbClr val="404040"/>
                </a:solidFill>
              </a:rPr>
              <a:t>  PATS — already accurate, LLM risks over-correction</a:t>
            </a:r>
          </a:p>
        </p:txBody>
      </p:sp>
      <p:sp>
        <p:nvSpPr>
          <p:cNvPr id="24" name="TextBox 23"/>
          <p:cNvSpPr txBox="1"/>
          <p:nvPr/>
        </p:nvSpPr>
        <p:spPr>
          <a:xfrm>
            <a:off x="6263640" y="5495544"/>
            <a:ext cx="5486400" cy="283464"/>
          </a:xfrm>
          <a:prstGeom prst="rect">
            <a:avLst/>
          </a:prstGeom>
          <a:noFill/>
        </p:spPr>
        <p:txBody>
          <a:bodyPr wrap="square">
            <a:spAutoFit/>
          </a:bodyPr>
          <a:lstStyle/>
          <a:p>
            <a:pPr algn="l"/>
            <a:r>
              <a:rPr sz="1300" b="0">
                <a:solidFill>
                  <a:srgbClr val="404040"/>
                </a:solidFill>
              </a:rPr>
              <a:t>  KHATT — high noise, LLM has more to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8-Phase Experimental Design</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Each phase isolates one variable; all compare to Phase 2 (zero-shot) baseline</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4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914400"/>
                <a:gridCol w="2286000"/>
                <a:gridCol w="4114800"/>
                <a:gridCol w="4233672"/>
              </a:tblGrid>
              <a:tr h="59436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Name</a:t>
                      </a:r>
                    </a:p>
                  </a:txBody>
                  <a:tcPr>
                    <a:solidFill>
                      <a:srgbClr val="1F3864"/>
                    </a:solidFill>
                  </a:tcPr>
                </a:tc>
                <a:tc>
                  <a:txBody>
                    <a:bodyPr/>
                    <a:lstStyle/>
                    <a:p>
                      <a:pPr algn="ctr">
                        <a:spcBef>
                          <a:spcPts val="200"/>
                        </a:spcBef>
                        <a:spcAft>
                          <a:spcPts val="200"/>
                        </a:spcAft>
                      </a:pPr>
                      <a:r>
                        <a:rPr sz="1300" b="1">
                          <a:solidFill>
                            <a:srgbClr val="FFFFFF"/>
                          </a:solidFill>
                        </a:rPr>
                        <a:t>What it tests</a:t>
                      </a:r>
                    </a:p>
                  </a:txBody>
                  <a:tcPr>
                    <a:solidFill>
                      <a:srgbClr val="1F3864"/>
                    </a:solidFill>
                  </a:tcPr>
                </a:tc>
                <a:tc>
                  <a:txBody>
                    <a:bodyPr/>
                    <a:lstStyle/>
                    <a:p>
                      <a:pPr algn="ctr">
                        <a:spcBef>
                          <a:spcPts val="200"/>
                        </a:spcBef>
                        <a:spcAft>
                          <a:spcPts val="200"/>
                        </a:spcAft>
                      </a:pPr>
                      <a:r>
                        <a:rPr sz="1300" b="1">
                          <a:solidFill>
                            <a:srgbClr val="FFFFFF"/>
                          </a:solidFill>
                        </a:rPr>
                        <a:t>Key signal added</a:t>
                      </a:r>
                    </a:p>
                  </a:txBody>
                  <a:tcPr>
                    <a:solidFill>
                      <a:srgbClr val="1F3864"/>
                    </a:solidFill>
                  </a:tcPr>
                </a:tc>
              </a:tr>
              <a:tr h="594360">
                <a:tc>
                  <a:txBody>
                    <a:bodyPr/>
                    <a:lstStyle/>
                    <a:p>
                      <a:pPr algn="ctr">
                        <a:spcBef>
                          <a:spcPts val="200"/>
                        </a:spcBef>
                        <a:spcAft>
                          <a:spcPts val="200"/>
                        </a:spcAft>
                      </a:pPr>
                      <a:r>
                        <a:rPr sz="1200" b="0">
                          <a:solidFill>
                            <a:srgbClr val="1F3864"/>
                          </a:solidFill>
                        </a:rPr>
                        <a:t>1</a:t>
                      </a:r>
                    </a:p>
                  </a:txBody>
                  <a:tcPr>
                    <a:solidFill>
                      <a:srgbClr val="F2F2F2"/>
                    </a:solidFill>
                  </a:tcPr>
                </a:tc>
                <a:tc>
                  <a:txBody>
                    <a:bodyPr/>
                    <a:lstStyle/>
                    <a:p>
                      <a:pPr algn="l">
                        <a:spcBef>
                          <a:spcPts val="200"/>
                        </a:spcBef>
                        <a:spcAft>
                          <a:spcPts val="200"/>
                        </a:spcAft>
                      </a:pPr>
                      <a:r>
                        <a:rPr sz="1200" b="0">
                          <a:solidFill>
                            <a:srgbClr val="404040"/>
                          </a:solidFill>
                        </a:rPr>
                        <a:t>Baseline</a:t>
                      </a:r>
                    </a:p>
                  </a:txBody>
                  <a:tcPr>
                    <a:solidFill>
                      <a:srgbClr val="F2F2F2"/>
                    </a:solidFill>
                  </a:tcPr>
                </a:tc>
                <a:tc>
                  <a:txBody>
                    <a:bodyPr/>
                    <a:lstStyle/>
                    <a:p>
                      <a:pPr algn="l">
                        <a:spcBef>
                          <a:spcPts val="200"/>
                        </a:spcBef>
                        <a:spcAft>
                          <a:spcPts val="200"/>
                        </a:spcAft>
                      </a:pPr>
                      <a:r>
                        <a:rPr sz="1100" b="0">
                          <a:solidFill>
                            <a:srgbClr val="404040"/>
                          </a:solidFill>
                        </a:rPr>
                        <a:t>Raw Qaari OCR quality, error taxonomy</a:t>
                      </a:r>
                    </a:p>
                  </a:txBody>
                  <a:tcPr>
                    <a:solidFill>
                      <a:srgbClr val="F2F2F2"/>
                    </a:solidFill>
                  </a:tcPr>
                </a:tc>
                <a:tc>
                  <a:txBody>
                    <a:bodyPr/>
                    <a:lstStyle/>
                    <a:p>
                      <a:pPr algn="l">
                        <a:spcBef>
                          <a:spcPts val="200"/>
                        </a:spcBef>
                        <a:spcAft>
                          <a:spcPts val="200"/>
                        </a:spcAft>
                      </a:pPr>
                      <a:r>
                        <a:rPr sz="1100" b="0">
                          <a:solidFill>
                            <a:srgbClr val="404040"/>
                          </a:solidFill>
                        </a:rPr>
                        <a:t>None (reference)</a:t>
                      </a:r>
                    </a:p>
                  </a:txBody>
                  <a:tcPr>
                    <a:solidFill>
                      <a:srgbClr val="F2F2F2"/>
                    </a:solidFill>
                  </a:tcPr>
                </a:tc>
              </a:tr>
              <a:tr h="594360">
                <a:tc>
                  <a:txBody>
                    <a:bodyPr/>
                    <a:lstStyle/>
                    <a:p>
                      <a:pPr algn="ctr">
                        <a:spcBef>
                          <a:spcPts val="200"/>
                        </a:spcBef>
                        <a:spcAft>
                          <a:spcPts val="200"/>
                        </a:spcAft>
                      </a:pPr>
                      <a:r>
                        <a:rPr sz="1200" b="0">
                          <a:solidFill>
                            <a:srgbClr val="1F3864"/>
                          </a:solidFill>
                        </a:rPr>
                        <a:t>2</a:t>
                      </a:r>
                    </a:p>
                  </a:txBody>
                  <a:tcPr>
                    <a:solidFill>
                      <a:srgbClr val="FFFFFF"/>
                    </a:solidFill>
                  </a:tcPr>
                </a:tc>
                <a:tc>
                  <a:txBody>
                    <a:bodyPr/>
                    <a:lstStyle/>
                    <a:p>
                      <a:pPr algn="l">
                        <a:spcBef>
                          <a:spcPts val="200"/>
                        </a:spcBef>
                        <a:spcAft>
                          <a:spcPts val="200"/>
                        </a:spcAft>
                      </a:pPr>
                      <a:r>
                        <a:rPr sz="1200" b="0">
                          <a:solidFill>
                            <a:srgbClr val="404040"/>
                          </a:solidFill>
                        </a:rPr>
                        <a:t>Zero-Shot LLM</a:t>
                      </a:r>
                    </a:p>
                  </a:txBody>
                  <a:tcPr>
                    <a:solidFill>
                      <a:srgbClr val="FFFFFF"/>
                    </a:solidFill>
                  </a:tcPr>
                </a:tc>
                <a:tc>
                  <a:txBody>
                    <a:bodyPr/>
                    <a:lstStyle/>
                    <a:p>
                      <a:pPr algn="l">
                        <a:spcBef>
                          <a:spcPts val="200"/>
                        </a:spcBef>
                        <a:spcAft>
                          <a:spcPts val="200"/>
                        </a:spcAft>
                      </a:pPr>
                      <a:r>
                        <a:rPr sz="1100" b="0">
                          <a:solidFill>
                            <a:srgbClr val="404040"/>
                          </a:solidFill>
                        </a:rPr>
                        <a:t>Can vanilla LLM fix OCR without any extra context?</a:t>
                      </a:r>
                    </a:p>
                  </a:txBody>
                  <a:tcPr>
                    <a:solidFill>
                      <a:srgbClr val="FFFFFF"/>
                    </a:solidFill>
                  </a:tcPr>
                </a:tc>
                <a:tc>
                  <a:txBody>
                    <a:bodyPr/>
                    <a:lstStyle/>
                    <a:p>
                      <a:pPr algn="l">
                        <a:spcBef>
                          <a:spcPts val="200"/>
                        </a:spcBef>
                        <a:spcAft>
                          <a:spcPts val="200"/>
                        </a:spcAft>
                      </a:pPr>
                      <a:r>
                        <a:rPr sz="1100" b="0">
                          <a:solidFill>
                            <a:srgbClr val="404040"/>
                          </a:solidFill>
                        </a:rPr>
                        <a:t>None (base prompt p2v2)</a:t>
                      </a:r>
                    </a:p>
                  </a:txBody>
                  <a:tcPr>
                    <a:solidFill>
                      <a:srgbClr val="FFFFFF"/>
                    </a:solidFill>
                  </a:tcPr>
                </a:tc>
              </a:tr>
              <a:tr h="594360">
                <a:tc>
                  <a:txBody>
                    <a:bodyPr/>
                    <a:lstStyle/>
                    <a:p>
                      <a:pPr algn="ctr">
                        <a:spcBef>
                          <a:spcPts val="200"/>
                        </a:spcBef>
                        <a:spcAft>
                          <a:spcPts val="200"/>
                        </a:spcAft>
                      </a:pPr>
                      <a:r>
                        <a:rPr sz="1200" b="0">
                          <a:solidFill>
                            <a:srgbClr val="1F3864"/>
                          </a:solidFill>
                        </a:rPr>
                        <a:t>3</a:t>
                      </a:r>
                    </a:p>
                  </a:txBody>
                  <a:tcPr>
                    <a:solidFill>
                      <a:srgbClr val="F2F2F2"/>
                    </a:solidFill>
                  </a:tcPr>
                </a:tc>
                <a:tc>
                  <a:txBody>
                    <a:bodyPr/>
                    <a:lstStyle/>
                    <a:p>
                      <a:pPr algn="l">
                        <a:spcBef>
                          <a:spcPts val="200"/>
                        </a:spcBef>
                        <a:spcAft>
                          <a:spcPts val="200"/>
                        </a:spcAft>
                      </a:pPr>
                      <a:r>
                        <a:rPr sz="1200" b="0">
                          <a:solidFill>
                            <a:srgbClr val="404040"/>
                          </a:solidFill>
                        </a:rPr>
                        <a:t>OCR-Aware</a:t>
                      </a:r>
                    </a:p>
                  </a:txBody>
                  <a:tcPr>
                    <a:solidFill>
                      <a:srgbClr val="F2F2F2"/>
                    </a:solidFill>
                  </a:tcPr>
                </a:tc>
                <a:tc>
                  <a:txBody>
                    <a:bodyPr/>
                    <a:lstStyle/>
                    <a:p>
                      <a:pPr algn="l">
                        <a:spcBef>
                          <a:spcPts val="200"/>
                        </a:spcBef>
                        <a:spcAft>
                          <a:spcPts val="200"/>
                        </a:spcAft>
                      </a:pPr>
                      <a:r>
                        <a:rPr sz="1100" b="0">
                          <a:solidFill>
                            <a:srgbClr val="404040"/>
                          </a:solidFill>
                        </a:rPr>
                        <a:t>Does confusion-matrix knowledge help?</a:t>
                      </a:r>
                    </a:p>
                  </a:txBody>
                  <a:tcPr>
                    <a:solidFill>
                      <a:srgbClr val="F2F2F2"/>
                    </a:solidFill>
                  </a:tcPr>
                </a:tc>
                <a:tc>
                  <a:txBody>
                    <a:bodyPr/>
                    <a:lstStyle/>
                    <a:p>
                      <a:pPr algn="l">
                        <a:spcBef>
                          <a:spcPts val="200"/>
                        </a:spcBef>
                        <a:spcAft>
                          <a:spcPts val="200"/>
                        </a:spcAft>
                      </a:pPr>
                      <a:r>
                        <a:rPr sz="1100" b="0">
                          <a:solidFill>
                            <a:srgbClr val="404040"/>
                          </a:solidFill>
                        </a:rPr>
                        <a:t>Top-10 char confusions + LLM failure filter</a:t>
                      </a:r>
                    </a:p>
                  </a:txBody>
                  <a:tcPr>
                    <a:solidFill>
                      <a:srgbClr val="F2F2F2"/>
                    </a:solidFill>
                  </a:tcPr>
                </a:tc>
              </a:tr>
              <a:tr h="594360">
                <a:tc>
                  <a:txBody>
                    <a:bodyPr/>
                    <a:lstStyle/>
                    <a:p>
                      <a:pPr algn="ctr">
                        <a:spcBef>
                          <a:spcPts val="200"/>
                        </a:spcBef>
                        <a:spcAft>
                          <a:spcPts val="200"/>
                        </a:spcAft>
                      </a:pPr>
                      <a:r>
                        <a:rPr sz="1200" b="0">
                          <a:solidFill>
                            <a:srgbClr val="1F3864"/>
                          </a:solidFill>
                        </a:rPr>
                        <a:t>4</a:t>
                      </a:r>
                    </a:p>
                  </a:txBody>
                  <a:tcPr>
                    <a:solidFill>
                      <a:srgbClr val="FFFFFF"/>
                    </a:solidFill>
                  </a:tcPr>
                </a:tc>
                <a:tc>
                  <a:txBody>
                    <a:bodyPr/>
                    <a:lstStyle/>
                    <a:p>
                      <a:pPr algn="l">
                        <a:spcBef>
                          <a:spcPts val="200"/>
                        </a:spcBef>
                        <a:spcAft>
                          <a:spcPts val="200"/>
                        </a:spcAft>
                      </a:pPr>
                      <a:r>
                        <a:rPr sz="1200" b="0">
                          <a:solidFill>
                            <a:srgbClr val="404040"/>
                          </a:solidFill>
                        </a:rPr>
                        <a:t>Self-Reflective</a:t>
                      </a:r>
                    </a:p>
                  </a:txBody>
                  <a:tcPr>
                    <a:solidFill>
                      <a:srgbClr val="FFFFFF"/>
                    </a:solidFill>
                  </a:tcPr>
                </a:tc>
                <a:tc>
                  <a:txBody>
                    <a:bodyPr/>
                    <a:lstStyle/>
                    <a:p>
                      <a:pPr algn="l">
                        <a:spcBef>
                          <a:spcPts val="200"/>
                        </a:spcBef>
                        <a:spcAft>
                          <a:spcPts val="200"/>
                        </a:spcAft>
                      </a:pPr>
                      <a:r>
                        <a:rPr sz="1100" b="0">
                          <a:solidFill>
                            <a:srgbClr val="404040"/>
                          </a:solidFill>
                        </a:rPr>
                        <a:t>Do error-pattern warnings reduce over-correction?</a:t>
                      </a:r>
                    </a:p>
                  </a:txBody>
                  <a:tcPr>
                    <a:solidFill>
                      <a:srgbClr val="FFFFFF"/>
                    </a:solidFill>
                  </a:tcPr>
                </a:tc>
                <a:tc>
                  <a:txBody>
                    <a:bodyPr/>
                    <a:lstStyle/>
                    <a:p>
                      <a:pPr algn="l">
                        <a:spcBef>
                          <a:spcPts val="200"/>
                        </a:spcBef>
                        <a:spcAft>
                          <a:spcPts val="200"/>
                        </a:spcAft>
                      </a:pPr>
                      <a:r>
                        <a:rPr sz="1100" b="0">
                          <a:solidFill>
                            <a:srgbClr val="404040"/>
                          </a:solidFill>
                        </a:rPr>
                        <a:t>Training failure pairs + overcorrection alerts</a:t>
                      </a:r>
                    </a:p>
                  </a:txBody>
                  <a:tcPr>
                    <a:solidFill>
                      <a:srgbClr val="FFFFFF"/>
                    </a:solidFill>
                  </a:tcPr>
                </a:tc>
              </a:tr>
              <a:tr h="594360">
                <a:tc>
                  <a:txBody>
                    <a:bodyPr/>
                    <a:lstStyle/>
                    <a:p>
                      <a:pPr algn="ctr">
                        <a:spcBef>
                          <a:spcPts val="200"/>
                        </a:spcBef>
                        <a:spcAft>
                          <a:spcPts val="200"/>
                        </a:spcAft>
                      </a:pPr>
                      <a:r>
                        <a:rPr sz="1200" b="0">
                          <a:solidFill>
                            <a:srgbClr val="1F3864"/>
                          </a:solidFill>
                        </a:rPr>
                        <a:t>5</a:t>
                      </a:r>
                    </a:p>
                  </a:txBody>
                  <a:tcPr>
                    <a:solidFill>
                      <a:srgbClr val="F2F2F2"/>
                    </a:solidFill>
                  </a:tcPr>
                </a:tc>
                <a:tc>
                  <a:txBody>
                    <a:bodyPr/>
                    <a:lstStyle/>
                    <a:p>
                      <a:pPr algn="l">
                        <a:spcBef>
                          <a:spcPts val="200"/>
                        </a:spcBef>
                        <a:spcAft>
                          <a:spcPts val="200"/>
                        </a:spcAft>
                      </a:pPr>
                      <a:r>
                        <a:rPr sz="1200" b="0">
                          <a:solidFill>
                            <a:srgbClr val="404040"/>
                          </a:solidFill>
                        </a:rPr>
                        <a:t>CAMeL Validation</a:t>
                      </a:r>
                    </a:p>
                  </a:txBody>
                  <a:tcPr>
                    <a:solidFill>
                      <a:srgbClr val="F2F2F2"/>
                    </a:solidFill>
                  </a:tcPr>
                </a:tc>
                <a:tc>
                  <a:txBody>
                    <a:bodyPr/>
                    <a:lstStyle/>
                    <a:p>
                      <a:pPr algn="l">
                        <a:spcBef>
                          <a:spcPts val="200"/>
                        </a:spcBef>
                        <a:spcAft>
                          <a:spcPts val="200"/>
                        </a:spcAft>
                      </a:pPr>
                      <a:r>
                        <a:rPr sz="1100" b="0">
                          <a:solidFill>
                            <a:srgbClr val="404040"/>
                          </a:solidFill>
                        </a:rPr>
                        <a:t>Does morphological revert save over-corrected words?</a:t>
                      </a:r>
                    </a:p>
                  </a:txBody>
                  <a:tcPr>
                    <a:solidFill>
                      <a:srgbClr val="F2F2F2"/>
                    </a:solidFill>
                  </a:tcPr>
                </a:tc>
                <a:tc>
                  <a:txBody>
                    <a:bodyPr/>
                    <a:lstStyle/>
                    <a:p>
                      <a:pPr algn="l">
                        <a:spcBef>
                          <a:spcPts val="200"/>
                        </a:spcBef>
                        <a:spcAft>
                          <a:spcPts val="200"/>
                        </a:spcAft>
                      </a:pPr>
                      <a:r>
                        <a:rPr sz="1100" b="0">
                          <a:solidFill>
                            <a:srgbClr val="404040"/>
                          </a:solidFill>
                        </a:rPr>
                        <a:t>CAMeL morph check + known-OC revert</a:t>
                      </a:r>
                    </a:p>
                  </a:txBody>
                  <a:tcPr>
                    <a:solidFill>
                      <a:srgbClr val="F2F2F2"/>
                    </a:solidFill>
                  </a:tcPr>
                </a:tc>
              </a:tr>
              <a:tr h="594360">
                <a:tc>
                  <a:txBody>
                    <a:bodyPr/>
                    <a:lstStyle/>
                    <a:p>
                      <a:pPr algn="ctr">
                        <a:spcBef>
                          <a:spcPts val="200"/>
                        </a:spcBef>
                        <a:spcAft>
                          <a:spcPts val="200"/>
                        </a:spcAft>
                      </a:pPr>
                      <a:r>
                        <a:rPr sz="1200" b="0">
                          <a:solidFill>
                            <a:srgbClr val="1F3864"/>
                          </a:solidFill>
                        </a:rPr>
                        <a:t>6</a:t>
                      </a:r>
                    </a:p>
                  </a:txBody>
                  <a:tcPr>
                    <a:solidFill>
                      <a:srgbClr val="FFFFFF"/>
                    </a:solidFill>
                  </a:tcPr>
                </a:tc>
                <a:tc>
                  <a:txBody>
                    <a:bodyPr/>
                    <a:lstStyle/>
                    <a:p>
                      <a:pPr algn="l">
                        <a:spcBef>
                          <a:spcPts val="200"/>
                        </a:spcBef>
                        <a:spcAft>
                          <a:spcPts val="200"/>
                        </a:spcAft>
                      </a:pPr>
                      <a:r>
                        <a:rPr sz="1200" b="0">
                          <a:solidFill>
                            <a:srgbClr val="404040"/>
                          </a:solidFill>
                        </a:rPr>
                        <a:t>Combinations</a:t>
                      </a:r>
                    </a:p>
                  </a:txBody>
                  <a:tcPr>
                    <a:solidFill>
                      <a:srgbClr val="FFFFFF"/>
                    </a:solidFill>
                  </a:tcPr>
                </a:tc>
                <a:tc>
                  <a:txBody>
                    <a:bodyPr/>
                    <a:lstStyle/>
                    <a:p>
                      <a:pPr algn="l">
                        <a:spcBef>
                          <a:spcPts val="200"/>
                        </a:spcBef>
                        <a:spcAft>
                          <a:spcPts val="200"/>
                        </a:spcAft>
                      </a:pPr>
                      <a:r>
                        <a:rPr sz="1100" b="0">
                          <a:solidFill>
                            <a:srgbClr val="404040"/>
                          </a:solidFill>
                        </a:rPr>
                        <a:t>Do Phase 3+4 signals synergize?</a:t>
                      </a:r>
                    </a:p>
                  </a:txBody>
                  <a:tcPr>
                    <a:solidFill>
                      <a:srgbClr val="FFFFFF"/>
                    </a:solidFill>
                  </a:tcPr>
                </a:tc>
                <a:tc>
                  <a:txBody>
                    <a:bodyPr/>
                    <a:lstStyle/>
                    <a:p>
                      <a:pPr algn="l">
                        <a:spcBef>
                          <a:spcPts val="200"/>
                        </a:spcBef>
                        <a:spcAft>
                          <a:spcPts val="200"/>
                        </a:spcAft>
                      </a:pPr>
                      <a:r>
                        <a:rPr sz="1100" b="0">
                          <a:solidFill>
                            <a:srgbClr val="404040"/>
                          </a:solidFill>
                        </a:rPr>
                        <a:t>Confusion + self-reflective fused prompt</a:t>
                      </a:r>
                    </a:p>
                  </a:txBody>
                  <a:tcPr>
                    <a:solidFill>
                      <a:srgbClr val="FFFFFF"/>
                    </a:solidFill>
                  </a:tcPr>
                </a:tc>
              </a:tr>
              <a:tr h="594360">
                <a:tc>
                  <a:txBody>
                    <a:bodyPr/>
                    <a:lstStyle/>
                    <a:p>
                      <a:pPr algn="ctr">
                        <a:spcBef>
                          <a:spcPts val="200"/>
                        </a:spcBef>
                        <a:spcAft>
                          <a:spcPts val="200"/>
                        </a:spcAft>
                      </a:pPr>
                      <a:r>
                        <a:rPr sz="1200" b="0">
                          <a:solidFill>
                            <a:srgbClr val="1F3864"/>
                          </a:solidFill>
                        </a:rPr>
                        <a:t>7</a:t>
                      </a:r>
                    </a:p>
                  </a:txBody>
                  <a:tcPr>
                    <a:solidFill>
                      <a:srgbClr val="F2F2F2"/>
                    </a:solidFill>
                  </a:tcPr>
                </a:tc>
                <a:tc>
                  <a:txBody>
                    <a:bodyPr/>
                    <a:lstStyle/>
                    <a:p>
                      <a:pPr algn="l">
                        <a:spcBef>
                          <a:spcPts val="200"/>
                        </a:spcBef>
                        <a:spcAft>
                          <a:spcPts val="200"/>
                        </a:spcAft>
                      </a:pPr>
                      <a:r>
                        <a:rPr sz="1200" b="0">
                          <a:solidFill>
                            <a:srgbClr val="404040"/>
                          </a:solidFill>
                        </a:rPr>
                        <a:t>RAG (BM25)</a:t>
                      </a:r>
                    </a:p>
                  </a:txBody>
                  <a:tcPr>
                    <a:solidFill>
                      <a:srgbClr val="F2F2F2"/>
                    </a:solidFill>
                  </a:tcPr>
                </a:tc>
                <a:tc>
                  <a:txBody>
                    <a:bodyPr/>
                    <a:lstStyle/>
                    <a:p>
                      <a:pPr algn="l">
                        <a:spcBef>
                          <a:spcPts val="200"/>
                        </a:spcBef>
                        <a:spcAft>
                          <a:spcPts val="200"/>
                        </a:spcAft>
                      </a:pPr>
                      <a:r>
                        <a:rPr sz="1100" b="0">
                          <a:solidFill>
                            <a:srgbClr val="404040"/>
                          </a:solidFill>
                        </a:rPr>
                        <a:t>Does per-sample retrieval of similar corrections help?</a:t>
                      </a:r>
                    </a:p>
                  </a:txBody>
                  <a:tcPr>
                    <a:solidFill>
                      <a:srgbClr val="F2F2F2"/>
                    </a:solidFill>
                  </a:tcPr>
                </a:tc>
                <a:tc>
                  <a:txBody>
                    <a:bodyPr/>
                    <a:lstStyle/>
                    <a:p>
                      <a:pPr algn="l">
                        <a:spcBef>
                          <a:spcPts val="200"/>
                        </a:spcBef>
                        <a:spcAft>
                          <a:spcPts val="200"/>
                        </a:spcAft>
                      </a:pPr>
                      <a:r>
                        <a:rPr sz="1100" b="0">
                          <a:solidFill>
                            <a:srgbClr val="404040"/>
                          </a:solidFill>
                        </a:rPr>
                        <a:t>Top-5 (OCR→GT) pairs from training index</a:t>
                      </a:r>
                    </a:p>
                  </a:txBody>
                  <a:tcPr>
                    <a:solidFill>
                      <a:srgbClr val="F2F2F2"/>
                    </a:solidFill>
                  </a:tcPr>
                </a:tc>
              </a:tr>
              <a:tr h="594360">
                <a:tc>
                  <a:txBody>
                    <a:bodyPr/>
                    <a:lstStyle/>
                    <a:p>
                      <a:pPr algn="ctr">
                        <a:spcBef>
                          <a:spcPts val="200"/>
                        </a:spcBef>
                        <a:spcAft>
                          <a:spcPts val="200"/>
                        </a:spcAft>
                      </a:pPr>
                      <a:r>
                        <a:rPr sz="1200" b="1">
                          <a:solidFill>
                            <a:srgbClr val="1F3864"/>
                          </a:solidFill>
                        </a:rPr>
                        <a:t>8</a:t>
                      </a:r>
                    </a:p>
                  </a:txBody>
                  <a:tcPr>
                    <a:solidFill>
                      <a:srgbClr val="BDD7EE"/>
                    </a:solidFill>
                  </a:tcPr>
                </a:tc>
                <a:tc>
                  <a:txBody>
                    <a:bodyPr/>
                    <a:lstStyle/>
                    <a:p>
                      <a:pPr algn="l">
                        <a:spcBef>
                          <a:spcPts val="200"/>
                        </a:spcBef>
                        <a:spcAft>
                          <a:spcPts val="200"/>
                        </a:spcAft>
                      </a:pPr>
                      <a:r>
                        <a:rPr sz="1200" b="1">
                          <a:solidFill>
                            <a:srgbClr val="404040"/>
                          </a:solidFill>
                        </a:rPr>
                        <a:t>Error-Sig RAG</a:t>
                      </a:r>
                    </a:p>
                  </a:txBody>
                  <a:tcPr>
                    <a:solidFill>
                      <a:srgbClr val="BDD7EE"/>
                    </a:solidFill>
                  </a:tcPr>
                </a:tc>
                <a:tc>
                  <a:txBody>
                    <a:bodyPr/>
                    <a:lstStyle/>
                    <a:p>
                      <a:pPr algn="l">
                        <a:spcBef>
                          <a:spcPts val="200"/>
                        </a:spcBef>
                        <a:spcAft>
                          <a:spcPts val="200"/>
                        </a:spcAft>
                      </a:pPr>
                      <a:r>
                        <a:rPr sz="1100" b="0">
                          <a:solidFill>
                            <a:srgbClr val="404040"/>
                          </a:solidFill>
                        </a:rPr>
                        <a:t>Does structural similarity retrieval beat surface?</a:t>
                      </a:r>
                    </a:p>
                  </a:txBody>
                  <a:tcPr>
                    <a:solidFill>
                      <a:srgbClr val="BDD7EE"/>
                    </a:solidFill>
                  </a:tcPr>
                </a:tc>
                <a:tc>
                  <a:txBody>
                    <a:bodyPr/>
                    <a:lstStyle/>
                    <a:p>
                      <a:pPr algn="l">
                        <a:spcBef>
                          <a:spcPts val="200"/>
                        </a:spcBef>
                        <a:spcAft>
                          <a:spcPts val="200"/>
                        </a:spcAft>
                      </a:pPr>
                      <a:r>
                        <a:rPr sz="1100" b="0">
                          <a:solidFill>
                            <a:srgbClr val="404040"/>
                          </a:solidFill>
                        </a:rPr>
                        <a:t>CAMeL + confusion-matrix error signature</a:t>
                      </a:r>
                    </a:p>
                  </a:txBody>
                  <a:tcPr>
                    <a:solidFill>
                      <a:srgbClr val="BDD7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Main Results — All Phases</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CER = Character Error Rate  ·  WER = Word Error Rate  ·  Lower is better</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5 / 15</a:t>
            </a:r>
          </a:p>
        </p:txBody>
      </p:sp>
      <p:sp>
        <p:nvSpPr>
          <p:cNvPr id="6" name="TextBox 5"/>
          <p:cNvSpPr txBox="1"/>
          <p:nvPr/>
        </p:nvSpPr>
        <p:spPr>
          <a:xfrm>
            <a:off x="320040" y="1188720"/>
            <a:ext cx="11548872" cy="292608"/>
          </a:xfrm>
          <a:prstGeom prst="rect">
            <a:avLst/>
          </a:prstGeom>
          <a:noFill/>
        </p:spPr>
        <p:txBody>
          <a:bodyPr wrap="square">
            <a:spAutoFit/>
          </a:bodyPr>
          <a:lstStyle/>
          <a:p>
            <a:pPr algn="l"/>
            <a:r>
              <a:rPr sz="1200" b="0">
                <a:solidFill>
                  <a:srgbClr val="404040"/>
                </a:solidFill>
              </a:rPr>
              <a:t>Validation set  ·  Diacritics stripped before evaluation  ·  Model: Qwen3-4B-Instruct-2507</a:t>
            </a:r>
          </a:p>
        </p:txBody>
      </p:sp>
      <p:graphicFrame>
        <p:nvGraphicFramePr>
          <p:cNvPr id="7" name="Table 6"/>
          <p:cNvGraphicFramePr>
            <a:graphicFrameLocks noGrp="1"/>
          </p:cNvGraphicFramePr>
          <p:nvPr/>
        </p:nvGraphicFramePr>
        <p:xfrm>
          <a:off x="320040" y="1508760"/>
          <a:ext cx="11548872" cy="5029200"/>
        </p:xfrm>
        <a:graphic>
          <a:graphicData uri="http://schemas.openxmlformats.org/drawingml/2006/table">
            <a:tbl>
              <a:tblPr firstRow="1" bandRow="1">
                <a:tableStyleId>{5C22544A-7EE6-4342-B048-85BDC9FD1C3A}</a:tableStyleId>
              </a:tblPr>
              <a:tblGrid>
                <a:gridCol w="2011680"/>
                <a:gridCol w="2286000"/>
                <a:gridCol w="2286000"/>
                <a:gridCol w="2286000"/>
                <a:gridCol w="2679192"/>
              </a:tblGrid>
              <a:tr h="55880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PATS avg WER</a:t>
                      </a:r>
                    </a:p>
                  </a:txBody>
                  <a:tcPr>
                    <a:solidFill>
                      <a:srgbClr val="1F3864"/>
                    </a:solidFill>
                  </a:tcPr>
                </a:tc>
                <a:tc>
                  <a:txBody>
                    <a:bodyPr/>
                    <a:lstStyle/>
                    <a:p>
                      <a:pPr algn="ctr">
                        <a:spcBef>
                          <a:spcPts val="200"/>
                        </a:spcBef>
                        <a:spcAft>
                          <a:spcPts val="200"/>
                        </a:spcAft>
                      </a:pPr>
                      <a:r>
                        <a:rPr sz="1300" b="1">
                          <a:solidFill>
                            <a:srgbClr val="FFFFFF"/>
                          </a:solidFill>
                        </a:rPr>
                        <a:t>KHATT CER</a:t>
                      </a:r>
                    </a:p>
                  </a:txBody>
                  <a:tcPr>
                    <a:solidFill>
                      <a:srgbClr val="1F3864"/>
                    </a:solidFill>
                  </a:tcPr>
                </a:tc>
                <a:tc>
                  <a:txBody>
                    <a:bodyPr/>
                    <a:lstStyle/>
                    <a:p>
                      <a:pPr algn="ctr">
                        <a:spcBef>
                          <a:spcPts val="200"/>
                        </a:spcBef>
                        <a:spcAft>
                          <a:spcPts val="200"/>
                        </a:spcAft>
                      </a:pPr>
                      <a:r>
                        <a:rPr sz="1300" b="1">
                          <a:solidFill>
                            <a:srgbClr val="FFFFFF"/>
                          </a:solidFill>
                        </a:rPr>
                        <a:t>KHATT WER</a:t>
                      </a:r>
                    </a:p>
                  </a:txBody>
                  <a:tcPr>
                    <a:solidFill>
                      <a:srgbClr val="1F3864"/>
                    </a:solidFill>
                  </a:tcPr>
                </a:tc>
              </a:tr>
              <a:tr h="558800">
                <a:tc>
                  <a:txBody>
                    <a:bodyPr/>
                    <a:lstStyle/>
                    <a:p>
                      <a:pPr algn="l">
                        <a:spcBef>
                          <a:spcPts val="200"/>
                        </a:spcBef>
                        <a:spcAft>
                          <a:spcPts val="200"/>
                        </a:spcAft>
                      </a:pPr>
                      <a:r>
                        <a:rPr sz="1100" b="0">
                          <a:solidFill>
                            <a:srgbClr val="404040"/>
                          </a:solidFill>
                        </a:rPr>
                        <a:t>Phase 1  (OCR Baseline)</a:t>
                      </a:r>
                    </a:p>
                  </a:txBody>
                  <a:tcPr>
                    <a:solidFill>
                      <a:srgbClr val="F2F2F2"/>
                    </a:solidFill>
                  </a:tcPr>
                </a:tc>
                <a:tc>
                  <a:txBody>
                    <a:bodyPr/>
                    <a:lstStyle/>
                    <a:p>
                      <a:pPr algn="ctr">
                        <a:spcBef>
                          <a:spcPts val="200"/>
                        </a:spcBef>
                        <a:spcAft>
                          <a:spcPts val="200"/>
                        </a:spcAft>
                      </a:pPr>
                      <a:r>
                        <a:rPr sz="1200" b="0">
                          <a:solidFill>
                            <a:srgbClr val="404040"/>
                          </a:solidFill>
                        </a:rPr>
                        <a:t>1.31%</a:t>
                      </a:r>
                    </a:p>
                  </a:txBody>
                  <a:tcPr>
                    <a:solidFill>
                      <a:srgbClr val="F2F2F2"/>
                    </a:solidFill>
                  </a:tcPr>
                </a:tc>
                <a:tc>
                  <a:txBody>
                    <a:bodyPr/>
                    <a:lstStyle/>
                    <a:p>
                      <a:pPr algn="ctr">
                        <a:spcBef>
                          <a:spcPts val="200"/>
                        </a:spcBef>
                        <a:spcAft>
                          <a:spcPts val="200"/>
                        </a:spcAft>
                      </a:pPr>
                      <a:r>
                        <a:rPr sz="1200" b="0">
                          <a:solidFill>
                            <a:srgbClr val="404040"/>
                          </a:solidFill>
                        </a:rPr>
                        <a:t>1.34%</a:t>
                      </a:r>
                    </a:p>
                  </a:txBody>
                  <a:tcPr>
                    <a:solidFill>
                      <a:srgbClr val="F2F2F2"/>
                    </a:solidFill>
                  </a:tcPr>
                </a:tc>
                <a:tc>
                  <a:txBody>
                    <a:bodyPr/>
                    <a:lstStyle/>
                    <a:p>
                      <a:pPr algn="ctr">
                        <a:spcBef>
                          <a:spcPts val="200"/>
                        </a:spcBef>
                        <a:spcAft>
                          <a:spcPts val="200"/>
                        </a:spcAft>
                      </a:pPr>
                      <a:r>
                        <a:rPr sz="1200" b="0">
                          <a:solidFill>
                            <a:srgbClr val="404040"/>
                          </a:solidFill>
                        </a:rPr>
                        <a:t>5.66%</a:t>
                      </a:r>
                    </a:p>
                  </a:txBody>
                  <a:tcPr>
                    <a:solidFill>
                      <a:srgbClr val="F2F2F2"/>
                    </a:solidFill>
                  </a:tcPr>
                </a:tc>
                <a:tc>
                  <a:txBody>
                    <a:bodyPr/>
                    <a:lstStyle/>
                    <a:p>
                      <a:pPr algn="ctr">
                        <a:spcBef>
                          <a:spcPts val="200"/>
                        </a:spcBef>
                        <a:spcAft>
                          <a:spcPts val="200"/>
                        </a:spcAft>
                      </a:pPr>
                      <a:r>
                        <a:rPr sz="1200" b="0">
                          <a:solidFill>
                            <a:srgbClr val="404040"/>
                          </a:solidFill>
                        </a:rPr>
                        <a:t>7.25%</a:t>
                      </a:r>
                    </a:p>
                  </a:txBody>
                  <a:tcPr>
                    <a:solidFill>
                      <a:srgbClr val="F2F2F2"/>
                    </a:solidFill>
                  </a:tcPr>
                </a:tc>
              </a:tr>
              <a:tr h="558800">
                <a:tc>
                  <a:txBody>
                    <a:bodyPr/>
                    <a:lstStyle/>
                    <a:p>
                      <a:pPr algn="l">
                        <a:spcBef>
                          <a:spcPts val="200"/>
                        </a:spcBef>
                        <a:spcAft>
                          <a:spcPts val="200"/>
                        </a:spcAft>
                      </a:pPr>
                      <a:r>
                        <a:rPr sz="1100" b="0">
                          <a:solidFill>
                            <a:srgbClr val="404040"/>
                          </a:solidFill>
                        </a:rPr>
                        <a:t>Phase 2  (Zero-Shot)</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1.38%</a:t>
                      </a:r>
                    </a:p>
                  </a:txBody>
                  <a:tcPr>
                    <a:solidFill>
                      <a:srgbClr val="FFFFFF"/>
                    </a:solidFill>
                  </a:tcPr>
                </a:tc>
                <a:tc>
                  <a:txBody>
                    <a:bodyPr/>
                    <a:lstStyle/>
                    <a:p>
                      <a:pPr algn="ctr">
                        <a:spcBef>
                          <a:spcPts val="200"/>
                        </a:spcBef>
                        <a:spcAft>
                          <a:spcPts val="200"/>
                        </a:spcAft>
                      </a:pPr>
                      <a:r>
                        <a:rPr sz="1200" b="0">
                          <a:solidFill>
                            <a:srgbClr val="404040"/>
                          </a:solidFill>
                        </a:rPr>
                        <a:t>3.21%</a:t>
                      </a:r>
                    </a:p>
                  </a:txBody>
                  <a:tcPr>
                    <a:solidFill>
                      <a:srgbClr val="FFFFFF"/>
                    </a:solidFill>
                  </a:tcPr>
                </a:tc>
                <a:tc>
                  <a:txBody>
                    <a:bodyPr/>
                    <a:lstStyle/>
                    <a:p>
                      <a:pPr algn="ctr">
                        <a:spcBef>
                          <a:spcPts val="200"/>
                        </a:spcBef>
                        <a:spcAft>
                          <a:spcPts val="200"/>
                        </a:spcAft>
                      </a:pPr>
                      <a:r>
                        <a:rPr sz="1200" b="0">
                          <a:solidFill>
                            <a:srgbClr val="404040"/>
                          </a:solidFill>
                        </a:rPr>
                        <a:t>4.53%</a:t>
                      </a:r>
                    </a:p>
                  </a:txBody>
                  <a:tcPr>
                    <a:solidFill>
                      <a:srgbClr val="FFFFFF"/>
                    </a:solidFill>
                  </a:tcPr>
                </a:tc>
              </a:tr>
              <a:tr h="558800">
                <a:tc>
                  <a:txBody>
                    <a:bodyPr/>
                    <a:lstStyle/>
                    <a:p>
                      <a:pPr algn="l">
                        <a:spcBef>
                          <a:spcPts val="200"/>
                        </a:spcBef>
                        <a:spcAft>
                          <a:spcPts val="200"/>
                        </a:spcAft>
                      </a:pPr>
                      <a:r>
                        <a:rPr sz="1100" b="0">
                          <a:solidFill>
                            <a:srgbClr val="404040"/>
                          </a:solidFill>
                        </a:rPr>
                        <a:t>Phase 3  (OCR-Aware)</a:t>
                      </a:r>
                    </a:p>
                  </a:txBody>
                  <a:tcPr>
                    <a:solidFill>
                      <a:srgbClr val="F2F2F2"/>
                    </a:solidFill>
                  </a:tcPr>
                </a:tc>
                <a:tc>
                  <a:txBody>
                    <a:bodyPr/>
                    <a:lstStyle/>
                    <a:p>
                      <a:pPr algn="ctr">
                        <a:spcBef>
                          <a:spcPts val="200"/>
                        </a:spcBef>
                        <a:spcAft>
                          <a:spcPts val="200"/>
                        </a:spcAft>
                      </a:pPr>
                      <a:r>
                        <a:rPr sz="1200" b="0">
                          <a:solidFill>
                            <a:srgbClr val="404040"/>
                          </a:solidFill>
                        </a:rPr>
                        <a:t>1.47%</a:t>
                      </a:r>
                    </a:p>
                  </a:txBody>
                  <a:tcPr>
                    <a:solidFill>
                      <a:srgbClr val="F2F2F2"/>
                    </a:solidFill>
                  </a:tcPr>
                </a:tc>
                <a:tc>
                  <a:txBody>
                    <a:bodyPr/>
                    <a:lstStyle/>
                    <a:p>
                      <a:pPr algn="ctr">
                        <a:spcBef>
                          <a:spcPts val="200"/>
                        </a:spcBef>
                        <a:spcAft>
                          <a:spcPts val="200"/>
                        </a:spcAft>
                      </a:pPr>
                      <a:r>
                        <a:rPr sz="1200" b="0">
                          <a:solidFill>
                            <a:srgbClr val="404040"/>
                          </a:solidFill>
                        </a:rPr>
                        <a:t>1.51%</a:t>
                      </a:r>
                    </a:p>
                  </a:txBody>
                  <a:tcPr>
                    <a:solidFill>
                      <a:srgbClr val="F2F2F2"/>
                    </a:solidFill>
                  </a:tcPr>
                </a:tc>
                <a:tc>
                  <a:txBody>
                    <a:bodyPr/>
                    <a:lstStyle/>
                    <a:p>
                      <a:pPr algn="ctr">
                        <a:spcBef>
                          <a:spcPts val="200"/>
                        </a:spcBef>
                        <a:spcAft>
                          <a:spcPts val="200"/>
                        </a:spcAft>
                      </a:pPr>
                      <a:r>
                        <a:rPr sz="1200" b="0">
                          <a:solidFill>
                            <a:srgbClr val="404040"/>
                          </a:solidFill>
                        </a:rPr>
                        <a:t>3.33%</a:t>
                      </a:r>
                    </a:p>
                  </a:txBody>
                  <a:tcPr>
                    <a:solidFill>
                      <a:srgbClr val="F2F2F2"/>
                    </a:solidFill>
                  </a:tcPr>
                </a:tc>
                <a:tc>
                  <a:txBody>
                    <a:bodyPr/>
                    <a:lstStyle/>
                    <a:p>
                      <a:pPr algn="ctr">
                        <a:spcBef>
                          <a:spcPts val="200"/>
                        </a:spcBef>
                        <a:spcAft>
                          <a:spcPts val="200"/>
                        </a:spcAft>
                      </a:pPr>
                      <a:r>
                        <a:rPr sz="1200" b="0">
                          <a:solidFill>
                            <a:srgbClr val="404040"/>
                          </a:solidFill>
                        </a:rPr>
                        <a:t>3.59%</a:t>
                      </a:r>
                    </a:p>
                  </a:txBody>
                  <a:tcPr>
                    <a:solidFill>
                      <a:srgbClr val="F2F2F2"/>
                    </a:solidFill>
                  </a:tcPr>
                </a:tc>
              </a:tr>
              <a:tr h="558800">
                <a:tc>
                  <a:txBody>
                    <a:bodyPr/>
                    <a:lstStyle/>
                    <a:p>
                      <a:pPr algn="l">
                        <a:spcBef>
                          <a:spcPts val="200"/>
                        </a:spcBef>
                        <a:spcAft>
                          <a:spcPts val="200"/>
                        </a:spcAft>
                      </a:pPr>
                      <a:r>
                        <a:rPr sz="1100" b="0">
                          <a:solidFill>
                            <a:srgbClr val="404040"/>
                          </a:solidFill>
                        </a:rPr>
                        <a:t>Phase 4  (Self-Reflective)</a:t>
                      </a:r>
                    </a:p>
                  </a:txBody>
                  <a:tcPr>
                    <a:solidFill>
                      <a:srgbClr val="FFFFFF"/>
                    </a:solidFill>
                  </a:tcPr>
                </a:tc>
                <a:tc>
                  <a:txBody>
                    <a:bodyPr/>
                    <a:lstStyle/>
                    <a:p>
                      <a:pPr algn="ctr">
                        <a:spcBef>
                          <a:spcPts val="200"/>
                        </a:spcBef>
                        <a:spcAft>
                          <a:spcPts val="200"/>
                        </a:spcAft>
                      </a:pPr>
                      <a:r>
                        <a:rPr sz="1200" b="0">
                          <a:solidFill>
                            <a:srgbClr val="404040"/>
                          </a:solidFill>
                        </a:rPr>
                        <a:t>1.45%</a:t>
                      </a:r>
                    </a:p>
                  </a:txBody>
                  <a:tcPr>
                    <a:solidFill>
                      <a:srgbClr val="FFFFFF"/>
                    </a:solidFill>
                  </a:tcPr>
                </a:tc>
                <a:tc>
                  <a:txBody>
                    <a:bodyPr/>
                    <a:lstStyle/>
                    <a:p>
                      <a:pPr algn="ctr">
                        <a:spcBef>
                          <a:spcPts val="200"/>
                        </a:spcBef>
                        <a:spcAft>
                          <a:spcPts val="200"/>
                        </a:spcAft>
                      </a:pPr>
                      <a:r>
                        <a:rPr sz="1200" b="0">
                          <a:solidFill>
                            <a:srgbClr val="404040"/>
                          </a:solidFill>
                        </a:rPr>
                        <a:t>1.49%</a:t>
                      </a:r>
                    </a:p>
                  </a:txBody>
                  <a:tcPr>
                    <a:solidFill>
                      <a:srgbClr val="FFFFFF"/>
                    </a:solidFill>
                  </a:tcPr>
                </a:tc>
                <a:tc>
                  <a:txBody>
                    <a:bodyPr/>
                    <a:lstStyle/>
                    <a:p>
                      <a:pPr algn="ctr">
                        <a:spcBef>
                          <a:spcPts val="200"/>
                        </a:spcBef>
                        <a:spcAft>
                          <a:spcPts val="200"/>
                        </a:spcAft>
                      </a:pPr>
                      <a:r>
                        <a:rPr sz="1200" b="0">
                          <a:solidFill>
                            <a:srgbClr val="404040"/>
                          </a:solidFill>
                        </a:rPr>
                        <a:t>3.02%</a:t>
                      </a:r>
                    </a:p>
                  </a:txBody>
                  <a:tcPr>
                    <a:solidFill>
                      <a:srgbClr val="FFFFFF"/>
                    </a:solidFill>
                  </a:tcPr>
                </a:tc>
                <a:tc>
                  <a:txBody>
                    <a:bodyPr/>
                    <a:lstStyle/>
                    <a:p>
                      <a:pPr algn="ctr">
                        <a:spcBef>
                          <a:spcPts val="200"/>
                        </a:spcBef>
                        <a:spcAft>
                          <a:spcPts val="200"/>
                        </a:spcAft>
                      </a:pPr>
                      <a:r>
                        <a:rPr sz="1200" b="0">
                          <a:solidFill>
                            <a:srgbClr val="404040"/>
                          </a:solidFill>
                        </a:rPr>
                        <a:t>3.44%</a:t>
                      </a:r>
                    </a:p>
                  </a:txBody>
                  <a:tcPr>
                    <a:solidFill>
                      <a:srgbClr val="FFFFFF"/>
                    </a:solidFill>
                  </a:tcPr>
                </a:tc>
              </a:tr>
              <a:tr h="558800">
                <a:tc>
                  <a:txBody>
                    <a:bodyPr/>
                    <a:lstStyle/>
                    <a:p>
                      <a:pPr algn="l">
                        <a:spcBef>
                          <a:spcPts val="200"/>
                        </a:spcBef>
                        <a:spcAft>
                          <a:spcPts val="200"/>
                        </a:spcAft>
                      </a:pPr>
                      <a:r>
                        <a:rPr sz="1100" b="0">
                          <a:solidFill>
                            <a:srgbClr val="404040"/>
                          </a:solidFill>
                        </a:rPr>
                        <a:t>Phase 6  (Conf+Self)</a:t>
                      </a:r>
                    </a:p>
                  </a:txBody>
                  <a:tcPr>
                    <a:solidFill>
                      <a:srgbClr val="F2F2F2"/>
                    </a:solidFill>
                  </a:tcPr>
                </a:tc>
                <a:tc>
                  <a:txBody>
                    <a:bodyPr/>
                    <a:lstStyle/>
                    <a:p>
                      <a:pPr algn="ctr">
                        <a:spcBef>
                          <a:spcPts val="200"/>
                        </a:spcBef>
                        <a:spcAft>
                          <a:spcPts val="200"/>
                        </a:spcAft>
                      </a:pPr>
                      <a:r>
                        <a:rPr sz="1200" b="0">
                          <a:solidFill>
                            <a:srgbClr val="404040"/>
                          </a:solidFill>
                        </a:rPr>
                        <a:t>1.53%</a:t>
                      </a:r>
                    </a:p>
                  </a:txBody>
                  <a:tcPr>
                    <a:solidFill>
                      <a:srgbClr val="F2F2F2"/>
                    </a:solidFill>
                  </a:tcPr>
                </a:tc>
                <a:tc>
                  <a:txBody>
                    <a:bodyPr/>
                    <a:lstStyle/>
                    <a:p>
                      <a:pPr algn="ctr">
                        <a:spcBef>
                          <a:spcPts val="200"/>
                        </a:spcBef>
                        <a:spcAft>
                          <a:spcPts val="200"/>
                        </a:spcAft>
                      </a:pPr>
                      <a:r>
                        <a:rPr sz="1200" b="0">
                          <a:solidFill>
                            <a:srgbClr val="404040"/>
                          </a:solidFill>
                        </a:rPr>
                        <a:t>1.57%</a:t>
                      </a:r>
                    </a:p>
                  </a:txBody>
                  <a:tcPr>
                    <a:solidFill>
                      <a:srgbClr val="F2F2F2"/>
                    </a:solidFill>
                  </a:tcPr>
                </a:tc>
                <a:tc>
                  <a:txBody>
                    <a:bodyPr/>
                    <a:lstStyle/>
                    <a:p>
                      <a:pPr algn="ctr">
                        <a:spcBef>
                          <a:spcPts val="200"/>
                        </a:spcBef>
                        <a:spcAft>
                          <a:spcPts val="200"/>
                        </a:spcAft>
                      </a:pPr>
                      <a:r>
                        <a:rPr sz="1200" b="0">
                          <a:solidFill>
                            <a:srgbClr val="404040"/>
                          </a:solidFill>
                        </a:rPr>
                        <a:t>3.30%</a:t>
                      </a:r>
                    </a:p>
                  </a:txBody>
                  <a:tcPr>
                    <a:solidFill>
                      <a:srgbClr val="F2F2F2"/>
                    </a:solidFill>
                  </a:tcPr>
                </a:tc>
                <a:tc>
                  <a:txBody>
                    <a:bodyPr/>
                    <a:lstStyle/>
                    <a:p>
                      <a:pPr algn="ctr">
                        <a:spcBef>
                          <a:spcPts val="200"/>
                        </a:spcBef>
                        <a:spcAft>
                          <a:spcPts val="200"/>
                        </a:spcAft>
                      </a:pPr>
                      <a:r>
                        <a:rPr sz="1200" b="0">
                          <a:solidFill>
                            <a:srgbClr val="404040"/>
                          </a:solidFill>
                        </a:rPr>
                        <a:t>3.87%</a:t>
                      </a:r>
                    </a:p>
                  </a:txBody>
                  <a:tcPr>
                    <a:solidFill>
                      <a:srgbClr val="F2F2F2"/>
                    </a:solidFill>
                  </a:tcPr>
                </a:tc>
              </a:tr>
              <a:tr h="558800">
                <a:tc>
                  <a:txBody>
                    <a:bodyPr/>
                    <a:lstStyle/>
                    <a:p>
                      <a:pPr algn="l">
                        <a:spcBef>
                          <a:spcPts val="200"/>
                        </a:spcBef>
                        <a:spcAft>
                          <a:spcPts val="200"/>
                        </a:spcAft>
                      </a:pPr>
                      <a:r>
                        <a:rPr sz="1100" b="1">
                          <a:solidFill>
                            <a:srgbClr val="404040"/>
                          </a:solidFill>
                        </a:rPr>
                        <a:t>Phase 7  (RAG BM25)</a:t>
                      </a:r>
                    </a:p>
                  </a:txBody>
                  <a:tcPr>
                    <a:solidFill>
                      <a:srgbClr val="BDD7EE"/>
                    </a:solidFill>
                  </a:tcPr>
                </a:tc>
                <a:tc>
                  <a:txBody>
                    <a:bodyPr/>
                    <a:lstStyle/>
                    <a:p>
                      <a:pPr algn="ctr">
                        <a:spcBef>
                          <a:spcPts val="200"/>
                        </a:spcBef>
                        <a:spcAft>
                          <a:spcPts val="200"/>
                        </a:spcAft>
                      </a:pPr>
                      <a:r>
                        <a:rPr sz="1200" b="1">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1.32%</a:t>
                      </a:r>
                    </a:p>
                  </a:txBody>
                  <a:tcPr>
                    <a:solidFill>
                      <a:srgbClr val="BDD7EE"/>
                    </a:solidFill>
                  </a:tcPr>
                </a:tc>
                <a:tc>
                  <a:txBody>
                    <a:bodyPr/>
                    <a:lstStyle/>
                    <a:p>
                      <a:pPr algn="ctr">
                        <a:spcBef>
                          <a:spcPts val="200"/>
                        </a:spcBef>
                        <a:spcAft>
                          <a:spcPts val="200"/>
                        </a:spcAft>
                      </a:pPr>
                      <a:r>
                        <a:rPr sz="1200" b="1">
                          <a:solidFill>
                            <a:srgbClr val="378636"/>
                          </a:solidFill>
                        </a:rPr>
                        <a:t>2.77%</a:t>
                      </a:r>
                    </a:p>
                  </a:txBody>
                  <a:tcPr>
                    <a:solidFill>
                      <a:srgbClr val="BDD7EE"/>
                    </a:solidFill>
                  </a:tcPr>
                </a:tc>
                <a:tc>
                  <a:txBody>
                    <a:bodyPr/>
                    <a:lstStyle/>
                    <a:p>
                      <a:pPr algn="ctr">
                        <a:spcBef>
                          <a:spcPts val="200"/>
                        </a:spcBef>
                        <a:spcAft>
                          <a:spcPts val="200"/>
                        </a:spcAft>
                      </a:pPr>
                      <a:r>
                        <a:rPr sz="1200" b="1">
                          <a:solidFill>
                            <a:srgbClr val="378636"/>
                          </a:solidFill>
                        </a:rPr>
                        <a:t>3.28%</a:t>
                      </a:r>
                    </a:p>
                  </a:txBody>
                  <a:tcPr>
                    <a:solidFill>
                      <a:srgbClr val="BDD7EE"/>
                    </a:solidFill>
                  </a:tcPr>
                </a:tc>
              </a:tr>
              <a:tr h="558800">
                <a:tc>
                  <a:txBody>
                    <a:bodyPr/>
                    <a:lstStyle/>
                    <a:p>
                      <a:pPr algn="l">
                        <a:spcBef>
                          <a:spcPts val="200"/>
                        </a:spcBef>
                        <a:spcAft>
                          <a:spcPts val="200"/>
                        </a:spcAft>
                      </a:pPr>
                      <a:r>
                        <a:rPr sz="1100" b="0">
                          <a:solidFill>
                            <a:srgbClr val="404040"/>
                          </a:solidFill>
                        </a:rPr>
                        <a:t>Phase 8  (Error-Sig RAG)</a:t>
                      </a:r>
                    </a:p>
                  </a:txBody>
                  <a:tcPr>
                    <a:solidFill>
                      <a:srgbClr val="F2F2F2"/>
                    </a:solidFill>
                  </a:tcPr>
                </a:tc>
                <a:tc>
                  <a:txBody>
                    <a:bodyPr/>
                    <a:lstStyle/>
                    <a:p>
                      <a:pPr algn="ctr">
                        <a:spcBef>
                          <a:spcPts val="200"/>
                        </a:spcBef>
                        <a:spcAft>
                          <a:spcPts val="200"/>
                        </a:spcAft>
                      </a:pPr>
                      <a:r>
                        <a:rPr sz="1200" b="0">
                          <a:solidFill>
                            <a:srgbClr val="404040"/>
                          </a:solidFill>
                        </a:rPr>
                        <a:t>1.44%</a:t>
                      </a:r>
                    </a:p>
                  </a:txBody>
                  <a:tcPr>
                    <a:solidFill>
                      <a:srgbClr val="F2F2F2"/>
                    </a:solidFill>
                  </a:tcPr>
                </a:tc>
                <a:tc>
                  <a:txBody>
                    <a:bodyPr/>
                    <a:lstStyle/>
                    <a:p>
                      <a:pPr algn="ctr">
                        <a:spcBef>
                          <a:spcPts val="200"/>
                        </a:spcBef>
                        <a:spcAft>
                          <a:spcPts val="200"/>
                        </a:spcAft>
                      </a:pPr>
                      <a:r>
                        <a:rPr sz="1200" b="0">
                          <a:solidFill>
                            <a:srgbClr val="404040"/>
                          </a:solidFill>
                        </a:rPr>
                        <a:t>1.48%</a:t>
                      </a:r>
                    </a:p>
                  </a:txBody>
                  <a:tcPr>
                    <a:solidFill>
                      <a:srgbClr val="F2F2F2"/>
                    </a:solidFill>
                  </a:tcPr>
                </a:tc>
                <a:tc>
                  <a:txBody>
                    <a:bodyPr/>
                    <a:lstStyle/>
                    <a:p>
                      <a:pPr algn="ctr">
                        <a:spcBef>
                          <a:spcPts val="200"/>
                        </a:spcBef>
                        <a:spcAft>
                          <a:spcPts val="200"/>
                        </a:spcAft>
                      </a:pPr>
                      <a:r>
                        <a:rPr sz="1200" b="0">
                          <a:solidFill>
                            <a:srgbClr val="404040"/>
                          </a:solidFill>
                        </a:rPr>
                        <a:t>3.18%</a:t>
                      </a:r>
                    </a:p>
                  </a:txBody>
                  <a:tcPr>
                    <a:solidFill>
                      <a:srgbClr val="F2F2F2"/>
                    </a:solidFill>
                  </a:tcPr>
                </a:tc>
                <a:tc>
                  <a:txBody>
                    <a:bodyPr/>
                    <a:lstStyle/>
                    <a:p>
                      <a:pPr algn="ctr">
                        <a:spcBef>
                          <a:spcPts val="200"/>
                        </a:spcBef>
                        <a:spcAft>
                          <a:spcPts val="200"/>
                        </a:spcAft>
                      </a:pPr>
                      <a:r>
                        <a:rPr sz="1200" b="0">
                          <a:solidFill>
                            <a:srgbClr val="404040"/>
                          </a:solidFill>
                        </a:rPr>
                        <a:t>3.65%</a:t>
                      </a:r>
                    </a:p>
                  </a:txBody>
                  <a:tcPr>
                    <a:solidFill>
                      <a:srgbClr val="F2F2F2"/>
                    </a:solidFill>
                  </a:tcPr>
                </a:tc>
              </a:tr>
              <a:tr h="558800">
                <a:tc>
                  <a:txBody>
                    <a:bodyPr/>
                    <a:lstStyle/>
                    <a:p>
                      <a:pPr algn="l">
                        <a:spcBef>
                          <a:spcPts val="200"/>
                        </a:spcBef>
                        <a:spcAft>
                          <a:spcPts val="200"/>
                        </a:spcAft>
                      </a:pPr>
                      <a:r>
                        <a:rPr sz="1100" b="0">
                          <a:solidFill>
                            <a:srgbClr val="404040"/>
                          </a:solidFill>
                        </a:rPr>
                        <a:t>Phase 5  (CAMeL revert)</a:t>
                      </a:r>
                    </a:p>
                  </a:txBody>
                  <a:tcPr>
                    <a:solidFill>
                      <a:srgbClr val="FFFFFF"/>
                    </a:solidFill>
                  </a:tcPr>
                </a:tc>
                <a:tc>
                  <a:txBody>
                    <a:bodyPr/>
                    <a:lstStyle/>
                    <a:p>
                      <a:pPr algn="ctr">
                        <a:spcBef>
                          <a:spcPts val="200"/>
                        </a:spcBef>
                        <a:spcAft>
                          <a:spcPts val="200"/>
                        </a:spcAft>
                      </a:pPr>
                      <a:r>
                        <a:rPr sz="1200" b="0">
                          <a:solidFill>
                            <a:srgbClr val="404040"/>
                          </a:solidFill>
                        </a:rPr>
                        <a:t>see note*</a:t>
                      </a:r>
                    </a:p>
                  </a:txBody>
                  <a:tcPr>
                    <a:solidFill>
                      <a:srgbClr val="FFFFFF"/>
                    </a:solidFill>
                  </a:tcPr>
                </a:tc>
                <a:tc>
                  <a:txBody>
                    <a:bodyPr/>
                    <a:lstStyle/>
                    <a:p>
                      <a:pPr algn="ctr">
                        <a:spcBef>
                          <a:spcPts val="200"/>
                        </a:spcBef>
                        <a:spcAft>
                          <a:spcPts val="200"/>
                        </a:spcAft>
                      </a:pPr>
                      <a:r>
                        <a:rPr sz="1200" b="0">
                          <a:solidFill>
                            <a:srgbClr val="404040"/>
                          </a:solidFill>
                        </a:rPr>
                        <a:t>—</a:t>
                      </a:r>
                    </a:p>
                  </a:txBody>
                  <a:tcPr>
                    <a:solidFill>
                      <a:srgbClr val="FFFFFF"/>
                    </a:solidFill>
                  </a:tcPr>
                </a:tc>
                <a:tc>
                  <a:txBody>
                    <a:bodyPr/>
                    <a:lstStyle/>
                    <a:p>
                      <a:pPr algn="ctr">
                        <a:spcBef>
                          <a:spcPts val="200"/>
                        </a:spcBef>
                        <a:spcAft>
                          <a:spcPts val="200"/>
                        </a:spcAft>
                      </a:pPr>
                      <a:r>
                        <a:rPr sz="1200" b="0">
                          <a:solidFill>
                            <a:srgbClr val="404040"/>
                          </a:solidFill>
                        </a:rPr>
                        <a:t>3.26%</a:t>
                      </a:r>
                    </a:p>
                  </a:txBody>
                  <a:tcPr>
                    <a:solidFill>
                      <a:srgbClr val="FFFFFF"/>
                    </a:solidFill>
                  </a:tcPr>
                </a:tc>
                <a:tc>
                  <a:txBody>
                    <a:bodyPr/>
                    <a:lstStyle/>
                    <a:p>
                      <a:pPr algn="ctr">
                        <a:spcBef>
                          <a:spcPts val="200"/>
                        </a:spcBef>
                        <a:spcAft>
                          <a:spcPts val="200"/>
                        </a:spcAft>
                      </a:pPr>
                      <a:r>
                        <a:rPr sz="1200" b="0">
                          <a:solidFill>
                            <a:srgbClr val="404040"/>
                          </a:solidFill>
                        </a:rPr>
                        <a:t>4.64%</a:t>
                      </a:r>
                    </a:p>
                  </a:txBody>
                  <a:tcPr>
                    <a:solidFill>
                      <a:srgbClr val="FFFFFF"/>
                    </a:solidFill>
                  </a:tcPr>
                </a:tc>
              </a:tr>
            </a:tbl>
          </a:graphicData>
        </a:graphic>
      </p:graphicFrame>
      <p:sp>
        <p:nvSpPr>
          <p:cNvPr id="8" name="TextBox 7"/>
          <p:cNvSpPr txBox="1"/>
          <p:nvPr/>
        </p:nvSpPr>
        <p:spPr>
          <a:xfrm>
            <a:off x="320040" y="6537960"/>
            <a:ext cx="11548872" cy="256032"/>
          </a:xfrm>
          <a:prstGeom prst="rect">
            <a:avLst/>
          </a:prstGeom>
          <a:noFill/>
        </p:spPr>
        <p:txBody>
          <a:bodyPr wrap="square">
            <a:spAutoFit/>
          </a:bodyPr>
          <a:lstStyle/>
          <a:p>
            <a:pPr algn="l"/>
            <a:r>
              <a:rPr sz="1000" b="0">
                <a:solidFill>
                  <a:srgbClr val="404040"/>
                </a:solidFill>
              </a:rPr>
              <a:t>* Phase 5 (CAMeL): only normal-subset metrics reported (excludes runaway samples).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1 — RAG (BM25) Is the Best Overall Strategy</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6 / 15</a:t>
            </a:r>
          </a:p>
        </p:txBody>
      </p:sp>
      <p:sp>
        <p:nvSpPr>
          <p:cNvPr id="5" name="Rectangle 4"/>
          <p:cNvSpPr/>
          <p:nvPr/>
        </p:nvSpPr>
        <p:spPr>
          <a:xfrm>
            <a:off x="3200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2651760" cy="457200"/>
          </a:xfrm>
          <a:prstGeom prst="rect">
            <a:avLst/>
          </a:prstGeom>
          <a:noFill/>
        </p:spPr>
        <p:txBody>
          <a:bodyPr wrap="square">
            <a:spAutoFit/>
          </a:bodyPr>
          <a:lstStyle/>
          <a:p>
            <a:pPr algn="ctr"/>
            <a:r>
              <a:rPr sz="1200" b="0">
                <a:solidFill>
                  <a:srgbClr val="BDD7EE"/>
                </a:solidFill>
              </a:rPr>
              <a:t>KHATT CER reduction
vs OCR baseline</a:t>
            </a:r>
          </a:p>
        </p:txBody>
      </p:sp>
      <p:sp>
        <p:nvSpPr>
          <p:cNvPr id="7" name="TextBox 6"/>
          <p:cNvSpPr txBox="1"/>
          <p:nvPr/>
        </p:nvSpPr>
        <p:spPr>
          <a:xfrm>
            <a:off x="411480" y="1783080"/>
            <a:ext cx="2651760" cy="731520"/>
          </a:xfrm>
          <a:prstGeom prst="rect">
            <a:avLst/>
          </a:prstGeom>
          <a:noFill/>
        </p:spPr>
        <p:txBody>
          <a:bodyPr wrap="square">
            <a:spAutoFit/>
          </a:bodyPr>
          <a:lstStyle/>
          <a:p>
            <a:pPr algn="ctr"/>
            <a:r>
              <a:rPr sz="3400" b="1">
                <a:solidFill>
                  <a:srgbClr val="378636"/>
                </a:solidFill>
              </a:rPr>
              <a:t>−51%</a:t>
            </a:r>
          </a:p>
        </p:txBody>
      </p:sp>
      <p:sp>
        <p:nvSpPr>
          <p:cNvPr id="8" name="TextBox 7"/>
          <p:cNvSpPr txBox="1"/>
          <p:nvPr/>
        </p:nvSpPr>
        <p:spPr>
          <a:xfrm>
            <a:off x="411480" y="2514600"/>
            <a:ext cx="2651760" cy="365760"/>
          </a:xfrm>
          <a:prstGeom prst="rect">
            <a:avLst/>
          </a:prstGeom>
          <a:noFill/>
        </p:spPr>
        <p:txBody>
          <a:bodyPr wrap="square">
            <a:spAutoFit/>
          </a:bodyPr>
          <a:lstStyle/>
          <a:p>
            <a:pPr algn="ctr"/>
            <a:r>
              <a:rPr sz="1200" b="0">
                <a:solidFill>
                  <a:srgbClr val="FFFFFF"/>
                </a:solidFill>
              </a:rPr>
              <a:t>5.66% → 2.77%</a:t>
            </a:r>
          </a:p>
        </p:txBody>
      </p:sp>
      <p:sp>
        <p:nvSpPr>
          <p:cNvPr id="9" name="Rectangle 8"/>
          <p:cNvSpPr/>
          <p:nvPr/>
        </p:nvSpPr>
        <p:spPr>
          <a:xfrm>
            <a:off x="32918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325880"/>
            <a:ext cx="2651760" cy="457200"/>
          </a:xfrm>
          <a:prstGeom prst="rect">
            <a:avLst/>
          </a:prstGeom>
          <a:noFill/>
        </p:spPr>
        <p:txBody>
          <a:bodyPr wrap="square">
            <a:spAutoFit/>
          </a:bodyPr>
          <a:lstStyle/>
          <a:p>
            <a:pPr algn="ctr"/>
            <a:r>
              <a:rPr sz="1200" b="0">
                <a:solidFill>
                  <a:srgbClr val="BDD7EE"/>
                </a:solidFill>
              </a:rPr>
              <a:t>KHATT CER reduction
vs Zero-Shot (P2)</a:t>
            </a:r>
          </a:p>
        </p:txBody>
      </p:sp>
      <p:sp>
        <p:nvSpPr>
          <p:cNvPr id="11" name="TextBox 10"/>
          <p:cNvSpPr txBox="1"/>
          <p:nvPr/>
        </p:nvSpPr>
        <p:spPr>
          <a:xfrm>
            <a:off x="3383280" y="1783080"/>
            <a:ext cx="2651760" cy="731520"/>
          </a:xfrm>
          <a:prstGeom prst="rect">
            <a:avLst/>
          </a:prstGeom>
          <a:noFill/>
        </p:spPr>
        <p:txBody>
          <a:bodyPr wrap="square">
            <a:spAutoFit/>
          </a:bodyPr>
          <a:lstStyle/>
          <a:p>
            <a:pPr algn="ctr"/>
            <a:r>
              <a:rPr sz="3400" b="1">
                <a:solidFill>
                  <a:srgbClr val="2774AE"/>
                </a:solidFill>
              </a:rPr>
              <a:t>−14%</a:t>
            </a:r>
          </a:p>
        </p:txBody>
      </p:sp>
      <p:sp>
        <p:nvSpPr>
          <p:cNvPr id="12" name="TextBox 11"/>
          <p:cNvSpPr txBox="1"/>
          <p:nvPr/>
        </p:nvSpPr>
        <p:spPr>
          <a:xfrm>
            <a:off x="3383280" y="2514600"/>
            <a:ext cx="2651760" cy="365760"/>
          </a:xfrm>
          <a:prstGeom prst="rect">
            <a:avLst/>
          </a:prstGeom>
          <a:noFill/>
        </p:spPr>
        <p:txBody>
          <a:bodyPr wrap="square">
            <a:spAutoFit/>
          </a:bodyPr>
          <a:lstStyle/>
          <a:p>
            <a:pPr algn="ctr"/>
            <a:r>
              <a:rPr sz="1200" b="0">
                <a:solidFill>
                  <a:srgbClr val="FFFFFF"/>
                </a:solidFill>
              </a:rPr>
              <a:t>3.21% → 2.77%</a:t>
            </a:r>
          </a:p>
        </p:txBody>
      </p:sp>
      <p:sp>
        <p:nvSpPr>
          <p:cNvPr id="13" name="Rectangle 12"/>
          <p:cNvSpPr/>
          <p:nvPr/>
        </p:nvSpPr>
        <p:spPr>
          <a:xfrm>
            <a:off x="62636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2651760" cy="457200"/>
          </a:xfrm>
          <a:prstGeom prst="rect">
            <a:avLst/>
          </a:prstGeom>
          <a:noFill/>
        </p:spPr>
        <p:txBody>
          <a:bodyPr wrap="square">
            <a:spAutoFit/>
          </a:bodyPr>
          <a:lstStyle/>
          <a:p>
            <a:pPr algn="ctr"/>
            <a:r>
              <a:rPr sz="1200" b="0">
                <a:solidFill>
                  <a:srgbClr val="BDD7EE"/>
                </a:solidFill>
              </a:rPr>
              <a:t>KHATT WER reduction
vs OCR baseline</a:t>
            </a:r>
          </a:p>
        </p:txBody>
      </p:sp>
      <p:sp>
        <p:nvSpPr>
          <p:cNvPr id="15" name="TextBox 14"/>
          <p:cNvSpPr txBox="1"/>
          <p:nvPr/>
        </p:nvSpPr>
        <p:spPr>
          <a:xfrm>
            <a:off x="6355080" y="1783080"/>
            <a:ext cx="2651760" cy="731520"/>
          </a:xfrm>
          <a:prstGeom prst="rect">
            <a:avLst/>
          </a:prstGeom>
          <a:noFill/>
        </p:spPr>
        <p:txBody>
          <a:bodyPr wrap="square">
            <a:spAutoFit/>
          </a:bodyPr>
          <a:lstStyle/>
          <a:p>
            <a:pPr algn="ctr"/>
            <a:r>
              <a:rPr sz="3400" b="1">
                <a:solidFill>
                  <a:srgbClr val="378636"/>
                </a:solidFill>
              </a:rPr>
              <a:t>−55%</a:t>
            </a:r>
          </a:p>
        </p:txBody>
      </p:sp>
      <p:sp>
        <p:nvSpPr>
          <p:cNvPr id="16" name="TextBox 15"/>
          <p:cNvSpPr txBox="1"/>
          <p:nvPr/>
        </p:nvSpPr>
        <p:spPr>
          <a:xfrm>
            <a:off x="6355080" y="2514600"/>
            <a:ext cx="2651760" cy="365760"/>
          </a:xfrm>
          <a:prstGeom prst="rect">
            <a:avLst/>
          </a:prstGeom>
          <a:noFill/>
        </p:spPr>
        <p:txBody>
          <a:bodyPr wrap="square">
            <a:spAutoFit/>
          </a:bodyPr>
          <a:lstStyle/>
          <a:p>
            <a:pPr algn="ctr"/>
            <a:r>
              <a:rPr sz="1200" b="0">
                <a:solidFill>
                  <a:srgbClr val="FFFFFF"/>
                </a:solidFill>
              </a:rPr>
              <a:t>7.25% → 3.28%</a:t>
            </a:r>
          </a:p>
        </p:txBody>
      </p:sp>
      <p:sp>
        <p:nvSpPr>
          <p:cNvPr id="17" name="Rectangle 16"/>
          <p:cNvSpPr/>
          <p:nvPr/>
        </p:nvSpPr>
        <p:spPr>
          <a:xfrm>
            <a:off x="92354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0" y="1325880"/>
            <a:ext cx="2651760" cy="457200"/>
          </a:xfrm>
          <a:prstGeom prst="rect">
            <a:avLst/>
          </a:prstGeom>
          <a:noFill/>
        </p:spPr>
        <p:txBody>
          <a:bodyPr wrap="square">
            <a:spAutoFit/>
          </a:bodyPr>
          <a:lstStyle/>
          <a:p>
            <a:pPr algn="ctr"/>
            <a:r>
              <a:rPr sz="1200" b="0">
                <a:solidFill>
                  <a:srgbClr val="BDD7EE"/>
                </a:solidFill>
              </a:rPr>
              <a:t>PATS avg CER
(only phase to beat P2)</a:t>
            </a:r>
          </a:p>
        </p:txBody>
      </p:sp>
      <p:sp>
        <p:nvSpPr>
          <p:cNvPr id="19" name="TextBox 18"/>
          <p:cNvSpPr txBox="1"/>
          <p:nvPr/>
        </p:nvSpPr>
        <p:spPr>
          <a:xfrm>
            <a:off x="9326880" y="1783080"/>
            <a:ext cx="2651760" cy="731520"/>
          </a:xfrm>
          <a:prstGeom prst="rect">
            <a:avLst/>
          </a:prstGeom>
          <a:noFill/>
        </p:spPr>
        <p:txBody>
          <a:bodyPr wrap="square">
            <a:spAutoFit/>
          </a:bodyPr>
          <a:lstStyle/>
          <a:p>
            <a:pPr algn="ctr"/>
            <a:r>
              <a:rPr sz="3400" b="1">
                <a:solidFill>
                  <a:srgbClr val="0070C0"/>
                </a:solidFill>
              </a:rPr>
              <a:t>1.29%</a:t>
            </a:r>
          </a:p>
        </p:txBody>
      </p:sp>
      <p:sp>
        <p:nvSpPr>
          <p:cNvPr id="20" name="TextBox 19"/>
          <p:cNvSpPr txBox="1"/>
          <p:nvPr/>
        </p:nvSpPr>
        <p:spPr>
          <a:xfrm>
            <a:off x="9326880" y="2514600"/>
            <a:ext cx="2651760" cy="365760"/>
          </a:xfrm>
          <a:prstGeom prst="rect">
            <a:avLst/>
          </a:prstGeom>
          <a:noFill/>
        </p:spPr>
        <p:txBody>
          <a:bodyPr wrap="square">
            <a:spAutoFit/>
          </a:bodyPr>
          <a:lstStyle/>
          <a:p>
            <a:pPr algn="ctr"/>
            <a:r>
              <a:rPr sz="1200" b="0">
                <a:solidFill>
                  <a:srgbClr val="FFFFFF"/>
                </a:solidFill>
              </a:rPr>
              <a:t>P1=1.31%, P2=1.32%</a:t>
            </a:r>
          </a:p>
        </p:txBody>
      </p:sp>
      <p:sp>
        <p:nvSpPr>
          <p:cNvPr id="21" name="Rectangle 20"/>
          <p:cNvSpPr/>
          <p:nvPr/>
        </p:nvSpPr>
        <p:spPr>
          <a:xfrm>
            <a:off x="320040" y="3429000"/>
            <a:ext cx="11548872" cy="3657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74720"/>
            <a:ext cx="11338560" cy="320040"/>
          </a:xfrm>
          <a:prstGeom prst="rect">
            <a:avLst/>
          </a:prstGeom>
          <a:noFill/>
        </p:spPr>
        <p:txBody>
          <a:bodyPr wrap="square">
            <a:spAutoFit/>
          </a:bodyPr>
          <a:lstStyle/>
          <a:p>
            <a:pPr algn="l"/>
            <a:r>
              <a:rPr sz="1600" b="1">
                <a:solidFill>
                  <a:srgbClr val="FFFFFF"/>
                </a:solidFill>
              </a:rPr>
              <a:t>Why RAG (BM25) Works</a:t>
            </a:r>
          </a:p>
        </p:txBody>
      </p:sp>
      <p:sp>
        <p:nvSpPr>
          <p:cNvPr id="23" name="Rectangle 22"/>
          <p:cNvSpPr/>
          <p:nvPr/>
        </p:nvSpPr>
        <p:spPr>
          <a:xfrm>
            <a:off x="36576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77640"/>
            <a:ext cx="5394960" cy="320040"/>
          </a:xfrm>
          <a:prstGeom prst="rect">
            <a:avLst/>
          </a:prstGeom>
          <a:noFill/>
        </p:spPr>
        <p:txBody>
          <a:bodyPr wrap="square">
            <a:spAutoFit/>
          </a:bodyPr>
          <a:lstStyle/>
          <a:p>
            <a:pPr algn="l"/>
            <a:r>
              <a:rPr sz="1300" b="1">
                <a:solidFill>
                  <a:srgbClr val="1F3864"/>
                </a:solidFill>
              </a:rPr>
              <a:t>Domain-matched examples</a:t>
            </a:r>
          </a:p>
        </p:txBody>
      </p:sp>
      <p:sp>
        <p:nvSpPr>
          <p:cNvPr id="25" name="TextBox 24"/>
          <p:cNvSpPr txBox="1"/>
          <p:nvPr/>
        </p:nvSpPr>
        <p:spPr>
          <a:xfrm>
            <a:off x="457200" y="4297680"/>
            <a:ext cx="5394960" cy="594360"/>
          </a:xfrm>
          <a:prstGeom prst="rect">
            <a:avLst/>
          </a:prstGeom>
          <a:noFill/>
        </p:spPr>
        <p:txBody>
          <a:bodyPr wrap="square">
            <a:spAutoFit/>
          </a:bodyPr>
          <a:lstStyle/>
          <a:p>
            <a:pPr algn="l"/>
            <a:r>
              <a:rPr sz="1200" b="0">
                <a:solidFill>
                  <a:srgbClr val="404040"/>
                </a:solidFill>
              </a:rPr>
              <a:t>Top-5 (OCR→GT) pairs from Phase 2 training corrections —
same domain, same font family, same error patterns.</a:t>
            </a:r>
          </a:p>
        </p:txBody>
      </p:sp>
      <p:sp>
        <p:nvSpPr>
          <p:cNvPr id="26" name="Rectangle 25"/>
          <p:cNvSpPr/>
          <p:nvPr/>
        </p:nvSpPr>
        <p:spPr>
          <a:xfrm>
            <a:off x="612648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977640"/>
            <a:ext cx="5394960" cy="320040"/>
          </a:xfrm>
          <a:prstGeom prst="rect">
            <a:avLst/>
          </a:prstGeom>
          <a:noFill/>
        </p:spPr>
        <p:txBody>
          <a:bodyPr wrap="square">
            <a:spAutoFit/>
          </a:bodyPr>
          <a:lstStyle/>
          <a:p>
            <a:pPr algn="l"/>
            <a:r>
              <a:rPr sz="1300" b="1">
                <a:solidFill>
                  <a:srgbClr val="1F3864"/>
                </a:solidFill>
              </a:rPr>
              <a:t>Grounded few-shot</a:t>
            </a:r>
          </a:p>
        </p:txBody>
      </p:sp>
      <p:sp>
        <p:nvSpPr>
          <p:cNvPr id="28" name="TextBox 27"/>
          <p:cNvSpPr txBox="1"/>
          <p:nvPr/>
        </p:nvSpPr>
        <p:spPr>
          <a:xfrm>
            <a:off x="6217920" y="4297680"/>
            <a:ext cx="5394960" cy="594360"/>
          </a:xfrm>
          <a:prstGeom prst="rect">
            <a:avLst/>
          </a:prstGeom>
          <a:noFill/>
        </p:spPr>
        <p:txBody>
          <a:bodyPr wrap="square">
            <a:spAutoFit/>
          </a:bodyPr>
          <a:lstStyle/>
          <a:p>
            <a:pPr algn="l"/>
            <a:r>
              <a:rPr sz="1200" b="0">
                <a:solidFill>
                  <a:srgbClr val="404040"/>
                </a:solidFill>
              </a:rPr>
              <a:t>Instead of abstract prompting, the model sees concrete
examples of what the correction should look like.</a:t>
            </a:r>
          </a:p>
        </p:txBody>
      </p:sp>
      <p:sp>
        <p:nvSpPr>
          <p:cNvPr id="29" name="Rectangle 28"/>
          <p:cNvSpPr/>
          <p:nvPr/>
        </p:nvSpPr>
        <p:spPr>
          <a:xfrm>
            <a:off x="36576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166360"/>
            <a:ext cx="5394960" cy="320040"/>
          </a:xfrm>
          <a:prstGeom prst="rect">
            <a:avLst/>
          </a:prstGeom>
          <a:noFill/>
        </p:spPr>
        <p:txBody>
          <a:bodyPr wrap="square">
            <a:spAutoFit/>
          </a:bodyPr>
          <a:lstStyle/>
          <a:p>
            <a:pPr algn="l"/>
            <a:r>
              <a:rPr sz="1300" b="1">
                <a:solidFill>
                  <a:srgbClr val="1F3864"/>
                </a:solidFill>
              </a:rPr>
              <a:t>Reduces hallucination</a:t>
            </a:r>
          </a:p>
        </p:txBody>
      </p:sp>
      <p:sp>
        <p:nvSpPr>
          <p:cNvPr id="31" name="TextBox 30"/>
          <p:cNvSpPr txBox="1"/>
          <p:nvPr/>
        </p:nvSpPr>
        <p:spPr>
          <a:xfrm>
            <a:off x="457200" y="5486400"/>
            <a:ext cx="5394960" cy="594360"/>
          </a:xfrm>
          <a:prstGeom prst="rect">
            <a:avLst/>
          </a:prstGeom>
          <a:noFill/>
        </p:spPr>
        <p:txBody>
          <a:bodyPr wrap="square">
            <a:spAutoFit/>
          </a:bodyPr>
          <a:lstStyle/>
          <a:p>
            <a:pPr algn="l"/>
            <a:r>
              <a:rPr sz="1200" b="0">
                <a:solidFill>
                  <a:srgbClr val="404040"/>
                </a:solidFill>
              </a:rPr>
              <a:t>Ground-truth anchors prevent the model from inventing
changes unsupported by training evidence.</a:t>
            </a:r>
          </a:p>
        </p:txBody>
      </p:sp>
      <p:sp>
        <p:nvSpPr>
          <p:cNvPr id="32" name="Rectangle 31"/>
          <p:cNvSpPr/>
          <p:nvPr/>
        </p:nvSpPr>
        <p:spPr>
          <a:xfrm>
            <a:off x="612648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5166360"/>
            <a:ext cx="5394960" cy="320040"/>
          </a:xfrm>
          <a:prstGeom prst="rect">
            <a:avLst/>
          </a:prstGeom>
          <a:noFill/>
        </p:spPr>
        <p:txBody>
          <a:bodyPr wrap="square">
            <a:spAutoFit/>
          </a:bodyPr>
          <a:lstStyle/>
          <a:p>
            <a:pPr algn="l"/>
            <a:r>
              <a:rPr sz="1300" b="1">
                <a:solidFill>
                  <a:srgbClr val="1F3864"/>
                </a:solidFill>
              </a:rPr>
              <a:t>BM25 char n-grams</a:t>
            </a:r>
          </a:p>
        </p:txBody>
      </p:sp>
      <p:sp>
        <p:nvSpPr>
          <p:cNvPr id="34" name="TextBox 33"/>
          <p:cNvSpPr txBox="1"/>
          <p:nvPr/>
        </p:nvSpPr>
        <p:spPr>
          <a:xfrm>
            <a:off x="6217920" y="5486400"/>
            <a:ext cx="5394960" cy="594360"/>
          </a:xfrm>
          <a:prstGeom prst="rect">
            <a:avLst/>
          </a:prstGeom>
          <a:noFill/>
        </p:spPr>
        <p:txBody>
          <a:bodyPr wrap="square">
            <a:spAutoFit/>
          </a:bodyPr>
          <a:lstStyle/>
          <a:p>
            <a:pPr algn="l"/>
            <a:r>
              <a:rPr sz="1200" b="0">
                <a:solidFill>
                  <a:srgbClr val="404040"/>
                </a:solidFill>
              </a:rPr>
              <a:t>Character-level matching captures OCR-specific confusable
character patterns rather than word-level semantics.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2 — Prompt Engineering Regresses on Typewritten Text (PATS)</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7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500" b="0">
                <a:solidFill>
                  <a:srgbClr val="404040"/>
                </a:solidFill>
              </a:rPr>
              <a:t>Phases 3, 4, 6 all increase PATS CER compared to zero-shot (Phase 2). More prompt context = more incorrect changes on already-accurate text.</a:t>
            </a:r>
          </a:p>
        </p:txBody>
      </p:sp>
      <p:graphicFrame>
        <p:nvGraphicFramePr>
          <p:cNvPr id="6" name="Table 5"/>
          <p:cNvGraphicFramePr>
            <a:graphicFrameLocks noGrp="1"/>
          </p:cNvGraphicFramePr>
          <p:nvPr/>
        </p:nvGraphicFramePr>
        <p:xfrm>
          <a:off x="320040" y="1645920"/>
          <a:ext cx="11548872" cy="2560320"/>
        </p:xfrm>
        <a:graphic>
          <a:graphicData uri="http://schemas.openxmlformats.org/drawingml/2006/table">
            <a:tbl>
              <a:tblPr firstRow="1" bandRow="1">
                <a:tableStyleId>{5C22544A-7EE6-4342-B048-85BDC9FD1C3A}</a:tableStyleId>
              </a:tblPr>
              <a:tblGrid>
                <a:gridCol w="3200400"/>
                <a:gridCol w="2743200"/>
                <a:gridCol w="2743200"/>
                <a:gridCol w="2862072"/>
              </a:tblGrid>
              <a:tr h="512064">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vs Zero-Shot</a:t>
                      </a:r>
                    </a:p>
                  </a:txBody>
                  <a:tcPr>
                    <a:solidFill>
                      <a:srgbClr val="1F3864"/>
                    </a:solidFill>
                  </a:tcPr>
                </a:tc>
                <a:tc>
                  <a:txBody>
                    <a:bodyPr/>
                    <a:lstStyle/>
                    <a:p>
                      <a:pPr algn="ctr">
                        <a:spcBef>
                          <a:spcPts val="200"/>
                        </a:spcBef>
                        <a:spcAft>
                          <a:spcPts val="200"/>
                        </a:spcAft>
                      </a:pPr>
                      <a:r>
                        <a:rPr sz="1300" b="1">
                          <a:solidFill>
                            <a:srgbClr val="FFFFFF"/>
                          </a:solidFill>
                        </a:rPr>
                        <a:t>Interpretation</a:t>
                      </a:r>
                    </a:p>
                  </a:txBody>
                  <a:tcPr>
                    <a:solidFill>
                      <a:srgbClr val="1F3864"/>
                    </a:solidFill>
                  </a:tcPr>
                </a:tc>
              </a:tr>
              <a:tr h="512064">
                <a:tc>
                  <a:txBody>
                    <a:bodyPr/>
                    <a:lstStyle/>
                    <a:p>
                      <a:pPr algn="l">
                        <a:spcBef>
                          <a:spcPts val="200"/>
                        </a:spcBef>
                        <a:spcAft>
                          <a:spcPts val="200"/>
                        </a:spcAft>
                      </a:pPr>
                      <a:r>
                        <a:rPr sz="1200" b="0">
                          <a:solidFill>
                            <a:srgbClr val="404040"/>
                          </a:solidFill>
                        </a:rPr>
                        <a:t>Phase 2 — Zero-Shot (baseline)</a:t>
                      </a:r>
                    </a:p>
                  </a:txBody>
                  <a:tcPr>
                    <a:solidFill>
                      <a:srgbClr val="F2F2F2"/>
                    </a:solidFill>
                  </a:tcPr>
                </a:tc>
                <a:tc>
                  <a:txBody>
                    <a:bodyPr/>
                    <a:lstStyle/>
                    <a:p>
                      <a:pPr algn="ctr">
                        <a:spcBef>
                          <a:spcPts val="200"/>
                        </a:spcBef>
                        <a:spcAft>
                          <a:spcPts val="200"/>
                        </a:spcAft>
                      </a:pPr>
                      <a:r>
                        <a:rPr sz="1200" b="0">
                          <a:solidFill>
                            <a:srgbClr val="404040"/>
                          </a:solidFill>
                        </a:rPr>
                        <a:t>1.32%</a:t>
                      </a:r>
                    </a:p>
                  </a:txBody>
                  <a:tcPr>
                    <a:solidFill>
                      <a:srgbClr val="F2F2F2"/>
                    </a:solidFill>
                  </a:tcPr>
                </a:tc>
                <a:tc>
                  <a:txBody>
                    <a:bodyPr/>
                    <a:lstStyle/>
                    <a:p>
                      <a:pPr algn="ctr">
                        <a:spcBef>
                          <a:spcPts val="200"/>
                        </a:spcBef>
                        <a:spcAft>
                          <a:spcPts val="200"/>
                        </a:spcAft>
                      </a:pPr>
                      <a:r>
                        <a:rPr sz="1200" b="0">
                          <a:solidFill>
                            <a:srgbClr val="404040"/>
                          </a:solidFill>
                        </a:rPr>
                        <a:t>—</a:t>
                      </a:r>
                    </a:p>
                  </a:txBody>
                  <a:tcPr>
                    <a:solidFill>
                      <a:srgbClr val="F2F2F2"/>
                    </a:solidFill>
                  </a:tcPr>
                </a:tc>
                <a:tc>
                  <a:txBody>
                    <a:bodyPr/>
                    <a:lstStyle/>
                    <a:p>
                      <a:pPr algn="l">
                        <a:spcBef>
                          <a:spcPts val="200"/>
                        </a:spcBef>
                        <a:spcAft>
                          <a:spcPts val="200"/>
                        </a:spcAft>
                      </a:pPr>
                      <a:r>
                        <a:rPr sz="1100" b="0">
                          <a:solidFill>
                            <a:srgbClr val="404040"/>
                          </a:solidFill>
                        </a:rPr>
                        <a:t>Reference</a:t>
                      </a:r>
                    </a:p>
                  </a:txBody>
                  <a:tcPr>
                    <a:solidFill>
                      <a:srgbClr val="F2F2F2"/>
                    </a:solidFill>
                  </a:tcPr>
                </a:tc>
              </a:tr>
              <a:tr h="512064">
                <a:tc>
                  <a:txBody>
                    <a:bodyPr/>
                    <a:lstStyle/>
                    <a:p>
                      <a:pPr algn="l">
                        <a:spcBef>
                          <a:spcPts val="200"/>
                        </a:spcBef>
                        <a:spcAft>
                          <a:spcPts val="200"/>
                        </a:spcAft>
                      </a:pPr>
                      <a:r>
                        <a:rPr sz="1200" b="0">
                          <a:solidFill>
                            <a:srgbClr val="404040"/>
                          </a:solidFill>
                        </a:rPr>
                        <a:t>Phase 3 — OCR-Aware</a:t>
                      </a:r>
                    </a:p>
                  </a:txBody>
                  <a:tcPr>
                    <a:solidFill>
                      <a:srgbClr val="FFFFFF"/>
                    </a:solidFill>
                  </a:tcPr>
                </a:tc>
                <a:tc>
                  <a:txBody>
                    <a:bodyPr/>
                    <a:lstStyle/>
                    <a:p>
                      <a:pPr algn="ctr">
                        <a:spcBef>
                          <a:spcPts val="200"/>
                        </a:spcBef>
                        <a:spcAft>
                          <a:spcPts val="200"/>
                        </a:spcAft>
                      </a:pPr>
                      <a:r>
                        <a:rPr sz="1200" b="0">
                          <a:solidFill>
                            <a:srgbClr val="404040"/>
                          </a:solidFill>
                        </a:rPr>
                        <a:t>1.47%</a:t>
                      </a:r>
                    </a:p>
                  </a:txBody>
                  <a:tcPr>
                    <a:solidFill>
                      <a:srgbClr val="FFFFFF"/>
                    </a:solidFill>
                  </a:tcPr>
                </a:tc>
                <a:tc>
                  <a:txBody>
                    <a:bodyPr/>
                    <a:lstStyle/>
                    <a:p>
                      <a:pPr algn="ctr">
                        <a:spcBef>
                          <a:spcPts val="200"/>
                        </a:spcBef>
                        <a:spcAft>
                          <a:spcPts val="200"/>
                        </a:spcAft>
                      </a:pPr>
                      <a:r>
                        <a:rPr sz="1200" b="1">
                          <a:solidFill>
                            <a:srgbClr val="C00000"/>
                          </a:solidFill>
                        </a:rPr>
                        <a:t>+0.15pp</a:t>
                      </a:r>
                    </a:p>
                  </a:txBody>
                  <a:tcPr>
                    <a:solidFill>
                      <a:srgbClr val="FFFFFF"/>
                    </a:solidFill>
                  </a:tcPr>
                </a:tc>
                <a:tc>
                  <a:txBody>
                    <a:bodyPr/>
                    <a:lstStyle/>
                    <a:p>
                      <a:pPr algn="l">
                        <a:spcBef>
                          <a:spcPts val="200"/>
                        </a:spcBef>
                        <a:spcAft>
                          <a:spcPts val="200"/>
                        </a:spcAft>
                      </a:pPr>
                      <a:r>
                        <a:rPr sz="1100" b="0">
                          <a:solidFill>
                            <a:srgbClr val="404040"/>
                          </a:solidFill>
                        </a:rPr>
                        <a:t>Confusion matrix → over-corrects</a:t>
                      </a:r>
                    </a:p>
                  </a:txBody>
                  <a:tcPr>
                    <a:solidFill>
                      <a:srgbClr val="FFFFFF"/>
                    </a:solidFill>
                  </a:tcPr>
                </a:tc>
              </a:tr>
              <a:tr h="512064">
                <a:tc>
                  <a:txBody>
                    <a:bodyPr/>
                    <a:lstStyle/>
                    <a:p>
                      <a:pPr algn="l">
                        <a:spcBef>
                          <a:spcPts val="200"/>
                        </a:spcBef>
                        <a:spcAft>
                          <a:spcPts val="200"/>
                        </a:spcAft>
                      </a:pPr>
                      <a:r>
                        <a:rPr sz="1200" b="0">
                          <a:solidFill>
                            <a:srgbClr val="404040"/>
                          </a:solidFill>
                        </a:rPr>
                        <a:t>Phase 4 — Self-Reflective</a:t>
                      </a:r>
                    </a:p>
                  </a:txBody>
                  <a:tcPr>
                    <a:solidFill>
                      <a:srgbClr val="F2F2F2"/>
                    </a:solidFill>
                  </a:tcPr>
                </a:tc>
                <a:tc>
                  <a:txBody>
                    <a:bodyPr/>
                    <a:lstStyle/>
                    <a:p>
                      <a:pPr algn="ctr">
                        <a:spcBef>
                          <a:spcPts val="200"/>
                        </a:spcBef>
                        <a:spcAft>
                          <a:spcPts val="200"/>
                        </a:spcAft>
                      </a:pPr>
                      <a:r>
                        <a:rPr sz="1200" b="0">
                          <a:solidFill>
                            <a:srgbClr val="404040"/>
                          </a:solidFill>
                        </a:rPr>
                        <a:t>1.45%</a:t>
                      </a:r>
                    </a:p>
                  </a:txBody>
                  <a:tcPr>
                    <a:solidFill>
                      <a:srgbClr val="F2F2F2"/>
                    </a:solidFill>
                  </a:tcPr>
                </a:tc>
                <a:tc>
                  <a:txBody>
                    <a:bodyPr/>
                    <a:lstStyle/>
                    <a:p>
                      <a:pPr algn="ctr">
                        <a:spcBef>
                          <a:spcPts val="200"/>
                        </a:spcBef>
                        <a:spcAft>
                          <a:spcPts val="200"/>
                        </a:spcAft>
                      </a:pPr>
                      <a:r>
                        <a:rPr sz="1200" b="1">
                          <a:solidFill>
                            <a:srgbClr val="C00000"/>
                          </a:solidFill>
                        </a:rPr>
                        <a:t>+0.13pp</a:t>
                      </a:r>
                    </a:p>
                  </a:txBody>
                  <a:tcPr>
                    <a:solidFill>
                      <a:srgbClr val="F2F2F2"/>
                    </a:solidFill>
                  </a:tcPr>
                </a:tc>
                <a:tc>
                  <a:txBody>
                    <a:bodyPr/>
                    <a:lstStyle/>
                    <a:p>
                      <a:pPr algn="l">
                        <a:spcBef>
                          <a:spcPts val="200"/>
                        </a:spcBef>
                        <a:spcAft>
                          <a:spcPts val="200"/>
                        </a:spcAft>
                      </a:pPr>
                      <a:r>
                        <a:rPr sz="1100" b="0">
                          <a:solidFill>
                            <a:srgbClr val="404040"/>
                          </a:solidFill>
                        </a:rPr>
                        <a:t>Failure warnings → more edits</a:t>
                      </a:r>
                    </a:p>
                  </a:txBody>
                  <a:tcPr>
                    <a:solidFill>
                      <a:srgbClr val="F2F2F2"/>
                    </a:solidFill>
                  </a:tcPr>
                </a:tc>
              </a:tr>
              <a:tr h="512064">
                <a:tc>
                  <a:txBody>
                    <a:bodyPr/>
                    <a:lstStyle/>
                    <a:p>
                      <a:pPr algn="l">
                        <a:spcBef>
                          <a:spcPts val="200"/>
                        </a:spcBef>
                        <a:spcAft>
                          <a:spcPts val="200"/>
                        </a:spcAft>
                      </a:pPr>
                      <a:r>
                        <a:rPr sz="1200" b="0">
                          <a:solidFill>
                            <a:srgbClr val="404040"/>
                          </a:solidFill>
                        </a:rPr>
                        <a:t>Phase 6 — Conf+Self</a:t>
                      </a:r>
                    </a:p>
                  </a:txBody>
                  <a:tcPr>
                    <a:solidFill>
                      <a:srgbClr val="FFFFFF"/>
                    </a:solidFill>
                  </a:tcPr>
                </a:tc>
                <a:tc>
                  <a:txBody>
                    <a:bodyPr/>
                    <a:lstStyle/>
                    <a:p>
                      <a:pPr algn="ctr">
                        <a:spcBef>
                          <a:spcPts val="200"/>
                        </a:spcBef>
                        <a:spcAft>
                          <a:spcPts val="200"/>
                        </a:spcAft>
                      </a:pPr>
                      <a:r>
                        <a:rPr sz="1200" b="0">
                          <a:solidFill>
                            <a:srgbClr val="404040"/>
                          </a:solidFill>
                        </a:rPr>
                        <a:t>1.53%</a:t>
                      </a:r>
                    </a:p>
                  </a:txBody>
                  <a:tcPr>
                    <a:solidFill>
                      <a:srgbClr val="FFFFFF"/>
                    </a:solidFill>
                  </a:tcPr>
                </a:tc>
                <a:tc>
                  <a:txBody>
                    <a:bodyPr/>
                    <a:lstStyle/>
                    <a:p>
                      <a:pPr algn="ctr">
                        <a:spcBef>
                          <a:spcPts val="200"/>
                        </a:spcBef>
                        <a:spcAft>
                          <a:spcPts val="200"/>
                        </a:spcAft>
                      </a:pPr>
                      <a:r>
                        <a:rPr sz="1200" b="1">
                          <a:solidFill>
                            <a:srgbClr val="C00000"/>
                          </a:solidFill>
                        </a:rPr>
                        <a:t>+0.21pp</a:t>
                      </a:r>
                    </a:p>
                  </a:txBody>
                  <a:tcPr>
                    <a:solidFill>
                      <a:srgbClr val="FFFFFF"/>
                    </a:solidFill>
                  </a:tcPr>
                </a:tc>
                <a:tc>
                  <a:txBody>
                    <a:bodyPr/>
                    <a:lstStyle/>
                    <a:p>
                      <a:pPr algn="l">
                        <a:spcBef>
                          <a:spcPts val="200"/>
                        </a:spcBef>
                        <a:spcAft>
                          <a:spcPts val="200"/>
                        </a:spcAft>
                      </a:pPr>
                      <a:r>
                        <a:rPr sz="1100" b="0">
                          <a:solidFill>
                            <a:srgbClr val="404040"/>
                          </a:solidFill>
                        </a:rPr>
                        <a:t>Combined signals → worst of both</a:t>
                      </a:r>
                    </a:p>
                  </a:txBody>
                  <a:tcPr>
                    <a:solidFill>
                      <a:srgbClr val="FFFFFF"/>
                    </a:solidFill>
                  </a:tcPr>
                </a:tc>
              </a:tr>
            </a:tbl>
          </a:graphicData>
        </a:graphic>
      </p:graphicFrame>
      <p:sp>
        <p:nvSpPr>
          <p:cNvPr id="7" name="Rectangle 6"/>
          <p:cNvSpPr/>
          <p:nvPr/>
        </p:nvSpPr>
        <p:spPr>
          <a:xfrm>
            <a:off x="320040" y="4343400"/>
            <a:ext cx="11548872" cy="365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389120"/>
            <a:ext cx="11338560" cy="320040"/>
          </a:xfrm>
          <a:prstGeom prst="rect">
            <a:avLst/>
          </a:prstGeom>
          <a:noFill/>
        </p:spPr>
        <p:txBody>
          <a:bodyPr wrap="square">
            <a:spAutoFit/>
          </a:bodyPr>
          <a:lstStyle/>
          <a:p>
            <a:pPr algn="l"/>
            <a:r>
              <a:rPr sz="1600" b="1">
                <a:solidFill>
                  <a:srgbClr val="FFFFFF"/>
                </a:solidFill>
              </a:rPr>
              <a:t>Root Cause: Over-Correction at Low Error Rate</a:t>
            </a:r>
          </a:p>
        </p:txBody>
      </p:sp>
      <p:sp>
        <p:nvSpPr>
          <p:cNvPr id="9" name="Rectangle 8"/>
          <p:cNvSpPr/>
          <p:nvPr/>
        </p:nvSpPr>
        <p:spPr>
          <a:xfrm>
            <a:off x="36576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92040"/>
            <a:ext cx="3566160" cy="320040"/>
          </a:xfrm>
          <a:prstGeom prst="rect">
            <a:avLst/>
          </a:prstGeom>
          <a:noFill/>
        </p:spPr>
        <p:txBody>
          <a:bodyPr wrap="square">
            <a:spAutoFit/>
          </a:bodyPr>
          <a:lstStyle/>
          <a:p>
            <a:pPr algn="l"/>
            <a:r>
              <a:rPr sz="1300" b="1">
                <a:solidFill>
                  <a:srgbClr val="1F3864"/>
                </a:solidFill>
              </a:rPr>
              <a:t>The floor effect</a:t>
            </a:r>
          </a:p>
        </p:txBody>
      </p:sp>
      <p:sp>
        <p:nvSpPr>
          <p:cNvPr id="11" name="TextBox 10"/>
          <p:cNvSpPr txBox="1"/>
          <p:nvPr/>
        </p:nvSpPr>
        <p:spPr>
          <a:xfrm>
            <a:off x="457200" y="5212080"/>
            <a:ext cx="3566160" cy="1280160"/>
          </a:xfrm>
          <a:prstGeom prst="rect">
            <a:avLst/>
          </a:prstGeom>
          <a:noFill/>
        </p:spPr>
        <p:txBody>
          <a:bodyPr wrap="square">
            <a:spAutoFit/>
          </a:bodyPr>
          <a:lstStyle/>
          <a:p>
            <a:pPr algn="l"/>
            <a:r>
              <a:rPr sz="1200" b="0">
                <a:solidFill>
                  <a:srgbClr val="404040"/>
                </a:solidFill>
              </a:rPr>
              <a:t>PATS CER is already 0.86%–1.54%. At this level, any
non-trivial correction strategy introduces more errors
than it fixes. Signal-to-noise ratio is very low.</a:t>
            </a:r>
          </a:p>
        </p:txBody>
      </p:sp>
      <p:sp>
        <p:nvSpPr>
          <p:cNvPr id="12" name="Rectangle 11"/>
          <p:cNvSpPr/>
          <p:nvPr/>
        </p:nvSpPr>
        <p:spPr>
          <a:xfrm>
            <a:off x="429768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892040"/>
            <a:ext cx="3566160" cy="320040"/>
          </a:xfrm>
          <a:prstGeom prst="rect">
            <a:avLst/>
          </a:prstGeom>
          <a:noFill/>
        </p:spPr>
        <p:txBody>
          <a:bodyPr wrap="square">
            <a:spAutoFit/>
          </a:bodyPr>
          <a:lstStyle/>
          <a:p>
            <a:pPr algn="l"/>
            <a:r>
              <a:rPr sz="1300" b="1">
                <a:solidFill>
                  <a:srgbClr val="1F3864"/>
                </a:solidFill>
              </a:rPr>
              <a:t>More context = more edits</a:t>
            </a:r>
          </a:p>
        </p:txBody>
      </p:sp>
      <p:sp>
        <p:nvSpPr>
          <p:cNvPr id="14" name="TextBox 13"/>
          <p:cNvSpPr txBox="1"/>
          <p:nvPr/>
        </p:nvSpPr>
        <p:spPr>
          <a:xfrm>
            <a:off x="4389120" y="5212080"/>
            <a:ext cx="3566160" cy="1280160"/>
          </a:xfrm>
          <a:prstGeom prst="rect">
            <a:avLst/>
          </a:prstGeom>
          <a:noFill/>
        </p:spPr>
        <p:txBody>
          <a:bodyPr wrap="square">
            <a:spAutoFit/>
          </a:bodyPr>
          <a:lstStyle/>
          <a:p>
            <a:pPr algn="l"/>
            <a:r>
              <a:rPr sz="1200" b="0">
                <a:solidFill>
                  <a:srgbClr val="404040"/>
                </a:solidFill>
              </a:rPr>
              <a:t>Confusion matrices and failure examples implicitly
encourage the model to make changes — even when
the OCR text is already correct.</a:t>
            </a:r>
          </a:p>
        </p:txBody>
      </p:sp>
      <p:sp>
        <p:nvSpPr>
          <p:cNvPr id="15" name="Rectangle 14"/>
          <p:cNvSpPr/>
          <p:nvPr/>
        </p:nvSpPr>
        <p:spPr>
          <a:xfrm>
            <a:off x="822960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566160" cy="320040"/>
          </a:xfrm>
          <a:prstGeom prst="rect">
            <a:avLst/>
          </a:prstGeom>
          <a:noFill/>
        </p:spPr>
        <p:txBody>
          <a:bodyPr wrap="square">
            <a:spAutoFit/>
          </a:bodyPr>
          <a:lstStyle/>
          <a:p>
            <a:pPr algn="l"/>
            <a:r>
              <a:rPr sz="1300" b="1">
                <a:solidFill>
                  <a:srgbClr val="1F3864"/>
                </a:solidFill>
              </a:rPr>
              <a:t>Exception: Tahoma</a:t>
            </a:r>
          </a:p>
        </p:txBody>
      </p:sp>
      <p:sp>
        <p:nvSpPr>
          <p:cNvPr id="17" name="TextBox 16"/>
          <p:cNvSpPr txBox="1"/>
          <p:nvPr/>
        </p:nvSpPr>
        <p:spPr>
          <a:xfrm>
            <a:off x="8321040" y="5212080"/>
            <a:ext cx="3566160" cy="1280160"/>
          </a:xfrm>
          <a:prstGeom prst="rect">
            <a:avLst/>
          </a:prstGeom>
          <a:noFill/>
        </p:spPr>
        <p:txBody>
          <a:bodyPr wrap="square">
            <a:spAutoFit/>
          </a:bodyPr>
          <a:lstStyle/>
          <a:p>
            <a:pPr algn="l"/>
            <a:r>
              <a:rPr sz="1200" b="0">
                <a:solidFill>
                  <a:srgbClr val="404040"/>
                </a:solidFill>
              </a:rPr>
              <a:t>CER 2.39% is high enough for LLM to help (Phase 2:
2.70%), suggesting a per-dataset difficulty threshold
below which LLM correction is net-harmful.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3 — LLM Post-Correction Strongly Benefits Handwritten Text (KHATT)</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8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KHATT CER Progression   (WER follows similar pattern: 7.25% → 3.28%)</a:t>
            </a:r>
          </a:p>
        </p:txBody>
      </p:sp>
      <p:sp>
        <p:nvSpPr>
          <p:cNvPr id="6" name="Rectangle 5"/>
          <p:cNvSpPr/>
          <p:nvPr/>
        </p:nvSpPr>
        <p:spPr>
          <a:xfrm>
            <a:off x="1188720" y="1737360"/>
            <a:ext cx="2011680" cy="2926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371600"/>
            <a:ext cx="2011680" cy="320040"/>
          </a:xfrm>
          <a:prstGeom prst="rect">
            <a:avLst/>
          </a:prstGeom>
          <a:noFill/>
        </p:spPr>
        <p:txBody>
          <a:bodyPr wrap="square">
            <a:spAutoFit/>
          </a:bodyPr>
          <a:lstStyle/>
          <a:p>
            <a:pPr algn="ctr"/>
            <a:r>
              <a:rPr sz="2000" b="1">
                <a:solidFill>
                  <a:srgbClr val="ED7D31"/>
                </a:solidFill>
              </a:rPr>
              <a:t>5.66%</a:t>
            </a:r>
          </a:p>
        </p:txBody>
      </p:sp>
      <p:sp>
        <p:nvSpPr>
          <p:cNvPr id="8" name="TextBox 7"/>
          <p:cNvSpPr txBox="1"/>
          <p:nvPr/>
        </p:nvSpPr>
        <p:spPr>
          <a:xfrm>
            <a:off x="1188720" y="4709160"/>
            <a:ext cx="2011680" cy="502920"/>
          </a:xfrm>
          <a:prstGeom prst="rect">
            <a:avLst/>
          </a:prstGeom>
          <a:noFill/>
        </p:spPr>
        <p:txBody>
          <a:bodyPr wrap="square">
            <a:spAutoFit/>
          </a:bodyPr>
          <a:lstStyle/>
          <a:p>
            <a:pPr algn="ctr"/>
            <a:r>
              <a:rPr sz="1200" b="0">
                <a:solidFill>
                  <a:srgbClr val="404040"/>
                </a:solidFill>
              </a:rPr>
              <a:t>OCR Baseline
(Phase 1)</a:t>
            </a:r>
          </a:p>
        </p:txBody>
      </p:sp>
      <p:sp>
        <p:nvSpPr>
          <p:cNvPr id="9" name="Rectangle 8"/>
          <p:cNvSpPr/>
          <p:nvPr/>
        </p:nvSpPr>
        <p:spPr>
          <a:xfrm>
            <a:off x="3840480" y="3003949"/>
            <a:ext cx="2011680" cy="165949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638189"/>
            <a:ext cx="2011680" cy="320040"/>
          </a:xfrm>
          <a:prstGeom prst="rect">
            <a:avLst/>
          </a:prstGeom>
          <a:noFill/>
        </p:spPr>
        <p:txBody>
          <a:bodyPr wrap="square">
            <a:spAutoFit/>
          </a:bodyPr>
          <a:lstStyle/>
          <a:p>
            <a:pPr algn="ctr"/>
            <a:r>
              <a:rPr sz="2000" b="1">
                <a:solidFill>
                  <a:srgbClr val="2774AE"/>
                </a:solidFill>
              </a:rPr>
              <a:t>3.21%</a:t>
            </a:r>
          </a:p>
        </p:txBody>
      </p:sp>
      <p:sp>
        <p:nvSpPr>
          <p:cNvPr id="11" name="TextBox 10"/>
          <p:cNvSpPr txBox="1"/>
          <p:nvPr/>
        </p:nvSpPr>
        <p:spPr>
          <a:xfrm>
            <a:off x="3840480" y="4709160"/>
            <a:ext cx="2011680" cy="502920"/>
          </a:xfrm>
          <a:prstGeom prst="rect">
            <a:avLst/>
          </a:prstGeom>
          <a:noFill/>
        </p:spPr>
        <p:txBody>
          <a:bodyPr wrap="square">
            <a:spAutoFit/>
          </a:bodyPr>
          <a:lstStyle/>
          <a:p>
            <a:pPr algn="ctr"/>
            <a:r>
              <a:rPr sz="1200" b="0">
                <a:solidFill>
                  <a:srgbClr val="404040"/>
                </a:solidFill>
              </a:rPr>
              <a:t>Zero-Shot
(Phase 2)</a:t>
            </a:r>
          </a:p>
        </p:txBody>
      </p:sp>
      <p:sp>
        <p:nvSpPr>
          <p:cNvPr id="12" name="Rectangle 11"/>
          <p:cNvSpPr/>
          <p:nvPr/>
        </p:nvSpPr>
        <p:spPr>
          <a:xfrm>
            <a:off x="6492240" y="3102174"/>
            <a:ext cx="2011680" cy="1561265"/>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736414"/>
            <a:ext cx="2011680" cy="320040"/>
          </a:xfrm>
          <a:prstGeom prst="rect">
            <a:avLst/>
          </a:prstGeom>
          <a:noFill/>
        </p:spPr>
        <p:txBody>
          <a:bodyPr wrap="square">
            <a:spAutoFit/>
          </a:bodyPr>
          <a:lstStyle/>
          <a:p>
            <a:pPr algn="ctr"/>
            <a:r>
              <a:rPr sz="2000" b="1">
                <a:solidFill>
                  <a:srgbClr val="2774AE"/>
                </a:solidFill>
              </a:rPr>
              <a:t>3.02%</a:t>
            </a:r>
          </a:p>
        </p:txBody>
      </p:sp>
      <p:sp>
        <p:nvSpPr>
          <p:cNvPr id="14" name="TextBox 13"/>
          <p:cNvSpPr txBox="1"/>
          <p:nvPr/>
        </p:nvSpPr>
        <p:spPr>
          <a:xfrm>
            <a:off x="6492240" y="4709160"/>
            <a:ext cx="2011680" cy="502920"/>
          </a:xfrm>
          <a:prstGeom prst="rect">
            <a:avLst/>
          </a:prstGeom>
          <a:noFill/>
        </p:spPr>
        <p:txBody>
          <a:bodyPr wrap="square">
            <a:spAutoFit/>
          </a:bodyPr>
          <a:lstStyle/>
          <a:p>
            <a:pPr algn="ctr"/>
            <a:r>
              <a:rPr sz="1200" b="0">
                <a:solidFill>
                  <a:srgbClr val="404040"/>
                </a:solidFill>
              </a:rPr>
              <a:t>Self-Reflect
(Phase 4)</a:t>
            </a:r>
          </a:p>
        </p:txBody>
      </p:sp>
      <p:sp>
        <p:nvSpPr>
          <p:cNvPr id="15" name="Rectangle 14"/>
          <p:cNvSpPr/>
          <p:nvPr/>
        </p:nvSpPr>
        <p:spPr>
          <a:xfrm>
            <a:off x="9144000" y="3231418"/>
            <a:ext cx="2011680" cy="1432021"/>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865658"/>
            <a:ext cx="2011680" cy="320040"/>
          </a:xfrm>
          <a:prstGeom prst="rect">
            <a:avLst/>
          </a:prstGeom>
          <a:noFill/>
        </p:spPr>
        <p:txBody>
          <a:bodyPr wrap="square">
            <a:spAutoFit/>
          </a:bodyPr>
          <a:lstStyle/>
          <a:p>
            <a:pPr algn="ctr"/>
            <a:r>
              <a:rPr sz="2000" b="1">
                <a:solidFill>
                  <a:srgbClr val="378636"/>
                </a:solidFill>
              </a:rPr>
              <a:t>2.77%</a:t>
            </a:r>
          </a:p>
        </p:txBody>
      </p:sp>
      <p:sp>
        <p:nvSpPr>
          <p:cNvPr id="17" name="TextBox 16"/>
          <p:cNvSpPr txBox="1"/>
          <p:nvPr/>
        </p:nvSpPr>
        <p:spPr>
          <a:xfrm>
            <a:off x="9144000" y="4709160"/>
            <a:ext cx="2011680" cy="502920"/>
          </a:xfrm>
          <a:prstGeom prst="rect">
            <a:avLst/>
          </a:prstGeom>
          <a:noFill/>
        </p:spPr>
        <p:txBody>
          <a:bodyPr wrap="square">
            <a:spAutoFit/>
          </a:bodyPr>
          <a:lstStyle/>
          <a:p>
            <a:pPr algn="ctr"/>
            <a:r>
              <a:rPr sz="1200" b="0">
                <a:solidFill>
                  <a:srgbClr val="404040"/>
                </a:solidFill>
              </a:rPr>
              <a:t>RAG BM25
(Phase 8)</a:t>
            </a:r>
          </a:p>
        </p:txBody>
      </p:sp>
      <p:sp>
        <p:nvSpPr>
          <p:cNvPr id="18" name="Rectangle 17"/>
          <p:cNvSpPr/>
          <p:nvPr/>
        </p:nvSpPr>
        <p:spPr>
          <a:xfrm>
            <a:off x="320040" y="5257800"/>
            <a:ext cx="11548872"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03520"/>
            <a:ext cx="11338560" cy="365760"/>
          </a:xfrm>
          <a:prstGeom prst="rect">
            <a:avLst/>
          </a:prstGeom>
          <a:noFill/>
        </p:spPr>
        <p:txBody>
          <a:bodyPr wrap="square">
            <a:spAutoFit/>
          </a:bodyPr>
          <a:lstStyle/>
          <a:p>
            <a:pPr algn="ctr"/>
            <a:r>
              <a:rPr sz="1500" b="1">
                <a:solidFill>
                  <a:srgbClr val="FFC000"/>
                </a:solidFill>
              </a:rPr>
              <a:t>Total CER reduction:  OCR → RAG =  5.66% → 2.77%  =  51% relative improvement  (WER: 7.25% → 3.28% = 55% relative improvement)</a:t>
            </a:r>
          </a:p>
        </p:txBody>
      </p:sp>
      <p:sp>
        <p:nvSpPr>
          <p:cNvPr id="20" name="TextBox 19"/>
          <p:cNvSpPr txBox="1"/>
          <p:nvPr/>
        </p:nvSpPr>
        <p:spPr>
          <a:xfrm>
            <a:off x="320040" y="5806440"/>
            <a:ext cx="11548872" cy="411480"/>
          </a:xfrm>
          <a:prstGeom prst="rect">
            <a:avLst/>
          </a:prstGeom>
          <a:noFill/>
        </p:spPr>
        <p:txBody>
          <a:bodyPr wrap="square">
            <a:spAutoFit/>
          </a:bodyPr>
          <a:lstStyle/>
          <a:p>
            <a:pPr algn="l"/>
            <a:r>
              <a:rPr sz="1300" b="0">
                <a:solidFill>
                  <a:srgbClr val="404040"/>
                </a:solidFill>
              </a:rPr>
              <a:t>KHATT is the real target domain: high error rate gives LLM enough signal to correct without excessive false positives. RAG amplifies this further via domain-matched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Per-Font Breakdown — PATS-A01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Not all fonts benefit equally; Tahoma uniquely resists LLM 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9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1828800"/>
                <a:gridCol w="1645920"/>
                <a:gridCol w="1645920"/>
                <a:gridCol w="1645920"/>
                <a:gridCol w="1645920"/>
                <a:gridCol w="3136392"/>
              </a:tblGrid>
              <a:tr h="534924">
                <a:tc>
                  <a:txBody>
                    <a:bodyPr/>
                    <a:lstStyle/>
                    <a:p>
                      <a:pPr algn="ctr">
                        <a:spcBef>
                          <a:spcPts val="200"/>
                        </a:spcBef>
                        <a:spcAft>
                          <a:spcPts val="200"/>
                        </a:spcAft>
                      </a:pPr>
                      <a:r>
                        <a:rPr sz="1200" b="1">
                          <a:solidFill>
                            <a:srgbClr val="FFFFFF"/>
                          </a:solidFill>
                        </a:rPr>
                        <a:t>Font</a:t>
                      </a:r>
                    </a:p>
                  </a:txBody>
                  <a:tcPr>
                    <a:solidFill>
                      <a:srgbClr val="1F3864"/>
                    </a:solidFill>
                  </a:tcPr>
                </a:tc>
                <a:tc>
                  <a:txBody>
                    <a:bodyPr/>
                    <a:lstStyle/>
                    <a:p>
                      <a:pPr algn="ctr">
                        <a:spcBef>
                          <a:spcPts val="200"/>
                        </a:spcBef>
                        <a:spcAft>
                          <a:spcPts val="200"/>
                        </a:spcAft>
                      </a:pPr>
                      <a:r>
                        <a:rPr sz="1200" b="1">
                          <a:solidFill>
                            <a:srgbClr val="FFFFFF"/>
                          </a:solidFill>
                        </a:rPr>
                        <a:t>P1 CER
(OCR)</a:t>
                      </a:r>
                    </a:p>
                  </a:txBody>
                  <a:tcPr>
                    <a:solidFill>
                      <a:srgbClr val="1F3864"/>
                    </a:solidFill>
                  </a:tcPr>
                </a:tc>
                <a:tc>
                  <a:txBody>
                    <a:bodyPr/>
                    <a:lstStyle/>
                    <a:p>
                      <a:pPr algn="ctr">
                        <a:spcBef>
                          <a:spcPts val="200"/>
                        </a:spcBef>
                        <a:spcAft>
                          <a:spcPts val="200"/>
                        </a:spcAft>
                      </a:pPr>
                      <a:r>
                        <a:rPr sz="1200" b="1">
                          <a:solidFill>
                            <a:srgbClr val="FFFFFF"/>
                          </a:solidFill>
                        </a:rPr>
                        <a:t>P2 CER
(ZeroShot)</a:t>
                      </a:r>
                    </a:p>
                  </a:txBody>
                  <a:tcPr>
                    <a:solidFill>
                      <a:srgbClr val="1F3864"/>
                    </a:solidFill>
                  </a:tcPr>
                </a:tc>
                <a:tc>
                  <a:txBody>
                    <a:bodyPr/>
                    <a:lstStyle/>
                    <a:p>
                      <a:pPr algn="ctr">
                        <a:spcBef>
                          <a:spcPts val="200"/>
                        </a:spcBef>
                        <a:spcAft>
                          <a:spcPts val="200"/>
                        </a:spcAft>
                      </a:pPr>
                      <a:r>
                        <a:rPr sz="1200" b="1">
                          <a:solidFill>
                            <a:srgbClr val="FFFFFF"/>
                          </a:solidFill>
                        </a:rPr>
                        <a:t>P8 CER
(RAG)</a:t>
                      </a:r>
                    </a:p>
                  </a:txBody>
                  <a:tcPr>
                    <a:solidFill>
                      <a:srgbClr val="1F3864"/>
                    </a:solidFill>
                  </a:tcPr>
                </a:tc>
                <a:tc>
                  <a:txBody>
                    <a:bodyPr/>
                    <a:lstStyle/>
                    <a:p>
                      <a:pPr algn="ctr">
                        <a:spcBef>
                          <a:spcPts val="200"/>
                        </a:spcBef>
                        <a:spcAft>
                          <a:spcPts val="200"/>
                        </a:spcAft>
                      </a:pPr>
                      <a:r>
                        <a:rPr sz="1200" b="1">
                          <a:solidFill>
                            <a:srgbClr val="FFFFFF"/>
                          </a:solidFill>
                        </a:rPr>
                        <a:t>Best Phase</a:t>
                      </a:r>
                    </a:p>
                  </a:txBody>
                  <a:tcPr>
                    <a:solidFill>
                      <a:srgbClr val="1F3864"/>
                    </a:solidFill>
                  </a:tcPr>
                </a:tc>
                <a:tc>
                  <a:txBody>
                    <a:bodyPr/>
                    <a:lstStyle/>
                    <a:p>
                      <a:pPr algn="ctr">
                        <a:spcBef>
                          <a:spcPts val="200"/>
                        </a:spcBef>
                        <a:spcAft>
                          <a:spcPts val="200"/>
                        </a:spcAft>
                      </a:pPr>
                      <a:r>
                        <a:rPr sz="1200" b="1">
                          <a:solidFill>
                            <a:srgbClr val="FFFFFF"/>
                          </a:solidFill>
                        </a:rPr>
                        <a:t>Observation</a:t>
                      </a:r>
                    </a:p>
                  </a:txBody>
                  <a:tcPr>
                    <a:solidFill>
                      <a:srgbClr val="1F3864"/>
                    </a:solidFill>
                  </a:tcPr>
                </a:tc>
              </a:tr>
              <a:tr h="534924">
                <a:tc>
                  <a:txBody>
                    <a:bodyPr/>
                    <a:lstStyle/>
                    <a:p>
                      <a:pPr algn="l">
                        <a:spcBef>
                          <a:spcPts val="200"/>
                        </a:spcBef>
                        <a:spcAft>
                          <a:spcPts val="200"/>
                        </a:spcAft>
                      </a:pPr>
                      <a:r>
                        <a:rPr sz="1200" b="0">
                          <a:solidFill>
                            <a:srgbClr val="404040"/>
                          </a:solidFill>
                        </a:rPr>
                        <a:t>Naskh</a:t>
                      </a:r>
                    </a:p>
                  </a:txBody>
                  <a:tcPr>
                    <a:solidFill>
                      <a:srgbClr val="F2F2F2"/>
                    </a:solidFill>
                  </a:tcPr>
                </a:tc>
                <a:tc>
                  <a:txBody>
                    <a:bodyPr/>
                    <a:lstStyle/>
                    <a:p>
                      <a:pPr algn="ctr">
                        <a:spcBef>
                          <a:spcPts val="200"/>
                        </a:spcBef>
                        <a:spcAft>
                          <a:spcPts val="200"/>
                        </a:spcAft>
                      </a:pPr>
                      <a:r>
                        <a:rPr sz="1200" b="0">
                          <a:solidFill>
                            <a:srgbClr val="404040"/>
                          </a:solidFill>
                        </a:rPr>
                        <a:t>0.86%</a:t>
                      </a:r>
                    </a:p>
                  </a:txBody>
                  <a:tcPr>
                    <a:solidFill>
                      <a:srgbClr val="F2F2F2"/>
                    </a:solidFill>
                  </a:tcPr>
                </a:tc>
                <a:tc>
                  <a:txBody>
                    <a:bodyPr/>
                    <a:lstStyle/>
                    <a:p>
                      <a:pPr algn="ctr">
                        <a:spcBef>
                          <a:spcPts val="200"/>
                        </a:spcBef>
                        <a:spcAft>
                          <a:spcPts val="200"/>
                        </a:spcAft>
                      </a:pPr>
                      <a:r>
                        <a:rPr sz="1200" b="0">
                          <a:solidFill>
                            <a:srgbClr val="404040"/>
                          </a:solidFill>
                        </a:rPr>
                        <a:t>1.01%</a:t>
                      </a:r>
                    </a:p>
                  </a:txBody>
                  <a:tcPr>
                    <a:solidFill>
                      <a:srgbClr val="F2F2F2"/>
                    </a:solidFill>
                  </a:tcPr>
                </a:tc>
                <a:tc>
                  <a:txBody>
                    <a:bodyPr/>
                    <a:lstStyle/>
                    <a:p>
                      <a:pPr algn="ctr">
                        <a:spcBef>
                          <a:spcPts val="200"/>
                        </a:spcBef>
                        <a:spcAft>
                          <a:spcPts val="200"/>
                        </a:spcAft>
                      </a:pPr>
                      <a:r>
                        <a:rPr sz="1200" b="0">
                          <a:solidFill>
                            <a:srgbClr val="404040"/>
                          </a:solidFill>
                        </a:rPr>
                        <a:t>0.90%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Already near-perfect; LLM hurts</a:t>
                      </a:r>
                    </a:p>
                  </a:txBody>
                  <a:tcPr>
                    <a:solidFill>
                      <a:srgbClr val="F2F2F2"/>
                    </a:solidFill>
                  </a:tcPr>
                </a:tc>
              </a:tr>
              <a:tr h="534924">
                <a:tc>
                  <a:txBody>
                    <a:bodyPr/>
                    <a:lstStyle/>
                    <a:p>
                      <a:pPr algn="l">
                        <a:spcBef>
                          <a:spcPts val="200"/>
                        </a:spcBef>
                        <a:spcAft>
                          <a:spcPts val="200"/>
                        </a:spcAft>
                      </a:pPr>
                      <a:r>
                        <a:rPr sz="1200" b="0">
                          <a:solidFill>
                            <a:srgbClr val="404040"/>
                          </a:solidFill>
                        </a:rPr>
                        <a:t>Thuluth</a:t>
                      </a:r>
                    </a:p>
                  </a:txBody>
                  <a:tcPr>
                    <a:solidFill>
                      <a:srgbClr val="FFFFFF"/>
                    </a:solidFill>
                  </a:tcPr>
                </a:tc>
                <a:tc>
                  <a:txBody>
                    <a:bodyPr/>
                    <a:lstStyle/>
                    <a:p>
                      <a:pPr algn="ctr">
                        <a:spcBef>
                          <a:spcPts val="200"/>
                        </a:spcBef>
                        <a:spcAft>
                          <a:spcPts val="200"/>
                        </a:spcAft>
                      </a:pPr>
                      <a:r>
                        <a:rPr sz="1200" b="0">
                          <a:solidFill>
                            <a:srgbClr val="404040"/>
                          </a:solidFill>
                        </a:rPr>
                        <a:t>1.02%</a:t>
                      </a:r>
                    </a:p>
                  </a:txBody>
                  <a:tcPr>
                    <a:solidFill>
                      <a:srgbClr val="FFFFFF"/>
                    </a:solidFill>
                  </a:tcPr>
                </a:tc>
                <a:tc>
                  <a:txBody>
                    <a:bodyPr/>
                    <a:lstStyle/>
                    <a:p>
                      <a:pPr algn="ctr">
                        <a:spcBef>
                          <a:spcPts val="200"/>
                        </a:spcBef>
                        <a:spcAft>
                          <a:spcPts val="200"/>
                        </a:spcAft>
                      </a:pPr>
                      <a:r>
                        <a:rPr sz="1200" b="0">
                          <a:solidFill>
                            <a:srgbClr val="404040"/>
                          </a:solidFill>
                        </a:rPr>
                        <a:t>0.83%</a:t>
                      </a:r>
                    </a:p>
                  </a:txBody>
                  <a:tcPr>
                    <a:solidFill>
                      <a:srgbClr val="FFFFFF"/>
                    </a:solidFill>
                  </a:tcPr>
                </a:tc>
                <a:tc>
                  <a:txBody>
                    <a:bodyPr/>
                    <a:lstStyle/>
                    <a:p>
                      <a:pPr algn="ctr">
                        <a:spcBef>
                          <a:spcPts val="200"/>
                        </a:spcBef>
                        <a:spcAft>
                          <a:spcPts val="200"/>
                        </a:spcAft>
                      </a:pPr>
                      <a:r>
                        <a:rPr sz="1200" b="0">
                          <a:solidFill>
                            <a:srgbClr val="378636"/>
                          </a:solidFill>
                        </a:rPr>
                        <a:t>0.75%</a:t>
                      </a:r>
                    </a:p>
                  </a:txBody>
                  <a:tcPr>
                    <a:solidFill>
                      <a:srgbClr val="FFFFFF"/>
                    </a:solidFill>
                  </a:tcPr>
                </a:tc>
                <a:tc>
                  <a:txBody>
                    <a:bodyPr/>
                    <a:lstStyle/>
                    <a:p>
                      <a:pPr algn="ctr">
                        <a:spcBef>
                          <a:spcPts val="200"/>
                        </a:spcBef>
                        <a:spcAft>
                          <a:spcPts val="200"/>
                        </a:spcAft>
                      </a:pPr>
                      <a:r>
                        <a:rPr sz="1200" b="1">
                          <a:solidFill>
                            <a:srgbClr val="378636"/>
                          </a:solidFill>
                        </a:rPr>
                        <a:t>P8 ★</a:t>
                      </a:r>
                    </a:p>
                  </a:txBody>
                  <a:tcPr>
                    <a:solidFill>
                      <a:srgbClr val="FFFFFF"/>
                    </a:solidFill>
                  </a:tcPr>
                </a:tc>
                <a:tc>
                  <a:txBody>
                    <a:bodyPr/>
                    <a:lstStyle/>
                    <a:p>
                      <a:pPr algn="l">
                        <a:spcBef>
                          <a:spcPts val="200"/>
                        </a:spcBef>
                        <a:spcAft>
                          <a:spcPts val="200"/>
                        </a:spcAft>
                      </a:pPr>
                      <a:r>
                        <a:rPr sz="1100" b="0">
                          <a:solidFill>
                            <a:srgbClr val="404040"/>
                          </a:solidFill>
                        </a:rPr>
                        <a:t>RAG most effective here</a:t>
                      </a:r>
                    </a:p>
                  </a:txBody>
                  <a:tcPr>
                    <a:solidFill>
                      <a:srgbClr val="FFFFFF"/>
                    </a:solidFill>
                  </a:tcPr>
                </a:tc>
              </a:tr>
              <a:tr h="534924">
                <a:tc>
                  <a:txBody>
                    <a:bodyPr/>
                    <a:lstStyle/>
                    <a:p>
                      <a:pPr algn="l">
                        <a:spcBef>
                          <a:spcPts val="200"/>
                        </a:spcBef>
                        <a:spcAft>
                          <a:spcPts val="200"/>
                        </a:spcAft>
                      </a:pPr>
                      <a:r>
                        <a:rPr sz="1200" b="0">
                          <a:solidFill>
                            <a:srgbClr val="404040"/>
                          </a:solidFill>
                        </a:rPr>
                        <a:t>Arial</a:t>
                      </a:r>
                    </a:p>
                  </a:txBody>
                  <a:tcPr>
                    <a:solidFill>
                      <a:srgbClr val="F2F2F2"/>
                    </a:solidFill>
                  </a:tcPr>
                </a:tc>
                <a:tc>
                  <a:txBody>
                    <a:bodyPr/>
                    <a:lstStyle/>
                    <a:p>
                      <a:pPr algn="ctr">
                        <a:spcBef>
                          <a:spcPts val="200"/>
                        </a:spcBef>
                        <a:spcAft>
                          <a:spcPts val="200"/>
                        </a:spcAft>
                      </a:pPr>
                      <a:r>
                        <a:rPr sz="1200" b="0">
                          <a:solidFill>
                            <a:srgbClr val="404040"/>
                          </a:solidFill>
                        </a:rPr>
                        <a:t>1.06%</a:t>
                      </a:r>
                    </a:p>
                  </a:txBody>
                  <a:tcPr>
                    <a:solidFill>
                      <a:srgbClr val="F2F2F2"/>
                    </a:solidFill>
                  </a:tcPr>
                </a:tc>
                <a:tc>
                  <a:txBody>
                    <a:bodyPr/>
                    <a:lstStyle/>
                    <a:p>
                      <a:pPr algn="ctr">
                        <a:spcBef>
                          <a:spcPts val="200"/>
                        </a:spcBef>
                        <a:spcAft>
                          <a:spcPts val="200"/>
                        </a:spcAft>
                      </a:pPr>
                      <a:r>
                        <a:rPr sz="1200" b="0">
                          <a:solidFill>
                            <a:srgbClr val="404040"/>
                          </a:solidFill>
                        </a:rPr>
                        <a:t>1.21%</a:t>
                      </a:r>
                    </a:p>
                  </a:txBody>
                  <a:tcPr>
                    <a:solidFill>
                      <a:srgbClr val="F2F2F2"/>
                    </a:solidFill>
                  </a:tcPr>
                </a:tc>
                <a:tc>
                  <a:txBody>
                    <a:bodyPr/>
                    <a:lstStyle/>
                    <a:p>
                      <a:pPr algn="ctr">
                        <a:spcBef>
                          <a:spcPts val="200"/>
                        </a:spcBef>
                        <a:spcAft>
                          <a:spcPts val="200"/>
                        </a:spcAft>
                      </a:pPr>
                      <a:r>
                        <a:rPr sz="1200" b="0">
                          <a:solidFill>
                            <a:srgbClr val="404040"/>
                          </a:solidFill>
                        </a:rPr>
                        <a:t>1.10%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LLM degrades accuracy</a:t>
                      </a:r>
                    </a:p>
                  </a:txBody>
                  <a:tcPr>
                    <a:solidFill>
                      <a:srgbClr val="F2F2F2"/>
                    </a:solidFill>
                  </a:tcPr>
                </a:tc>
              </a:tr>
              <a:tr h="534924">
                <a:tc>
                  <a:txBody>
                    <a:bodyPr/>
                    <a:lstStyle/>
                    <a:p>
                      <a:pPr algn="l">
                        <a:spcBef>
                          <a:spcPts val="200"/>
                        </a:spcBef>
                        <a:spcAft>
                          <a:spcPts val="200"/>
                        </a:spcAft>
                      </a:pPr>
                      <a:r>
                        <a:rPr sz="1200" b="0">
                          <a:solidFill>
                            <a:srgbClr val="404040"/>
                          </a:solidFill>
                        </a:rPr>
                        <a:t>Akhbar</a:t>
                      </a:r>
                    </a:p>
                  </a:txBody>
                  <a:tcPr>
                    <a:solidFill>
                      <a:srgbClr val="FFFFFF"/>
                    </a:solidFill>
                  </a:tcPr>
                </a:tc>
                <a:tc>
                  <a:txBody>
                    <a:bodyPr/>
                    <a:lstStyle/>
                    <a:p>
                      <a:pPr algn="ctr">
                        <a:spcBef>
                          <a:spcPts val="200"/>
                        </a:spcBef>
                        <a:spcAft>
                          <a:spcPts val="200"/>
                        </a:spcAft>
                      </a:pPr>
                      <a:r>
                        <a:rPr sz="1200" b="0">
                          <a:solidFill>
                            <a:srgbClr val="404040"/>
                          </a:solidFill>
                        </a:rPr>
                        <a:t>1.14%</a:t>
                      </a:r>
                    </a:p>
                  </a:txBody>
                  <a:tcPr>
                    <a:solidFill>
                      <a:srgbClr val="FFFFFF"/>
                    </a:solidFill>
                  </a:tcPr>
                </a:tc>
                <a:tc>
                  <a:txBody>
                    <a:bodyPr/>
                    <a:lstStyle/>
                    <a:p>
                      <a:pPr algn="ctr">
                        <a:spcBef>
                          <a:spcPts val="200"/>
                        </a:spcBef>
                        <a:spcAft>
                          <a:spcPts val="200"/>
                        </a:spcAft>
                      </a:pPr>
                      <a:r>
                        <a:rPr sz="1200" b="0">
                          <a:solidFill>
                            <a:srgbClr val="404040"/>
                          </a:solidFill>
                        </a:rPr>
                        <a:t>0.87%</a:t>
                      </a:r>
                    </a:p>
                  </a:txBody>
                  <a:tcPr>
                    <a:solidFill>
                      <a:srgbClr val="FFFFFF"/>
                    </a:solidFill>
                  </a:tcPr>
                </a:tc>
                <a:tc>
                  <a:txBody>
                    <a:bodyPr/>
                    <a:lstStyle/>
                    <a:p>
                      <a:pPr algn="ctr">
                        <a:spcBef>
                          <a:spcPts val="200"/>
                        </a:spcBef>
                        <a:spcAft>
                          <a:spcPts val="200"/>
                        </a:spcAft>
                      </a:pPr>
                      <a:r>
                        <a:rPr sz="1200" b="0">
                          <a:solidFill>
                            <a:srgbClr val="404040"/>
                          </a:solidFill>
                        </a:rPr>
                        <a:t>0.89%</a:t>
                      </a:r>
                    </a:p>
                  </a:txBody>
                  <a:tcPr>
                    <a:solidFill>
                      <a:srgbClr val="FFFFFF"/>
                    </a:solidFill>
                  </a:tcPr>
                </a:tc>
                <a:tc>
                  <a:txBody>
                    <a:bodyPr/>
                    <a:lstStyle/>
                    <a:p>
                      <a:pPr algn="ctr">
                        <a:spcBef>
                          <a:spcPts val="200"/>
                        </a:spcBef>
                        <a:spcAft>
                          <a:spcPts val="200"/>
                        </a:spcAft>
                      </a:pPr>
                      <a:r>
                        <a:rPr sz="1200" b="1">
                          <a:solidFill>
                            <a:srgbClr val="2774AE"/>
                          </a:solidFill>
                        </a:rPr>
                        <a:t>P2</a:t>
                      </a:r>
                    </a:p>
                  </a:txBody>
                  <a:tcPr>
                    <a:solidFill>
                      <a:srgbClr val="FFFFFF"/>
                    </a:solidFill>
                  </a:tcPr>
                </a:tc>
                <a:tc>
                  <a:txBody>
                    <a:bodyPr/>
                    <a:lstStyle/>
                    <a:p>
                      <a:pPr algn="l">
                        <a:spcBef>
                          <a:spcPts val="200"/>
                        </a:spcBef>
                        <a:spcAft>
                          <a:spcPts val="200"/>
                        </a:spcAft>
                      </a:pPr>
                      <a:r>
                        <a:rPr sz="1100" b="0">
                          <a:solidFill>
                            <a:srgbClr val="404040"/>
                          </a:solidFill>
                        </a:rPr>
                        <a:t>ZeroShot sufficient</a:t>
                      </a:r>
                    </a:p>
                  </a:txBody>
                  <a:tcPr>
                    <a:solidFill>
                      <a:srgbClr val="FFFFFF"/>
                    </a:solidFill>
                  </a:tcPr>
                </a:tc>
              </a:tr>
              <a:tr h="5349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1.27%</a:t>
                      </a:r>
                    </a:p>
                  </a:txBody>
                  <a:tcPr>
                    <a:solidFill>
                      <a:srgbClr val="F2F2F2"/>
                    </a:solidFill>
                  </a:tcPr>
                </a:tc>
                <a:tc>
                  <a:txBody>
                    <a:bodyPr/>
                    <a:lstStyle/>
                    <a:p>
                      <a:pPr algn="ctr">
                        <a:spcBef>
                          <a:spcPts val="200"/>
                        </a:spcBef>
                        <a:spcAft>
                          <a:spcPts val="200"/>
                        </a:spcAft>
                      </a:pPr>
                      <a:r>
                        <a:rPr sz="1200" b="0">
                          <a:solidFill>
                            <a:srgbClr val="404040"/>
                          </a:solidFill>
                        </a:rPr>
                        <a:t>1.30%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Slight LLM regression</a:t>
                      </a:r>
                    </a:p>
                  </a:txBody>
                  <a:tcPr>
                    <a:solidFill>
                      <a:srgbClr val="F2F2F2"/>
                    </a:solidFill>
                  </a:tcPr>
                </a:tc>
              </a:tr>
              <a:tr h="5349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1.61%</a:t>
                      </a:r>
                    </a:p>
                  </a:txBody>
                  <a:tcPr>
                    <a:solidFill>
                      <a:srgbClr val="FFFFFF"/>
                    </a:solidFill>
                  </a:tcPr>
                </a:tc>
                <a:tc>
                  <a:txBody>
                    <a:bodyPr/>
                    <a:lstStyle/>
                    <a:p>
                      <a:pPr algn="ctr">
                        <a:spcBef>
                          <a:spcPts val="200"/>
                        </a:spcBef>
                        <a:spcAft>
                          <a:spcPts val="200"/>
                        </a:spcAft>
                      </a:pPr>
                      <a:r>
                        <a:rPr sz="1200" b="0">
                          <a:solidFill>
                            <a:srgbClr val="378636"/>
                          </a:solidFill>
                        </a:rPr>
                        <a:t>1.26%</a:t>
                      </a:r>
                    </a:p>
                  </a:txBody>
                  <a:tcPr>
                    <a:solidFill>
                      <a:srgbClr val="FFFFFF"/>
                    </a:solidFill>
                  </a:tcPr>
                </a:tc>
                <a:tc>
                  <a:txBody>
                    <a:bodyPr/>
                    <a:lstStyle/>
                    <a:p>
                      <a:pPr algn="ctr">
                        <a:spcBef>
                          <a:spcPts val="200"/>
                        </a:spcBef>
                        <a:spcAft>
                          <a:spcPts val="200"/>
                        </a:spcAft>
                      </a:pPr>
                      <a:r>
                        <a:rPr sz="1200" b="1">
                          <a:solidFill>
                            <a:srgbClr val="378636"/>
                          </a:solidFill>
                        </a:rPr>
                        <a:t>P8</a:t>
                      </a:r>
                    </a:p>
                  </a:txBody>
                  <a:tcPr>
                    <a:solidFill>
                      <a:srgbClr val="FFFFFF"/>
                    </a:solidFill>
                  </a:tcPr>
                </a:tc>
                <a:tc>
                  <a:txBody>
                    <a:bodyPr/>
                    <a:lstStyle/>
                    <a:p>
                      <a:pPr algn="l">
                        <a:spcBef>
                          <a:spcPts val="200"/>
                        </a:spcBef>
                        <a:spcAft>
                          <a:spcPts val="200"/>
                        </a:spcAft>
                      </a:pPr>
                      <a:r>
                        <a:rPr sz="1100" b="0">
                          <a:solidFill>
                            <a:srgbClr val="404040"/>
                          </a:solidFill>
                        </a:rPr>
                        <a:t>RAG recovers from P2 regression</a:t>
                      </a:r>
                    </a:p>
                  </a:txBody>
                  <a:tcPr>
                    <a:solidFill>
                      <a:srgbClr val="FFFFFF"/>
                    </a:solidFill>
                  </a:tcPr>
                </a:tc>
              </a:tr>
              <a:tr h="534924">
                <a:tc>
                  <a:txBody>
                    <a:bodyPr/>
                    <a:lstStyle/>
                    <a:p>
                      <a:pPr algn="l">
                        <a:spcBef>
                          <a:spcPts val="200"/>
                        </a:spcBef>
                        <a:spcAft>
                          <a:spcPts val="200"/>
                        </a:spcAft>
                      </a:pPr>
                      <a:r>
                        <a:rPr sz="1200" b="0">
                          <a:solidFill>
                            <a:srgbClr val="404040"/>
                          </a:solidFill>
                        </a:rPr>
                        <a:t>Andalus</a:t>
                      </a:r>
                    </a:p>
                  </a:txBody>
                  <a:tcPr>
                    <a:solidFill>
                      <a:srgbClr val="F2F2F2"/>
                    </a:solidFill>
                  </a:tcPr>
                </a:tc>
                <a:tc>
                  <a:txBody>
                    <a:bodyPr/>
                    <a:lstStyle/>
                    <a:p>
                      <a:pPr algn="ctr">
                        <a:spcBef>
                          <a:spcPts val="200"/>
                        </a:spcBef>
                        <a:spcAft>
                          <a:spcPts val="200"/>
                        </a:spcAft>
                      </a:pPr>
                      <a:r>
                        <a:rPr sz="1200" b="0">
                          <a:solidFill>
                            <a:srgbClr val="404040"/>
                          </a:solidFill>
                        </a:rPr>
                        <a:t>1.54%</a:t>
                      </a:r>
                    </a:p>
                  </a:txBody>
                  <a:tcPr>
                    <a:solidFill>
                      <a:srgbClr val="F2F2F2"/>
                    </a:solidFill>
                  </a:tcPr>
                </a:tc>
                <a:tc>
                  <a:txBody>
                    <a:bodyPr/>
                    <a:lstStyle/>
                    <a:p>
                      <a:pPr algn="ctr">
                        <a:spcBef>
                          <a:spcPts val="200"/>
                        </a:spcBef>
                        <a:spcAft>
                          <a:spcPts val="200"/>
                        </a:spcAft>
                      </a:pPr>
                      <a:r>
                        <a:rPr sz="1200" b="0">
                          <a:solidFill>
                            <a:srgbClr val="404040"/>
                          </a:solidFill>
                        </a:rPr>
                        <a:t>1.08%</a:t>
                      </a:r>
                    </a:p>
                  </a:txBody>
                  <a:tcPr>
                    <a:solidFill>
                      <a:srgbClr val="F2F2F2"/>
                    </a:solidFill>
                  </a:tcPr>
                </a:tc>
                <a:tc>
                  <a:txBody>
                    <a:bodyPr/>
                    <a:lstStyle/>
                    <a:p>
                      <a:pPr algn="ctr">
                        <a:spcBef>
                          <a:spcPts val="200"/>
                        </a:spcBef>
                        <a:spcAft>
                          <a:spcPts val="200"/>
                        </a:spcAft>
                      </a:pPr>
                      <a:r>
                        <a:rPr sz="1200" b="0">
                          <a:solidFill>
                            <a:srgbClr val="404040"/>
                          </a:solidFill>
                        </a:rPr>
                        <a:t>1.28%</a:t>
                      </a:r>
                    </a:p>
                  </a:txBody>
                  <a:tcPr>
                    <a:solidFill>
                      <a:srgbClr val="F2F2F2"/>
                    </a:solidFill>
                  </a:tcPr>
                </a:tc>
                <a:tc>
                  <a:txBody>
                    <a:bodyPr/>
                    <a:lstStyle/>
                    <a:p>
                      <a:pPr algn="ctr">
                        <a:spcBef>
                          <a:spcPts val="200"/>
                        </a:spcBef>
                        <a:spcAft>
                          <a:spcPts val="200"/>
                        </a:spcAft>
                      </a:pPr>
                      <a:r>
                        <a:rPr sz="1200" b="1">
                          <a:solidFill>
                            <a:srgbClr val="2774AE"/>
                          </a:solidFill>
                        </a:rPr>
                        <a:t>P2</a:t>
                      </a:r>
                    </a:p>
                  </a:txBody>
                  <a:tcPr>
                    <a:solidFill>
                      <a:srgbClr val="F2F2F2"/>
                    </a:solidFill>
                  </a:tcPr>
                </a:tc>
                <a:tc>
                  <a:txBody>
                    <a:bodyPr/>
                    <a:lstStyle/>
                    <a:p>
                      <a:pPr algn="l">
                        <a:spcBef>
                          <a:spcPts val="200"/>
                        </a:spcBef>
                        <a:spcAft>
                          <a:spcPts val="200"/>
                        </a:spcAft>
                      </a:pPr>
                      <a:r>
                        <a:rPr sz="1100" b="0">
                          <a:solidFill>
                            <a:srgbClr val="404040"/>
                          </a:solidFill>
                        </a:rPr>
                        <a:t>ZeroShot helps most</a:t>
                      </a:r>
                    </a:p>
                  </a:txBody>
                  <a:tcPr>
                    <a:solidFill>
                      <a:srgbClr val="F2F2F2"/>
                    </a:solidFill>
                  </a:tcPr>
                </a:tc>
              </a:tr>
              <a:tr h="534924">
                <a:tc>
                  <a:txBody>
                    <a:bodyPr/>
                    <a:lstStyle/>
                    <a:p>
                      <a:pPr algn="l">
                        <a:spcBef>
                          <a:spcPts val="200"/>
                        </a:spcBef>
                        <a:spcAft>
                          <a:spcPts val="200"/>
                        </a:spcAft>
                      </a:pPr>
                      <a:r>
                        <a:rPr sz="1200" b="0">
                          <a:solidFill>
                            <a:srgbClr val="404040"/>
                          </a:solidFill>
                        </a:rPr>
                        <a:t>Tahoma</a:t>
                      </a:r>
                    </a:p>
                  </a:txBody>
                  <a:tcPr>
                    <a:solidFill>
                      <a:srgbClr val="FFE6E6"/>
                    </a:solidFill>
                  </a:tcPr>
                </a:tc>
                <a:tc>
                  <a:txBody>
                    <a:bodyPr/>
                    <a:lstStyle/>
                    <a:p>
                      <a:pPr algn="ctr">
                        <a:spcBef>
                          <a:spcPts val="200"/>
                        </a:spcBef>
                        <a:spcAft>
                          <a:spcPts val="200"/>
                        </a:spcAft>
                      </a:pPr>
                      <a:r>
                        <a:rPr sz="1200" b="0">
                          <a:solidFill>
                            <a:srgbClr val="404040"/>
                          </a:solidFill>
                        </a:rPr>
                        <a:t>2.39%</a:t>
                      </a:r>
                    </a:p>
                  </a:txBody>
                  <a:tcPr>
                    <a:solidFill>
                      <a:srgbClr val="FFE6E6"/>
                    </a:solidFill>
                  </a:tcPr>
                </a:tc>
                <a:tc>
                  <a:txBody>
                    <a:bodyPr/>
                    <a:lstStyle/>
                    <a:p>
                      <a:pPr algn="ctr">
                        <a:spcBef>
                          <a:spcPts val="200"/>
                        </a:spcBef>
                        <a:spcAft>
                          <a:spcPts val="200"/>
                        </a:spcAft>
                      </a:pPr>
                      <a:r>
                        <a:rPr sz="1200" b="0">
                          <a:solidFill>
                            <a:srgbClr val="404040"/>
                          </a:solidFill>
                        </a:rPr>
                        <a:t>2.70%</a:t>
                      </a:r>
                    </a:p>
                  </a:txBody>
                  <a:tcPr>
                    <a:solidFill>
                      <a:srgbClr val="FFE6E6"/>
                    </a:solidFill>
                  </a:tcPr>
                </a:tc>
                <a:tc>
                  <a:txBody>
                    <a:bodyPr/>
                    <a:lstStyle/>
                    <a:p>
                      <a:pPr algn="ctr">
                        <a:spcBef>
                          <a:spcPts val="200"/>
                        </a:spcBef>
                        <a:spcAft>
                          <a:spcPts val="200"/>
                        </a:spcAft>
                      </a:pPr>
                      <a:r>
                        <a:rPr sz="1200" b="0">
                          <a:solidFill>
                            <a:srgbClr val="404040"/>
                          </a:solidFill>
                        </a:rPr>
                        <a:t>2.81%</a:t>
                      </a:r>
                    </a:p>
                  </a:txBody>
                  <a:tcPr>
                    <a:solidFill>
                      <a:srgbClr val="FFE6E6"/>
                    </a:solidFill>
                  </a:tcPr>
                </a:tc>
                <a:tc>
                  <a:txBody>
                    <a:bodyPr/>
                    <a:lstStyle/>
                    <a:p>
                      <a:pPr algn="ctr">
                        <a:spcBef>
                          <a:spcPts val="200"/>
                        </a:spcBef>
                        <a:spcAft>
                          <a:spcPts val="200"/>
                        </a:spcAft>
                      </a:pPr>
                      <a:r>
                        <a:rPr sz="1200" b="1">
                          <a:solidFill>
                            <a:srgbClr val="C00000"/>
                          </a:solidFill>
                        </a:rPr>
                        <a:t>P1</a:t>
                      </a:r>
                    </a:p>
                  </a:txBody>
                  <a:tcPr>
                    <a:solidFill>
                      <a:srgbClr val="FFE6E6"/>
                    </a:solidFill>
                  </a:tcPr>
                </a:tc>
                <a:tc>
                  <a:txBody>
                    <a:bodyPr/>
                    <a:lstStyle/>
                    <a:p>
                      <a:pPr algn="l">
                        <a:spcBef>
                          <a:spcPts val="200"/>
                        </a:spcBef>
                        <a:spcAft>
                          <a:spcPts val="200"/>
                        </a:spcAft>
                      </a:pPr>
                      <a:r>
                        <a:rPr sz="1100" b="0">
                          <a:solidFill>
                            <a:srgbClr val="404040"/>
                          </a:solidFill>
                        </a:rPr>
                        <a:t>No phase beats OCR baseline!</a:t>
                      </a:r>
                    </a:p>
                  </a:txBody>
                  <a:tcPr>
                    <a:solidFill>
                      <a:srgbClr val="FFE6E6"/>
                    </a:solidFill>
                  </a:tcPr>
                </a:tc>
              </a:tr>
              <a:tr h="5349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0">
                          <a:solidFill>
                            <a:srgbClr val="404040"/>
                          </a:solidFill>
                        </a:rPr>
                        <a:t>1.31%</a:t>
                      </a:r>
                    </a:p>
                  </a:txBody>
                  <a:tcPr>
                    <a:solidFill>
                      <a:srgbClr val="BDD7EE"/>
                    </a:solidFill>
                  </a:tcPr>
                </a:tc>
                <a:tc>
                  <a:txBody>
                    <a:bodyPr/>
                    <a:lstStyle/>
                    <a:p>
                      <a:pPr algn="ctr">
                        <a:spcBef>
                          <a:spcPts val="200"/>
                        </a:spcBef>
                        <a:spcAft>
                          <a:spcPts val="200"/>
                        </a:spcAft>
                      </a:pPr>
                      <a:r>
                        <a:rPr sz="1200" b="0">
                          <a:solidFill>
                            <a:srgbClr val="404040"/>
                          </a:solidFill>
                        </a:rPr>
                        <a:t>1.32%</a:t>
                      </a:r>
                    </a:p>
                  </a:txBody>
                  <a:tcPr>
                    <a:solidFill>
                      <a:srgbClr val="BDD7EE"/>
                    </a:solidFill>
                  </a:tcPr>
                </a:tc>
                <a:tc>
                  <a:txBody>
                    <a:bodyPr/>
                    <a:lstStyle/>
                    <a:p>
                      <a:pPr algn="ctr">
                        <a:spcBef>
                          <a:spcPts val="200"/>
                        </a:spcBef>
                        <a:spcAft>
                          <a:spcPts val="200"/>
                        </a:spcAft>
                      </a:pPr>
                      <a:r>
                        <a:rPr sz="1200" b="0">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P8</a:t>
                      </a:r>
                    </a:p>
                  </a:txBody>
                  <a:tcPr>
                    <a:solidFill>
                      <a:srgbClr val="BDD7EE"/>
                    </a:solidFill>
                  </a:tcPr>
                </a:tc>
                <a:tc>
                  <a:txBody>
                    <a:bodyPr/>
                    <a:lstStyle/>
                    <a:p>
                      <a:pPr algn="l">
                        <a:spcBef>
                          <a:spcPts val="200"/>
                        </a:spcBef>
                        <a:spcAft>
                          <a:spcPts val="200"/>
                        </a:spcAft>
                      </a:pPr>
                      <a:r>
                        <a:rPr sz="1100" b="0">
                          <a:solidFill>
                            <a:srgbClr val="404040"/>
                          </a:solidFill>
                        </a:rPr>
                        <a:t>RAG is only phase to beat P1</a:t>
                      </a:r>
                    </a:p>
                  </a:txBody>
                  <a:tcPr>
                    <a:solidFill>
                      <a:srgbClr val="BDD7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Analysis — The Error-Rate Threshold Effect</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LLM correction is beneficial only when OCR error rate exceeds a critical threshold</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10 / 15</a:t>
            </a:r>
          </a:p>
        </p:txBody>
      </p:sp>
      <p:sp>
        <p:nvSpPr>
          <p:cNvPr id="6" name="TextBox 5"/>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Hypothesis: below ~2% CER, LLM correction introduces more errors than it fixes.</a:t>
            </a:r>
          </a:p>
        </p:txBody>
      </p:sp>
      <p:sp>
        <p:nvSpPr>
          <p:cNvPr id="7" name="Rectangle 6"/>
          <p:cNvSpPr/>
          <p:nvPr/>
        </p:nvSpPr>
        <p:spPr>
          <a:xfrm>
            <a:off x="320040" y="1691640"/>
            <a:ext cx="36576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83080"/>
            <a:ext cx="3474720" cy="731520"/>
          </a:xfrm>
          <a:prstGeom prst="rect">
            <a:avLst/>
          </a:prstGeom>
          <a:noFill/>
        </p:spPr>
        <p:txBody>
          <a:bodyPr wrap="square">
            <a:spAutoFit/>
          </a:bodyPr>
          <a:lstStyle/>
          <a:p>
            <a:pPr algn="ctr"/>
            <a:r>
              <a:rPr sz="1500" b="1">
                <a:solidFill>
                  <a:srgbClr val="1F3864"/>
                </a:solidFill>
              </a:rPr>
              <a:t>HARMFUL ZONE
CER &lt; ~1.5%</a:t>
            </a:r>
          </a:p>
        </p:txBody>
      </p:sp>
      <p:sp>
        <p:nvSpPr>
          <p:cNvPr id="9" name="TextBox 8"/>
          <p:cNvSpPr txBox="1"/>
          <p:nvPr/>
        </p:nvSpPr>
        <p:spPr>
          <a:xfrm>
            <a:off x="411480" y="2560320"/>
            <a:ext cx="3474720" cy="2194560"/>
          </a:xfrm>
          <a:prstGeom prst="rect">
            <a:avLst/>
          </a:prstGeom>
          <a:noFill/>
        </p:spPr>
        <p:txBody>
          <a:bodyPr wrap="square">
            <a:spAutoFit/>
          </a:bodyPr>
          <a:lstStyle/>
          <a:p>
            <a:pPr algn="ctr"/>
            <a:r>
              <a:rPr sz="1300" b="0">
                <a:solidFill>
                  <a:srgbClr val="404040"/>
                </a:solidFill>
              </a:rPr>
              <a:t>LLM makes text worse
Naskh, Arial, Traditional
Best strategy: return unchanged</a:t>
            </a:r>
          </a:p>
        </p:txBody>
      </p:sp>
      <p:sp>
        <p:nvSpPr>
          <p:cNvPr id="10" name="Rectangle 9"/>
          <p:cNvSpPr/>
          <p:nvPr/>
        </p:nvSpPr>
        <p:spPr>
          <a:xfrm>
            <a:off x="4114800" y="1691640"/>
            <a:ext cx="3657600" cy="3200400"/>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783080"/>
            <a:ext cx="3474720" cy="731520"/>
          </a:xfrm>
          <a:prstGeom prst="rect">
            <a:avLst/>
          </a:prstGeom>
          <a:noFill/>
        </p:spPr>
        <p:txBody>
          <a:bodyPr wrap="square">
            <a:spAutoFit/>
          </a:bodyPr>
          <a:lstStyle/>
          <a:p>
            <a:pPr algn="ctr"/>
            <a:r>
              <a:rPr sz="1500" b="1">
                <a:solidFill>
                  <a:srgbClr val="1F3864"/>
                </a:solidFill>
              </a:rPr>
              <a:t>MIXED ZONE
CER 1.5 – 2.5%</a:t>
            </a:r>
          </a:p>
        </p:txBody>
      </p:sp>
      <p:sp>
        <p:nvSpPr>
          <p:cNvPr id="12" name="TextBox 11"/>
          <p:cNvSpPr txBox="1"/>
          <p:nvPr/>
        </p:nvSpPr>
        <p:spPr>
          <a:xfrm>
            <a:off x="4206240" y="2560320"/>
            <a:ext cx="3474720" cy="2194560"/>
          </a:xfrm>
          <a:prstGeom prst="rect">
            <a:avLst/>
          </a:prstGeom>
          <a:noFill/>
        </p:spPr>
        <p:txBody>
          <a:bodyPr wrap="square">
            <a:spAutoFit/>
          </a:bodyPr>
          <a:lstStyle/>
          <a:p>
            <a:pPr algn="ctr"/>
            <a:r>
              <a:rPr sz="1300" b="0">
                <a:solidFill>
                  <a:srgbClr val="404040"/>
                </a:solidFill>
              </a:rPr>
              <a:t>Depends on strategy
Andalus, Simplified, Tahoma
RAG and ZeroShot can help</a:t>
            </a:r>
          </a:p>
        </p:txBody>
      </p:sp>
      <p:sp>
        <p:nvSpPr>
          <p:cNvPr id="13" name="Rectangle 12"/>
          <p:cNvSpPr/>
          <p:nvPr/>
        </p:nvSpPr>
        <p:spPr>
          <a:xfrm>
            <a:off x="8229600" y="1691640"/>
            <a:ext cx="365760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783080"/>
            <a:ext cx="3474720" cy="731520"/>
          </a:xfrm>
          <a:prstGeom prst="rect">
            <a:avLst/>
          </a:prstGeom>
          <a:noFill/>
        </p:spPr>
        <p:txBody>
          <a:bodyPr wrap="square">
            <a:spAutoFit/>
          </a:bodyPr>
          <a:lstStyle/>
          <a:p>
            <a:pPr algn="ctr"/>
            <a:r>
              <a:rPr sz="1500" b="1">
                <a:solidFill>
                  <a:srgbClr val="1F3864"/>
                </a:solidFill>
              </a:rPr>
              <a:t>BENEFICIAL ZONE
CER &gt; ~2.5%</a:t>
            </a:r>
          </a:p>
        </p:txBody>
      </p:sp>
      <p:sp>
        <p:nvSpPr>
          <p:cNvPr id="15" name="TextBox 14"/>
          <p:cNvSpPr txBox="1"/>
          <p:nvPr/>
        </p:nvSpPr>
        <p:spPr>
          <a:xfrm>
            <a:off x="8321040" y="2560320"/>
            <a:ext cx="3474720" cy="2194560"/>
          </a:xfrm>
          <a:prstGeom prst="rect">
            <a:avLst/>
          </a:prstGeom>
          <a:noFill/>
        </p:spPr>
        <p:txBody>
          <a:bodyPr wrap="square">
            <a:spAutoFit/>
          </a:bodyPr>
          <a:lstStyle/>
          <a:p>
            <a:pPr algn="ctr"/>
            <a:r>
              <a:rPr sz="1300" b="0">
                <a:solidFill>
                  <a:srgbClr val="404040"/>
                </a:solidFill>
              </a:rPr>
              <a:t>LLM significantly improves
KHATT (5.66%), Tahoma (2.39%)
RAG gives best results</a:t>
            </a:r>
          </a:p>
        </p:txBody>
      </p:sp>
      <p:sp>
        <p:nvSpPr>
          <p:cNvPr id="16" name="TextBox 15"/>
          <p:cNvSpPr txBox="1"/>
          <p:nvPr/>
        </p:nvSpPr>
        <p:spPr>
          <a:xfrm>
            <a:off x="320040" y="5074920"/>
            <a:ext cx="11548872" cy="365760"/>
          </a:xfrm>
          <a:prstGeom prst="rect">
            <a:avLst/>
          </a:prstGeom>
          <a:noFill/>
        </p:spPr>
        <p:txBody>
          <a:bodyPr wrap="square">
            <a:spAutoFit/>
          </a:bodyPr>
          <a:lstStyle/>
          <a:p>
            <a:pPr algn="l"/>
            <a:r>
              <a:rPr sz="1500" b="1">
                <a:solidFill>
                  <a:srgbClr val="1F3864"/>
                </a:solidFill>
              </a:rPr>
              <a:t>Implication for thesis:</a:t>
            </a:r>
          </a:p>
        </p:txBody>
      </p:sp>
      <p:sp>
        <p:nvSpPr>
          <p:cNvPr id="17" name="TextBox 16"/>
          <p:cNvSpPr txBox="1"/>
          <p:nvPr/>
        </p:nvSpPr>
        <p:spPr>
          <a:xfrm>
            <a:off x="457200" y="5532120"/>
            <a:ext cx="11338560" cy="274320"/>
          </a:xfrm>
          <a:prstGeom prst="rect">
            <a:avLst/>
          </a:prstGeom>
          <a:noFill/>
        </p:spPr>
        <p:txBody>
          <a:bodyPr wrap="square">
            <a:spAutoFit/>
          </a:bodyPr>
          <a:lstStyle/>
          <a:p>
            <a:pPr algn="l"/>
            <a:r>
              <a:rPr sz="1300" b="0">
                <a:solidFill>
                  <a:srgbClr val="404040"/>
                </a:solidFill>
              </a:rPr>
              <a:t>1. Dataset difficulty must be reported alongside CER/WER improvements.</a:t>
            </a:r>
          </a:p>
        </p:txBody>
      </p:sp>
      <p:sp>
        <p:nvSpPr>
          <p:cNvPr id="18" name="TextBox 17"/>
          <p:cNvSpPr txBox="1"/>
          <p:nvPr/>
        </p:nvSpPr>
        <p:spPr>
          <a:xfrm>
            <a:off x="457200" y="5806440"/>
            <a:ext cx="11338560" cy="274320"/>
          </a:xfrm>
          <a:prstGeom prst="rect">
            <a:avLst/>
          </a:prstGeom>
          <a:noFill/>
        </p:spPr>
        <p:txBody>
          <a:bodyPr wrap="square">
            <a:spAutoFit/>
          </a:bodyPr>
          <a:lstStyle/>
          <a:p>
            <a:pPr algn="l"/>
            <a:r>
              <a:rPr sz="1300" b="0">
                <a:solidFill>
                  <a:srgbClr val="404040"/>
                </a:solidFill>
              </a:rPr>
              <a:t>2. A selective-correction strategy (detect high-error samples, then apply LLM) could unlock gains on PATS.</a:t>
            </a:r>
          </a:p>
        </p:txBody>
      </p:sp>
      <p:sp>
        <p:nvSpPr>
          <p:cNvPr id="19" name="TextBox 18"/>
          <p:cNvSpPr txBox="1"/>
          <p:nvPr/>
        </p:nvSpPr>
        <p:spPr>
          <a:xfrm>
            <a:off x="457200" y="6080760"/>
            <a:ext cx="11338560" cy="274320"/>
          </a:xfrm>
          <a:prstGeom prst="rect">
            <a:avLst/>
          </a:prstGeom>
          <a:noFill/>
        </p:spPr>
        <p:txBody>
          <a:bodyPr wrap="square">
            <a:spAutoFit/>
          </a:bodyPr>
          <a:lstStyle/>
          <a:p>
            <a:pPr algn="l"/>
            <a:r>
              <a:rPr sz="1300" b="0">
                <a:solidFill>
                  <a:srgbClr val="404040"/>
                </a:solidFill>
              </a:rPr>
              <a:t>3. Phase 2 (zero-shot) already achieves diminishing returns — advanced methods mainly help KHATT.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1 — Conservative Prompt (p2v3)</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an even stricter 'do-nothing-when-unsure' policy will reduce PATS over-correction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11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prompts</a:t>
            </a:r>
          </a:p>
        </p:txBody>
      </p:sp>
      <p:sp>
        <p:nvSpPr>
          <p:cNvPr id="8" name="TextBox 7"/>
          <p:cNvSpPr txBox="1"/>
          <p:nvPr/>
        </p:nvSpPr>
        <p:spPr>
          <a:xfrm>
            <a:off x="457200" y="1691640"/>
            <a:ext cx="5212080" cy="274320"/>
          </a:xfrm>
          <a:prstGeom prst="rect">
            <a:avLst/>
          </a:prstGeom>
          <a:noFill/>
        </p:spPr>
        <p:txBody>
          <a:bodyPr wrap="square">
            <a:spAutoFit/>
          </a:bodyPr>
          <a:lstStyle/>
          <a:p>
            <a:pPr algn="l"/>
            <a:r>
              <a:rPr sz="1300" b="1">
                <a:solidFill>
                  <a:srgbClr val="C00000"/>
                </a:solidFill>
              </a:rPr>
              <a:t>p2v1 (aggressive):</a:t>
            </a:r>
          </a:p>
        </p:txBody>
      </p:sp>
      <p:sp>
        <p:nvSpPr>
          <p:cNvPr id="9" name="TextBox 8"/>
          <p:cNvSpPr txBox="1"/>
          <p:nvPr/>
        </p:nvSpPr>
        <p:spPr>
          <a:xfrm>
            <a:off x="457200" y="1965960"/>
            <a:ext cx="5212080" cy="594360"/>
          </a:xfrm>
          <a:prstGeom prst="rect">
            <a:avLst/>
          </a:prstGeom>
          <a:noFill/>
        </p:spPr>
        <p:txBody>
          <a:bodyPr wrap="square">
            <a:spAutoFit/>
          </a:bodyPr>
          <a:lstStyle/>
          <a:p>
            <a:pPr algn="l"/>
            <a:r>
              <a:rPr sz="1200" b="0">
                <a:solidFill>
                  <a:srgbClr val="404040"/>
                </a:solidFill>
              </a:rPr>
              <a:t>"Fix OCR errors in this Arabic text. Return only the corrected text."</a:t>
            </a:r>
          </a:p>
        </p:txBody>
      </p:sp>
      <p:sp>
        <p:nvSpPr>
          <p:cNvPr id="10" name="TextBox 9"/>
          <p:cNvSpPr txBox="1"/>
          <p:nvPr/>
        </p:nvSpPr>
        <p:spPr>
          <a:xfrm>
            <a:off x="457200" y="2651760"/>
            <a:ext cx="5212080" cy="274320"/>
          </a:xfrm>
          <a:prstGeom prst="rect">
            <a:avLst/>
          </a:prstGeom>
          <a:noFill/>
        </p:spPr>
        <p:txBody>
          <a:bodyPr wrap="square">
            <a:spAutoFit/>
          </a:bodyPr>
          <a:lstStyle/>
          <a:p>
            <a:pPr algn="l"/>
            <a:r>
              <a:rPr sz="1300" b="1">
                <a:solidFill>
                  <a:srgbClr val="ED7D31"/>
                </a:solidFill>
              </a:rPr>
              <a:t>p2v2 (conservative, current):</a:t>
            </a:r>
          </a:p>
        </p:txBody>
      </p:sp>
      <p:sp>
        <p:nvSpPr>
          <p:cNvPr id="11" name="TextBox 10"/>
          <p:cNvSpPr txBox="1"/>
          <p:nvPr/>
        </p:nvSpPr>
        <p:spPr>
          <a:xfrm>
            <a:off x="457200" y="2926080"/>
            <a:ext cx="5212080" cy="1097280"/>
          </a:xfrm>
          <a:prstGeom prst="rect">
            <a:avLst/>
          </a:prstGeom>
          <a:noFill/>
        </p:spPr>
        <p:txBody>
          <a:bodyPr wrap="square">
            <a:spAutoFit/>
          </a:bodyPr>
          <a:lstStyle/>
          <a:p>
            <a:pPr algn="l"/>
            <a:r>
              <a:rPr sz="1200" b="0">
                <a:solidFill>
                  <a:srgbClr val="404040"/>
                </a:solidFill>
              </a:rPr>
              <a:t>"You are an Arabic OCR corrector. If the text looks correct, return it unchanged. Only fix clear OCR errors such as wrong characters, missing characters, or obvious character confusions. Do not rephrase or paraphrase."</a:t>
            </a:r>
          </a:p>
        </p:txBody>
      </p:sp>
      <p:sp>
        <p:nvSpPr>
          <p:cNvPr id="12" name="TextBox 11"/>
          <p:cNvSpPr txBox="1"/>
          <p:nvPr/>
        </p:nvSpPr>
        <p:spPr>
          <a:xfrm>
            <a:off x="457200" y="4114800"/>
            <a:ext cx="5212080" cy="320040"/>
          </a:xfrm>
          <a:prstGeom prst="rect">
            <a:avLst/>
          </a:prstGeom>
          <a:noFill/>
        </p:spPr>
        <p:txBody>
          <a:bodyPr wrap="square">
            <a:spAutoFit/>
          </a:bodyPr>
          <a:lstStyle/>
          <a:p>
            <a:pPr algn="l"/>
            <a:r>
              <a:rPr sz="1300" b="1">
                <a:solidFill>
                  <a:srgbClr val="C00000"/>
                </a:solidFill>
              </a:rPr>
              <a:t>Problem with p2v2:</a:t>
            </a:r>
          </a:p>
        </p:txBody>
      </p:sp>
      <p:sp>
        <p:nvSpPr>
          <p:cNvPr id="13" name="TextBox 12"/>
          <p:cNvSpPr txBox="1"/>
          <p:nvPr/>
        </p:nvSpPr>
        <p:spPr>
          <a:xfrm>
            <a:off x="457200" y="4434840"/>
            <a:ext cx="5212080" cy="640080"/>
          </a:xfrm>
          <a:prstGeom prst="rect">
            <a:avLst/>
          </a:prstGeom>
          <a:noFill/>
        </p:spPr>
        <p:txBody>
          <a:bodyPr wrap="square">
            <a:spAutoFit/>
          </a:bodyPr>
          <a:lstStyle/>
          <a:p>
            <a:pPr algn="l"/>
            <a:r>
              <a:rPr sz="1200" b="0">
                <a:solidFill>
                  <a:srgbClr val="404040"/>
                </a:solidFill>
              </a:rPr>
              <a:t>Still triggers too many edits on PATS fonts (Arial, Traditional, Naskh) where OCR is already highly accurate. CER increases vs baseline.</a:t>
            </a:r>
          </a:p>
        </p:txBody>
      </p:sp>
      <p:sp>
        <p:nvSpPr>
          <p:cNvPr id="14" name="Rectangle 13"/>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Proposed: p2v3 (ultra-conservative)</a:t>
            </a:r>
          </a:p>
        </p:txBody>
      </p:sp>
      <p:sp>
        <p:nvSpPr>
          <p:cNvPr id="16" name="TextBox 15"/>
          <p:cNvSpPr txBox="1"/>
          <p:nvPr/>
        </p:nvSpPr>
        <p:spPr>
          <a:xfrm>
            <a:off x="6080760" y="1691640"/>
            <a:ext cx="5669280" cy="2011680"/>
          </a:xfrm>
          <a:prstGeom prst="rect">
            <a:avLst/>
          </a:prstGeom>
          <a:noFill/>
        </p:spPr>
        <p:txBody>
          <a:bodyPr wrap="square">
            <a:spAutoFit/>
          </a:bodyPr>
          <a:lstStyle/>
          <a:p>
            <a:pPr algn="l"/>
            <a:r>
              <a:rPr sz="1250" b="0">
                <a:solidFill>
                  <a:srgbClr val="FFFFFF"/>
                </a:solidFill>
              </a:rPr>
              <a:t>"You are an Arabic OCR post-processor. Your ONLY job is to fix unambiguous character-substitution errors caused by the OCR scanner — where a character was clearly misread due to visual similarity. Do NOT change: word choice, spelling variants, diacritics, punctuation, spacing, or any word that could be a valid Arabic word. If you are unsure whether something is an OCR error or correct Arabic, leave it unchanged. Return ONLY the corrected text, nothing else."</a:t>
            </a:r>
          </a:p>
        </p:txBody>
      </p:sp>
      <p:sp>
        <p:nvSpPr>
          <p:cNvPr id="17" name="TextBox 16"/>
          <p:cNvSpPr txBox="1"/>
          <p:nvPr/>
        </p:nvSpPr>
        <p:spPr>
          <a:xfrm>
            <a:off x="6080760" y="3794760"/>
            <a:ext cx="5669280" cy="320040"/>
          </a:xfrm>
          <a:prstGeom prst="rect">
            <a:avLst/>
          </a:prstGeom>
          <a:noFill/>
        </p:spPr>
        <p:txBody>
          <a:bodyPr wrap="square">
            <a:spAutoFit/>
          </a:bodyPr>
          <a:lstStyle/>
          <a:p>
            <a:pPr algn="l"/>
            <a:r>
              <a:rPr sz="1300" b="1">
                <a:solidFill>
                  <a:srgbClr val="FFC000"/>
                </a:solidFill>
              </a:rPr>
              <a:t>Key differences from p2v2:</a:t>
            </a:r>
          </a:p>
        </p:txBody>
      </p:sp>
      <p:sp>
        <p:nvSpPr>
          <p:cNvPr id="18" name="TextBox 17"/>
          <p:cNvSpPr txBox="1"/>
          <p:nvPr/>
        </p:nvSpPr>
        <p:spPr>
          <a:xfrm>
            <a:off x="6080760" y="4160520"/>
            <a:ext cx="5669280" cy="256032"/>
          </a:xfrm>
          <a:prstGeom prst="rect">
            <a:avLst/>
          </a:prstGeom>
          <a:noFill/>
        </p:spPr>
        <p:txBody>
          <a:bodyPr wrap="square">
            <a:spAutoFit/>
          </a:bodyPr>
          <a:lstStyle/>
          <a:p>
            <a:pPr algn="l"/>
            <a:r>
              <a:rPr sz="1300" b="0">
                <a:solidFill>
                  <a:srgbClr val="BDD7EE"/>
                </a:solidFill>
              </a:rPr>
              <a:t>• Explicit list of what NOT to change</a:t>
            </a:r>
          </a:p>
        </p:txBody>
      </p:sp>
      <p:sp>
        <p:nvSpPr>
          <p:cNvPr id="19" name="TextBox 18"/>
          <p:cNvSpPr txBox="1"/>
          <p:nvPr/>
        </p:nvSpPr>
        <p:spPr>
          <a:xfrm>
            <a:off x="6080760" y="4416552"/>
            <a:ext cx="5669280" cy="256032"/>
          </a:xfrm>
          <a:prstGeom prst="rect">
            <a:avLst/>
          </a:prstGeom>
          <a:noFill/>
        </p:spPr>
        <p:txBody>
          <a:bodyPr wrap="square">
            <a:spAutoFit/>
          </a:bodyPr>
          <a:lstStyle/>
          <a:p>
            <a:pPr algn="l"/>
            <a:r>
              <a:rPr sz="1300" b="0">
                <a:solidFill>
                  <a:srgbClr val="BDD7EE"/>
                </a:solidFill>
              </a:rPr>
              <a:t>• Uncertainty → do nothing (conservative default)</a:t>
            </a:r>
          </a:p>
        </p:txBody>
      </p:sp>
      <p:sp>
        <p:nvSpPr>
          <p:cNvPr id="20" name="TextBox 19"/>
          <p:cNvSpPr txBox="1"/>
          <p:nvPr/>
        </p:nvSpPr>
        <p:spPr>
          <a:xfrm>
            <a:off x="6080760" y="4672584"/>
            <a:ext cx="5669280" cy="256032"/>
          </a:xfrm>
          <a:prstGeom prst="rect">
            <a:avLst/>
          </a:prstGeom>
          <a:noFill/>
        </p:spPr>
        <p:txBody>
          <a:bodyPr wrap="square">
            <a:spAutoFit/>
          </a:bodyPr>
          <a:lstStyle/>
          <a:p>
            <a:pPr algn="l"/>
            <a:r>
              <a:rPr sz="1300" b="0">
                <a:solidFill>
                  <a:srgbClr val="BDD7EE"/>
                </a:solidFill>
              </a:rPr>
              <a:t>• 'Valid Arabic word' test blocks grammar 'fixes'</a:t>
            </a:r>
          </a:p>
        </p:txBody>
      </p:sp>
      <p:sp>
        <p:nvSpPr>
          <p:cNvPr id="21" name="TextBox 20"/>
          <p:cNvSpPr txBox="1"/>
          <p:nvPr/>
        </p:nvSpPr>
        <p:spPr>
          <a:xfrm>
            <a:off x="6080760" y="4928616"/>
            <a:ext cx="5669280" cy="256032"/>
          </a:xfrm>
          <a:prstGeom prst="rect">
            <a:avLst/>
          </a:prstGeom>
          <a:noFill/>
        </p:spPr>
        <p:txBody>
          <a:bodyPr wrap="square">
            <a:spAutoFit/>
          </a:bodyPr>
          <a:lstStyle/>
          <a:p>
            <a:pPr algn="l"/>
            <a:r>
              <a:rPr sz="1300" b="0">
                <a:solidFill>
                  <a:srgbClr val="BDD7EE"/>
                </a:solidFill>
              </a:rPr>
              <a:t>• Targets only visual confusion errors</a:t>
            </a:r>
          </a:p>
        </p:txBody>
      </p:sp>
      <p:sp>
        <p:nvSpPr>
          <p:cNvPr id="22" name="TextBox 21"/>
          <p:cNvSpPr txBox="1"/>
          <p:nvPr/>
        </p:nvSpPr>
        <p:spPr>
          <a:xfrm>
            <a:off x="6080760" y="5394960"/>
            <a:ext cx="5669280" cy="365760"/>
          </a:xfrm>
          <a:prstGeom prst="rect">
            <a:avLst/>
          </a:prstGeom>
          <a:noFill/>
        </p:spPr>
        <p:txBody>
          <a:bodyPr wrap="square">
            <a:spAutoFit/>
          </a:bodyPr>
          <a:lstStyle/>
          <a:p>
            <a:pPr algn="l"/>
            <a:r>
              <a:rPr sz="1200" b="1">
                <a:solidFill>
                  <a:srgbClr val="FFC000"/>
                </a:solidFill>
              </a:rPr>
              <a:t>Expected: PATS CER holds at baseline; KHATT may trade recall for precision</a:t>
            </a:r>
          </a:p>
        </p:txBody>
      </p:sp>
      <p:sp>
        <p:nvSpPr>
          <p:cNvPr id="23" name="TextBox 22"/>
          <p:cNvSpPr txBox="1"/>
          <p:nvPr/>
        </p:nvSpPr>
        <p:spPr>
          <a:xfrm>
            <a:off x="320040" y="6510528"/>
            <a:ext cx="11548872" cy="274320"/>
          </a:xfrm>
          <a:prstGeom prst="rect">
            <a:avLst/>
          </a:prstGeom>
          <a:noFill/>
        </p:spPr>
        <p:txBody>
          <a:bodyPr wrap="square">
            <a:spAutoFit/>
          </a:bodyPr>
          <a:lstStyle/>
          <a:p>
            <a:pPr algn="l"/>
            <a:r>
              <a:rPr sz="1200" b="1">
                <a:solidFill>
                  <a:srgbClr val="404040"/>
                </a:solidFill>
              </a:rPr>
              <a:t>Action: implement p2v3, run on all 9 datasets, compare to p2v2 and OCR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2 — Larger LLM Model</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 larger model has better Arabic orthographic knowledge → fewer over-corrections</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12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Model</a:t>
            </a:r>
          </a:p>
        </p:txBody>
      </p:sp>
      <p:sp>
        <p:nvSpPr>
          <p:cNvPr id="8" name="TextBox 7"/>
          <p:cNvSpPr txBox="1"/>
          <p:nvPr/>
        </p:nvSpPr>
        <p:spPr>
          <a:xfrm>
            <a:off x="457200" y="1737360"/>
            <a:ext cx="1645920" cy="347472"/>
          </a:xfrm>
          <a:prstGeom prst="rect">
            <a:avLst/>
          </a:prstGeom>
          <a:noFill/>
        </p:spPr>
        <p:txBody>
          <a:bodyPr wrap="square">
            <a:spAutoFit/>
          </a:bodyPr>
          <a:lstStyle/>
          <a:p>
            <a:pPr algn="l"/>
            <a:r>
              <a:rPr sz="1200" b="1">
                <a:solidFill>
                  <a:srgbClr val="404040"/>
                </a:solidFill>
              </a:rPr>
              <a:t>Model:</a:t>
            </a:r>
          </a:p>
        </p:txBody>
      </p:sp>
      <p:sp>
        <p:nvSpPr>
          <p:cNvPr id="9" name="TextBox 8"/>
          <p:cNvSpPr txBox="1"/>
          <p:nvPr/>
        </p:nvSpPr>
        <p:spPr>
          <a:xfrm>
            <a:off x="2194560" y="1737360"/>
            <a:ext cx="3291840" cy="347472"/>
          </a:xfrm>
          <a:prstGeom prst="rect">
            <a:avLst/>
          </a:prstGeom>
          <a:noFill/>
        </p:spPr>
        <p:txBody>
          <a:bodyPr wrap="square">
            <a:spAutoFit/>
          </a:bodyPr>
          <a:lstStyle/>
          <a:p>
            <a:pPr algn="l"/>
            <a:r>
              <a:rPr sz="1200" b="0">
                <a:solidFill>
                  <a:srgbClr val="404040"/>
                </a:solidFill>
              </a:rPr>
              <a:t>Qwen3-4B-Instruct-2507</a:t>
            </a:r>
          </a:p>
        </p:txBody>
      </p:sp>
      <p:sp>
        <p:nvSpPr>
          <p:cNvPr id="10" name="TextBox 9"/>
          <p:cNvSpPr txBox="1"/>
          <p:nvPr/>
        </p:nvSpPr>
        <p:spPr>
          <a:xfrm>
            <a:off x="457200" y="2121408"/>
            <a:ext cx="1645920" cy="347472"/>
          </a:xfrm>
          <a:prstGeom prst="rect">
            <a:avLst/>
          </a:prstGeom>
          <a:noFill/>
        </p:spPr>
        <p:txBody>
          <a:bodyPr wrap="square">
            <a:spAutoFit/>
          </a:bodyPr>
          <a:lstStyle/>
          <a:p>
            <a:pPr algn="l"/>
            <a:r>
              <a:rPr sz="1200" b="1">
                <a:solidFill>
                  <a:srgbClr val="404040"/>
                </a:solidFill>
              </a:rPr>
              <a:t>Parameters:</a:t>
            </a:r>
          </a:p>
        </p:txBody>
      </p:sp>
      <p:sp>
        <p:nvSpPr>
          <p:cNvPr id="11" name="TextBox 10"/>
          <p:cNvSpPr txBox="1"/>
          <p:nvPr/>
        </p:nvSpPr>
        <p:spPr>
          <a:xfrm>
            <a:off x="2194560" y="2121408"/>
            <a:ext cx="3291840" cy="347472"/>
          </a:xfrm>
          <a:prstGeom prst="rect">
            <a:avLst/>
          </a:prstGeom>
          <a:noFill/>
        </p:spPr>
        <p:txBody>
          <a:bodyPr wrap="square">
            <a:spAutoFit/>
          </a:bodyPr>
          <a:lstStyle/>
          <a:p>
            <a:pPr algn="l"/>
            <a:r>
              <a:rPr sz="1200" b="0">
                <a:solidFill>
                  <a:srgbClr val="404040"/>
                </a:solidFill>
              </a:rPr>
              <a:t>4 Billion (dense)</a:t>
            </a:r>
          </a:p>
        </p:txBody>
      </p:sp>
      <p:sp>
        <p:nvSpPr>
          <p:cNvPr id="12" name="TextBox 11"/>
          <p:cNvSpPr txBox="1"/>
          <p:nvPr/>
        </p:nvSpPr>
        <p:spPr>
          <a:xfrm>
            <a:off x="457200" y="2505456"/>
            <a:ext cx="1645920" cy="347472"/>
          </a:xfrm>
          <a:prstGeom prst="rect">
            <a:avLst/>
          </a:prstGeom>
          <a:noFill/>
        </p:spPr>
        <p:txBody>
          <a:bodyPr wrap="square">
            <a:spAutoFit/>
          </a:bodyPr>
          <a:lstStyle/>
          <a:p>
            <a:pPr algn="l"/>
            <a:r>
              <a:rPr sz="1200" b="1">
                <a:solidFill>
                  <a:srgbClr val="404040"/>
                </a:solidFill>
              </a:rPr>
              <a:t>Platform:</a:t>
            </a:r>
          </a:p>
        </p:txBody>
      </p:sp>
      <p:sp>
        <p:nvSpPr>
          <p:cNvPr id="13" name="TextBox 12"/>
          <p:cNvSpPr txBox="1"/>
          <p:nvPr/>
        </p:nvSpPr>
        <p:spPr>
          <a:xfrm>
            <a:off x="2194560" y="2505456"/>
            <a:ext cx="3291840" cy="347472"/>
          </a:xfrm>
          <a:prstGeom prst="rect">
            <a:avLst/>
          </a:prstGeom>
          <a:noFill/>
        </p:spPr>
        <p:txBody>
          <a:bodyPr wrap="square">
            <a:spAutoFit/>
          </a:bodyPr>
          <a:lstStyle/>
          <a:p>
            <a:pPr algn="l"/>
            <a:r>
              <a:rPr sz="1200" b="0">
                <a:solidFill>
                  <a:srgbClr val="404040"/>
                </a:solidFill>
              </a:rPr>
              <a:t>Kaggle T4 GPU (~15 GB VRAM)</a:t>
            </a:r>
          </a:p>
        </p:txBody>
      </p:sp>
      <p:sp>
        <p:nvSpPr>
          <p:cNvPr id="14" name="TextBox 13"/>
          <p:cNvSpPr txBox="1"/>
          <p:nvPr/>
        </p:nvSpPr>
        <p:spPr>
          <a:xfrm>
            <a:off x="457200" y="2889504"/>
            <a:ext cx="1645920" cy="347472"/>
          </a:xfrm>
          <a:prstGeom prst="rect">
            <a:avLst/>
          </a:prstGeom>
          <a:noFill/>
        </p:spPr>
        <p:txBody>
          <a:bodyPr wrap="square">
            <a:spAutoFit/>
          </a:bodyPr>
          <a:lstStyle/>
          <a:p>
            <a:pPr algn="l"/>
            <a:r>
              <a:rPr sz="1200" b="1">
                <a:solidFill>
                  <a:srgbClr val="404040"/>
                </a:solidFill>
              </a:rPr>
              <a:t>Speed:</a:t>
            </a:r>
          </a:p>
        </p:txBody>
      </p:sp>
      <p:sp>
        <p:nvSpPr>
          <p:cNvPr id="15" name="TextBox 14"/>
          <p:cNvSpPr txBox="1"/>
          <p:nvPr/>
        </p:nvSpPr>
        <p:spPr>
          <a:xfrm>
            <a:off x="2194560" y="2889504"/>
            <a:ext cx="3291840" cy="347472"/>
          </a:xfrm>
          <a:prstGeom prst="rect">
            <a:avLst/>
          </a:prstGeom>
          <a:noFill/>
        </p:spPr>
        <p:txBody>
          <a:bodyPr wrap="square">
            <a:spAutoFit/>
          </a:bodyPr>
          <a:lstStyle/>
          <a:p>
            <a:pPr algn="l"/>
            <a:r>
              <a:rPr sz="1200" b="0">
                <a:solidFill>
                  <a:srgbClr val="404040"/>
                </a:solidFill>
              </a:rPr>
              <a:t>~3–5 samples / second</a:t>
            </a:r>
          </a:p>
        </p:txBody>
      </p:sp>
      <p:sp>
        <p:nvSpPr>
          <p:cNvPr id="16" name="TextBox 15"/>
          <p:cNvSpPr txBox="1"/>
          <p:nvPr/>
        </p:nvSpPr>
        <p:spPr>
          <a:xfrm>
            <a:off x="457200" y="3273552"/>
            <a:ext cx="1645920" cy="347472"/>
          </a:xfrm>
          <a:prstGeom prst="rect">
            <a:avLst/>
          </a:prstGeom>
          <a:noFill/>
        </p:spPr>
        <p:txBody>
          <a:bodyPr wrap="square">
            <a:spAutoFit/>
          </a:bodyPr>
          <a:lstStyle/>
          <a:p>
            <a:pPr algn="l"/>
            <a:r>
              <a:rPr sz="1200" b="1">
                <a:solidFill>
                  <a:srgbClr val="404040"/>
                </a:solidFill>
              </a:rPr>
              <a:t>Arabic skill:</a:t>
            </a:r>
          </a:p>
        </p:txBody>
      </p:sp>
      <p:sp>
        <p:nvSpPr>
          <p:cNvPr id="17" name="TextBox 16"/>
          <p:cNvSpPr txBox="1"/>
          <p:nvPr/>
        </p:nvSpPr>
        <p:spPr>
          <a:xfrm>
            <a:off x="2194560" y="3273552"/>
            <a:ext cx="3291840" cy="347472"/>
          </a:xfrm>
          <a:prstGeom prst="rect">
            <a:avLst/>
          </a:prstGeom>
          <a:noFill/>
        </p:spPr>
        <p:txBody>
          <a:bodyPr wrap="square">
            <a:spAutoFit/>
          </a:bodyPr>
          <a:lstStyle/>
          <a:p>
            <a:pPr algn="l"/>
            <a:r>
              <a:rPr sz="1200" b="0">
                <a:solidFill>
                  <a:srgbClr val="404040"/>
                </a:solidFill>
              </a:rPr>
              <a:t>Good — multilingual training data</a:t>
            </a:r>
          </a:p>
        </p:txBody>
      </p:sp>
      <p:sp>
        <p:nvSpPr>
          <p:cNvPr id="18" name="TextBox 17"/>
          <p:cNvSpPr txBox="1"/>
          <p:nvPr/>
        </p:nvSpPr>
        <p:spPr>
          <a:xfrm>
            <a:off x="457200" y="3657600"/>
            <a:ext cx="1645920" cy="347472"/>
          </a:xfrm>
          <a:prstGeom prst="rect">
            <a:avLst/>
          </a:prstGeom>
          <a:noFill/>
        </p:spPr>
        <p:txBody>
          <a:bodyPr wrap="square">
            <a:spAutoFit/>
          </a:bodyPr>
          <a:lstStyle/>
          <a:p>
            <a:pPr algn="l"/>
            <a:r>
              <a:rPr sz="1200" b="1">
                <a:solidFill>
                  <a:srgbClr val="404040"/>
                </a:solidFill>
              </a:rPr>
              <a:t>Limitation:</a:t>
            </a:r>
          </a:p>
        </p:txBody>
      </p:sp>
      <p:sp>
        <p:nvSpPr>
          <p:cNvPr id="19" name="TextBox 18"/>
          <p:cNvSpPr txBox="1"/>
          <p:nvPr/>
        </p:nvSpPr>
        <p:spPr>
          <a:xfrm>
            <a:off x="2194560" y="3657600"/>
            <a:ext cx="3291840" cy="347472"/>
          </a:xfrm>
          <a:prstGeom prst="rect">
            <a:avLst/>
          </a:prstGeom>
          <a:noFill/>
        </p:spPr>
        <p:txBody>
          <a:bodyPr wrap="square">
            <a:spAutoFit/>
          </a:bodyPr>
          <a:lstStyle/>
          <a:p>
            <a:pPr algn="l"/>
            <a:r>
              <a:rPr sz="1200" b="0">
                <a:solidFill>
                  <a:srgbClr val="404040"/>
                </a:solidFill>
              </a:rPr>
              <a:t>Borderline word-validity decisions;
limited orthographic certainty → over-corrects</a:t>
            </a:r>
          </a:p>
        </p:txBody>
      </p:sp>
      <p:sp>
        <p:nvSpPr>
          <p:cNvPr id="20" name="Rectangle 19"/>
          <p:cNvSpPr/>
          <p:nvPr/>
        </p:nvSpPr>
        <p:spPr>
          <a:xfrm>
            <a:off x="320040" y="4526280"/>
            <a:ext cx="5394960" cy="2057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572000"/>
            <a:ext cx="5212080" cy="320040"/>
          </a:xfrm>
          <a:prstGeom prst="rect">
            <a:avLst/>
          </a:prstGeom>
          <a:noFill/>
        </p:spPr>
        <p:txBody>
          <a:bodyPr wrap="square">
            <a:spAutoFit/>
          </a:bodyPr>
          <a:lstStyle/>
          <a:p>
            <a:pPr algn="l"/>
            <a:r>
              <a:rPr sz="1400" b="1">
                <a:solidFill>
                  <a:srgbClr val="1F3864"/>
                </a:solidFill>
              </a:rPr>
              <a:t>Expected Impact of Larger Model</a:t>
            </a:r>
          </a:p>
        </p:txBody>
      </p:sp>
      <p:sp>
        <p:nvSpPr>
          <p:cNvPr id="22" name="TextBox 21"/>
          <p:cNvSpPr txBox="1"/>
          <p:nvPr/>
        </p:nvSpPr>
        <p:spPr>
          <a:xfrm>
            <a:off x="457200" y="4983480"/>
            <a:ext cx="1005840" cy="457200"/>
          </a:xfrm>
          <a:prstGeom prst="rect">
            <a:avLst/>
          </a:prstGeom>
          <a:noFill/>
        </p:spPr>
        <p:txBody>
          <a:bodyPr wrap="square">
            <a:spAutoFit/>
          </a:bodyPr>
          <a:lstStyle/>
          <a:p>
            <a:pPr algn="l"/>
            <a:r>
              <a:rPr sz="1200" b="1">
                <a:solidFill>
                  <a:srgbClr val="1F3864"/>
                </a:solidFill>
              </a:rPr>
              <a:t>PATS:  </a:t>
            </a:r>
          </a:p>
        </p:txBody>
      </p:sp>
      <p:sp>
        <p:nvSpPr>
          <p:cNvPr id="23" name="TextBox 22"/>
          <p:cNvSpPr txBox="1"/>
          <p:nvPr/>
        </p:nvSpPr>
        <p:spPr>
          <a:xfrm>
            <a:off x="1463040" y="4983480"/>
            <a:ext cx="4114800" cy="457200"/>
          </a:xfrm>
          <a:prstGeom prst="rect">
            <a:avLst/>
          </a:prstGeom>
          <a:noFill/>
        </p:spPr>
        <p:txBody>
          <a:bodyPr wrap="square">
            <a:spAutoFit/>
          </a:bodyPr>
          <a:lstStyle/>
          <a:p>
            <a:pPr algn="l"/>
            <a:r>
              <a:rPr sz="1200" b="0">
                <a:solidFill>
                  <a:srgbClr val="404040"/>
                </a:solidFill>
              </a:rPr>
              <a:t>Better morphological knowledge → fewer false
positives → CER closer to baseline</a:t>
            </a:r>
          </a:p>
        </p:txBody>
      </p:sp>
      <p:sp>
        <p:nvSpPr>
          <p:cNvPr id="24" name="TextBox 23"/>
          <p:cNvSpPr txBox="1"/>
          <p:nvPr/>
        </p:nvSpPr>
        <p:spPr>
          <a:xfrm>
            <a:off x="457200" y="5486400"/>
            <a:ext cx="1005840" cy="457200"/>
          </a:xfrm>
          <a:prstGeom prst="rect">
            <a:avLst/>
          </a:prstGeom>
          <a:noFill/>
        </p:spPr>
        <p:txBody>
          <a:bodyPr wrap="square">
            <a:spAutoFit/>
          </a:bodyPr>
          <a:lstStyle/>
          <a:p>
            <a:pPr algn="l"/>
            <a:r>
              <a:rPr sz="1200" b="1">
                <a:solidFill>
                  <a:srgbClr val="1F3864"/>
                </a:solidFill>
              </a:rPr>
              <a:t>KHATT: </a:t>
            </a:r>
          </a:p>
        </p:txBody>
      </p:sp>
      <p:sp>
        <p:nvSpPr>
          <p:cNvPr id="25" name="TextBox 24"/>
          <p:cNvSpPr txBox="1"/>
          <p:nvPr/>
        </p:nvSpPr>
        <p:spPr>
          <a:xfrm>
            <a:off x="1463040" y="5486400"/>
            <a:ext cx="4114800" cy="457200"/>
          </a:xfrm>
          <a:prstGeom prst="rect">
            <a:avLst/>
          </a:prstGeom>
          <a:noFill/>
        </p:spPr>
        <p:txBody>
          <a:bodyPr wrap="square">
            <a:spAutoFit/>
          </a:bodyPr>
          <a:lstStyle/>
          <a:p>
            <a:pPr algn="l"/>
            <a:r>
              <a:rPr sz="1200" b="0">
                <a:solidFill>
                  <a:srgbClr val="404040"/>
                </a:solidFill>
              </a:rPr>
              <a:t>Stronger context modelling → better error detection</a:t>
            </a:r>
          </a:p>
        </p:txBody>
      </p:sp>
      <p:sp>
        <p:nvSpPr>
          <p:cNvPr id="26" name="TextBox 25"/>
          <p:cNvSpPr txBox="1"/>
          <p:nvPr/>
        </p:nvSpPr>
        <p:spPr>
          <a:xfrm>
            <a:off x="457200" y="5989320"/>
            <a:ext cx="1005840" cy="457200"/>
          </a:xfrm>
          <a:prstGeom prst="rect">
            <a:avLst/>
          </a:prstGeom>
          <a:noFill/>
        </p:spPr>
        <p:txBody>
          <a:bodyPr wrap="square">
            <a:spAutoFit/>
          </a:bodyPr>
          <a:lstStyle/>
          <a:p>
            <a:pPr algn="l"/>
            <a:r>
              <a:rPr sz="1200" b="1">
                <a:solidFill>
                  <a:srgbClr val="1F3864"/>
                </a:solidFill>
              </a:rPr>
              <a:t>RAG:   </a:t>
            </a:r>
          </a:p>
        </p:txBody>
      </p:sp>
      <p:sp>
        <p:nvSpPr>
          <p:cNvPr id="27" name="TextBox 26"/>
          <p:cNvSpPr txBox="1"/>
          <p:nvPr/>
        </p:nvSpPr>
        <p:spPr>
          <a:xfrm>
            <a:off x="1463040" y="5989320"/>
            <a:ext cx="4114800" cy="457200"/>
          </a:xfrm>
          <a:prstGeom prst="rect">
            <a:avLst/>
          </a:prstGeom>
          <a:noFill/>
        </p:spPr>
        <p:txBody>
          <a:bodyPr wrap="square">
            <a:spAutoFit/>
          </a:bodyPr>
          <a:lstStyle/>
          <a:p>
            <a:pPr algn="l"/>
            <a:r>
              <a:rPr sz="1200" b="0">
                <a:solidFill>
                  <a:srgbClr val="404040"/>
                </a:solidFill>
              </a:rPr>
              <a:t>Higher reasoning capacity → better use of examples</a:t>
            </a:r>
          </a:p>
        </p:txBody>
      </p:sp>
      <p:sp>
        <p:nvSpPr>
          <p:cNvPr id="28" name="Rectangle 27"/>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Candidate Larger Models</a:t>
            </a:r>
          </a:p>
        </p:txBody>
      </p:sp>
      <p:sp>
        <p:nvSpPr>
          <p:cNvPr id="30" name="Rectangle 29"/>
          <p:cNvSpPr/>
          <p:nvPr/>
        </p:nvSpPr>
        <p:spPr>
          <a:xfrm>
            <a:off x="6035040" y="171907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1773936"/>
            <a:ext cx="5486400" cy="320040"/>
          </a:xfrm>
          <a:prstGeom prst="rect">
            <a:avLst/>
          </a:prstGeom>
          <a:noFill/>
        </p:spPr>
        <p:txBody>
          <a:bodyPr wrap="square">
            <a:spAutoFit/>
          </a:bodyPr>
          <a:lstStyle/>
          <a:p>
            <a:pPr algn="l"/>
            <a:r>
              <a:rPr sz="1400" b="1">
                <a:solidFill>
                  <a:srgbClr val="FFFFFF"/>
                </a:solidFill>
              </a:rPr>
              <a:t>Qwen3-14B</a:t>
            </a:r>
          </a:p>
        </p:txBody>
      </p:sp>
      <p:sp>
        <p:nvSpPr>
          <p:cNvPr id="32" name="TextBox 31"/>
          <p:cNvSpPr txBox="1"/>
          <p:nvPr/>
        </p:nvSpPr>
        <p:spPr>
          <a:xfrm>
            <a:off x="6172200" y="2112264"/>
            <a:ext cx="5486400" cy="256032"/>
          </a:xfrm>
          <a:prstGeom prst="rect">
            <a:avLst/>
          </a:prstGeom>
          <a:noFill/>
        </p:spPr>
        <p:txBody>
          <a:bodyPr wrap="square">
            <a:spAutoFit/>
          </a:bodyPr>
          <a:lstStyle/>
          <a:p>
            <a:pPr algn="l"/>
            <a:r>
              <a:rPr sz="1100" b="0">
                <a:solidFill>
                  <a:srgbClr val="BDD7EE"/>
                </a:solidFill>
              </a:rPr>
              <a:t>Size: 14B dense  ·  Platform: Kaggle A100</a:t>
            </a:r>
          </a:p>
        </p:txBody>
      </p:sp>
      <p:sp>
        <p:nvSpPr>
          <p:cNvPr id="33" name="TextBox 32"/>
          <p:cNvSpPr txBox="1"/>
          <p:nvPr/>
        </p:nvSpPr>
        <p:spPr>
          <a:xfrm>
            <a:off x="6172200" y="2386584"/>
            <a:ext cx="5486400" cy="347472"/>
          </a:xfrm>
          <a:prstGeom prst="rect">
            <a:avLst/>
          </a:prstGeom>
          <a:noFill/>
        </p:spPr>
        <p:txBody>
          <a:bodyPr wrap="square">
            <a:spAutoFit/>
          </a:bodyPr>
          <a:lstStyle/>
          <a:p>
            <a:pPr algn="l"/>
            <a:r>
              <a:rPr sz="1100" b="0">
                <a:solidFill>
                  <a:srgbClr val="F2F2F2"/>
                </a:solidFill>
              </a:rPr>
              <a:t>Recommended: same family as current;
3.5x parameters, direct comparison</a:t>
            </a:r>
          </a:p>
        </p:txBody>
      </p:sp>
      <p:sp>
        <p:nvSpPr>
          <p:cNvPr id="34" name="Rectangle 33"/>
          <p:cNvSpPr/>
          <p:nvPr/>
        </p:nvSpPr>
        <p:spPr>
          <a:xfrm>
            <a:off x="6035040" y="295351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3008376"/>
            <a:ext cx="5486400" cy="320040"/>
          </a:xfrm>
          <a:prstGeom prst="rect">
            <a:avLst/>
          </a:prstGeom>
          <a:noFill/>
        </p:spPr>
        <p:txBody>
          <a:bodyPr wrap="square">
            <a:spAutoFit/>
          </a:bodyPr>
          <a:lstStyle/>
          <a:p>
            <a:pPr algn="l"/>
            <a:r>
              <a:rPr sz="1400" b="1">
                <a:solidFill>
                  <a:srgbClr val="FFFFFF"/>
                </a:solidFill>
              </a:rPr>
              <a:t>Qwen3-30B-A3B (MoE)</a:t>
            </a:r>
          </a:p>
        </p:txBody>
      </p:sp>
      <p:sp>
        <p:nvSpPr>
          <p:cNvPr id="36" name="TextBox 35"/>
          <p:cNvSpPr txBox="1"/>
          <p:nvPr/>
        </p:nvSpPr>
        <p:spPr>
          <a:xfrm>
            <a:off x="6172200" y="3346704"/>
            <a:ext cx="5486400" cy="256032"/>
          </a:xfrm>
          <a:prstGeom prst="rect">
            <a:avLst/>
          </a:prstGeom>
          <a:noFill/>
        </p:spPr>
        <p:txBody>
          <a:bodyPr wrap="square">
            <a:spAutoFit/>
          </a:bodyPr>
          <a:lstStyle/>
          <a:p>
            <a:pPr algn="l"/>
            <a:r>
              <a:rPr sz="1100" b="0">
                <a:solidFill>
                  <a:srgbClr val="BDD7EE"/>
                </a:solidFill>
              </a:rPr>
              <a:t>Size: 30B / 3B active  ·  Platform: Kaggle A100</a:t>
            </a:r>
          </a:p>
        </p:txBody>
      </p:sp>
      <p:sp>
        <p:nvSpPr>
          <p:cNvPr id="37" name="TextBox 36"/>
          <p:cNvSpPr txBox="1"/>
          <p:nvPr/>
        </p:nvSpPr>
        <p:spPr>
          <a:xfrm>
            <a:off x="6172200" y="3621024"/>
            <a:ext cx="5486400" cy="347472"/>
          </a:xfrm>
          <a:prstGeom prst="rect">
            <a:avLst/>
          </a:prstGeom>
          <a:noFill/>
        </p:spPr>
        <p:txBody>
          <a:bodyPr wrap="square">
            <a:spAutoFit/>
          </a:bodyPr>
          <a:lstStyle/>
          <a:p>
            <a:pPr algn="l"/>
            <a:r>
              <a:rPr sz="1100" b="0">
                <a:solidFill>
                  <a:srgbClr val="F2F2F2"/>
                </a:solidFill>
              </a:rPr>
              <a:t>Efficient MoE; near 14B quality
at fraction of compute</a:t>
            </a:r>
          </a:p>
        </p:txBody>
      </p:sp>
      <p:sp>
        <p:nvSpPr>
          <p:cNvPr id="38" name="Rectangle 37"/>
          <p:cNvSpPr/>
          <p:nvPr/>
        </p:nvSpPr>
        <p:spPr>
          <a:xfrm>
            <a:off x="6035040" y="418795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4242816"/>
            <a:ext cx="5486400" cy="320040"/>
          </a:xfrm>
          <a:prstGeom prst="rect">
            <a:avLst/>
          </a:prstGeom>
          <a:noFill/>
        </p:spPr>
        <p:txBody>
          <a:bodyPr wrap="square">
            <a:spAutoFit/>
          </a:bodyPr>
          <a:lstStyle/>
          <a:p>
            <a:pPr algn="l"/>
            <a:r>
              <a:rPr sz="1400" b="1">
                <a:solidFill>
                  <a:srgbClr val="FFFFFF"/>
                </a:solidFill>
              </a:rPr>
              <a:t>Qwen3-32B</a:t>
            </a:r>
          </a:p>
        </p:txBody>
      </p:sp>
      <p:sp>
        <p:nvSpPr>
          <p:cNvPr id="40" name="TextBox 39"/>
          <p:cNvSpPr txBox="1"/>
          <p:nvPr/>
        </p:nvSpPr>
        <p:spPr>
          <a:xfrm>
            <a:off x="6172200" y="4581144"/>
            <a:ext cx="5486400" cy="256032"/>
          </a:xfrm>
          <a:prstGeom prst="rect">
            <a:avLst/>
          </a:prstGeom>
          <a:noFill/>
        </p:spPr>
        <p:txBody>
          <a:bodyPr wrap="square">
            <a:spAutoFit/>
          </a:bodyPr>
          <a:lstStyle/>
          <a:p>
            <a:pPr algn="l"/>
            <a:r>
              <a:rPr sz="1100" b="0">
                <a:solidFill>
                  <a:srgbClr val="BDD7EE"/>
                </a:solidFill>
              </a:rPr>
              <a:t>Size: 32B dense  ·  Platform: 2x Kaggle A100</a:t>
            </a:r>
          </a:p>
        </p:txBody>
      </p:sp>
      <p:sp>
        <p:nvSpPr>
          <p:cNvPr id="41" name="TextBox 40"/>
          <p:cNvSpPr txBox="1"/>
          <p:nvPr/>
        </p:nvSpPr>
        <p:spPr>
          <a:xfrm>
            <a:off x="6172200" y="4855464"/>
            <a:ext cx="5486400" cy="347472"/>
          </a:xfrm>
          <a:prstGeom prst="rect">
            <a:avLst/>
          </a:prstGeom>
          <a:noFill/>
        </p:spPr>
        <p:txBody>
          <a:bodyPr wrap="square">
            <a:spAutoFit/>
          </a:bodyPr>
          <a:lstStyle/>
          <a:p>
            <a:pPr algn="l"/>
            <a:r>
              <a:rPr sz="1100" b="0">
                <a:solidFill>
                  <a:srgbClr val="F2F2F2"/>
                </a:solidFill>
              </a:rPr>
              <a:t>Largest accessible Qwen3;
may need quantization</a:t>
            </a:r>
          </a:p>
        </p:txBody>
      </p:sp>
      <p:sp>
        <p:nvSpPr>
          <p:cNvPr id="42" name="Rectangle 41"/>
          <p:cNvSpPr/>
          <p:nvPr/>
        </p:nvSpPr>
        <p:spPr>
          <a:xfrm>
            <a:off x="6035040" y="542239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72200" y="5477256"/>
            <a:ext cx="5486400" cy="320040"/>
          </a:xfrm>
          <a:prstGeom prst="rect">
            <a:avLst/>
          </a:prstGeom>
          <a:noFill/>
        </p:spPr>
        <p:txBody>
          <a:bodyPr wrap="square">
            <a:spAutoFit/>
          </a:bodyPr>
          <a:lstStyle/>
          <a:p>
            <a:pPr algn="l"/>
            <a:r>
              <a:rPr sz="1400" b="1">
                <a:solidFill>
                  <a:srgbClr val="FFFFFF"/>
                </a:solidFill>
              </a:rPr>
              <a:t>Llama-3.3-70B-Q4</a:t>
            </a:r>
          </a:p>
        </p:txBody>
      </p:sp>
      <p:sp>
        <p:nvSpPr>
          <p:cNvPr id="44" name="TextBox 43"/>
          <p:cNvSpPr txBox="1"/>
          <p:nvPr/>
        </p:nvSpPr>
        <p:spPr>
          <a:xfrm>
            <a:off x="6172200" y="5815584"/>
            <a:ext cx="5486400" cy="256032"/>
          </a:xfrm>
          <a:prstGeom prst="rect">
            <a:avLst/>
          </a:prstGeom>
          <a:noFill/>
        </p:spPr>
        <p:txBody>
          <a:bodyPr wrap="square">
            <a:spAutoFit/>
          </a:bodyPr>
          <a:lstStyle/>
          <a:p>
            <a:pPr algn="l"/>
            <a:r>
              <a:rPr sz="1100" b="0">
                <a:solidFill>
                  <a:srgbClr val="BDD7EE"/>
                </a:solidFill>
              </a:rPr>
              <a:t>Size: 70B (4-bit)  ·  Platform: Colab Pro+</a:t>
            </a:r>
          </a:p>
        </p:txBody>
      </p:sp>
      <p:sp>
        <p:nvSpPr>
          <p:cNvPr id="45" name="TextBox 44"/>
          <p:cNvSpPr txBox="1"/>
          <p:nvPr/>
        </p:nvSpPr>
        <p:spPr>
          <a:xfrm>
            <a:off x="6172200" y="6089904"/>
            <a:ext cx="5486400" cy="347472"/>
          </a:xfrm>
          <a:prstGeom prst="rect">
            <a:avLst/>
          </a:prstGeom>
          <a:noFill/>
        </p:spPr>
        <p:txBody>
          <a:bodyPr wrap="square">
            <a:spAutoFit/>
          </a:bodyPr>
          <a:lstStyle/>
          <a:p>
            <a:pPr algn="l"/>
            <a:r>
              <a:rPr sz="1100" b="0">
                <a:solidFill>
                  <a:srgbClr val="F2F2F2"/>
                </a:solidFill>
              </a:rPr>
              <a:t>Strong Arabic; higher cost;
different architecture</a:t>
            </a:r>
          </a:p>
        </p:txBody>
      </p:sp>
      <p:sp>
        <p:nvSpPr>
          <p:cNvPr id="46" name="TextBox 45"/>
          <p:cNvSpPr txBox="1"/>
          <p:nvPr/>
        </p:nvSpPr>
        <p:spPr>
          <a:xfrm>
            <a:off x="6080760" y="6510528"/>
            <a:ext cx="5669280" cy="274320"/>
          </a:xfrm>
          <a:prstGeom prst="rect">
            <a:avLst/>
          </a:prstGeom>
          <a:noFill/>
        </p:spPr>
        <p:txBody>
          <a:bodyPr wrap="square">
            <a:spAutoFit/>
          </a:bodyPr>
          <a:lstStyle/>
          <a:p>
            <a:pPr algn="l"/>
            <a:r>
              <a:rPr sz="1200" b="1">
                <a:solidFill>
                  <a:srgbClr val="FFC000"/>
                </a:solidFill>
              </a:rPr>
              <a:t>Start with Qwen3-14B — same tokenizer, minimal code changes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Steps &amp; Timeline</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targeted experiments before thesis finalisation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13 / 15</a:t>
            </a:r>
          </a:p>
        </p:txBody>
      </p:sp>
      <p:sp>
        <p:nvSpPr>
          <p:cNvPr id="6" name="Rectangle 5"/>
          <p:cNvSpPr/>
          <p:nvPr/>
        </p:nvSpPr>
        <p:spPr>
          <a:xfrm>
            <a:off x="320040" y="1280160"/>
            <a:ext cx="502920"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00200"/>
            <a:ext cx="502920" cy="502920"/>
          </a:xfrm>
          <a:prstGeom prst="rect">
            <a:avLst/>
          </a:prstGeom>
          <a:noFill/>
        </p:spPr>
        <p:txBody>
          <a:bodyPr wrap="square">
            <a:spAutoFit/>
          </a:bodyPr>
          <a:lstStyle/>
          <a:p>
            <a:pPr algn="ctr"/>
            <a:r>
              <a:rPr sz="2800" b="1">
                <a:solidFill>
                  <a:srgbClr val="FFFFFF"/>
                </a:solidFill>
              </a:rPr>
              <a:t>1</a:t>
            </a:r>
          </a:p>
        </p:txBody>
      </p:sp>
      <p:sp>
        <p:nvSpPr>
          <p:cNvPr id="8" name="Rectangle 7"/>
          <p:cNvSpPr/>
          <p:nvPr/>
        </p:nvSpPr>
        <p:spPr>
          <a:xfrm>
            <a:off x="868680" y="12801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25880"/>
            <a:ext cx="7772400" cy="347472"/>
          </a:xfrm>
          <a:prstGeom prst="rect">
            <a:avLst/>
          </a:prstGeom>
          <a:noFill/>
        </p:spPr>
        <p:txBody>
          <a:bodyPr wrap="square">
            <a:spAutoFit/>
          </a:bodyPr>
          <a:lstStyle/>
          <a:p>
            <a:pPr algn="l"/>
            <a:r>
              <a:rPr sz="1400" b="1">
                <a:solidFill>
                  <a:srgbClr val="1F3864"/>
                </a:solidFill>
              </a:rPr>
              <a:t>Implement p2v3 (ultra-conservative prompt)</a:t>
            </a:r>
          </a:p>
        </p:txBody>
      </p:sp>
      <p:sp>
        <p:nvSpPr>
          <p:cNvPr id="10" name="TextBox 9"/>
          <p:cNvSpPr txBox="1"/>
          <p:nvPr/>
        </p:nvSpPr>
        <p:spPr>
          <a:xfrm>
            <a:off x="960120" y="1691640"/>
            <a:ext cx="7772400" cy="685800"/>
          </a:xfrm>
          <a:prstGeom prst="rect">
            <a:avLst/>
          </a:prstGeom>
          <a:noFill/>
        </p:spPr>
        <p:txBody>
          <a:bodyPr wrap="square">
            <a:spAutoFit/>
          </a:bodyPr>
          <a:lstStyle/>
          <a:p>
            <a:pPr algn="l"/>
            <a:r>
              <a:rPr sz="1100" b="0">
                <a:solidFill>
                  <a:srgbClr val="404040"/>
                </a:solidFill>
              </a:rPr>
              <a:t>Add prompt version to PromptBuilder.build_zero_shot(version='v3')
Update config to allow phase2.prompt_version: p2v3
Run export → infer → analyze on all 9 datasets</a:t>
            </a:r>
          </a:p>
        </p:txBody>
      </p:sp>
      <p:sp>
        <p:nvSpPr>
          <p:cNvPr id="11" name="Rectangle 10"/>
          <p:cNvSpPr/>
          <p:nvPr/>
        </p:nvSpPr>
        <p:spPr>
          <a:xfrm>
            <a:off x="10835640" y="1280160"/>
            <a:ext cx="987552"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1600200"/>
            <a:ext cx="987552" cy="548640"/>
          </a:xfrm>
          <a:prstGeom prst="rect">
            <a:avLst/>
          </a:prstGeom>
          <a:noFill/>
        </p:spPr>
        <p:txBody>
          <a:bodyPr wrap="square">
            <a:spAutoFit/>
          </a:bodyPr>
          <a:lstStyle/>
          <a:p>
            <a:pPr algn="ctr"/>
            <a:r>
              <a:rPr sz="1100" b="1">
                <a:solidFill>
                  <a:srgbClr val="FFFFFF"/>
                </a:solidFill>
              </a:rPr>
              <a:t>~1 week</a:t>
            </a:r>
          </a:p>
        </p:txBody>
      </p:sp>
      <p:sp>
        <p:nvSpPr>
          <p:cNvPr id="13" name="Rectangle 12"/>
          <p:cNvSpPr/>
          <p:nvPr/>
        </p:nvSpPr>
        <p:spPr>
          <a:xfrm>
            <a:off x="320040" y="2651760"/>
            <a:ext cx="502920"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971800"/>
            <a:ext cx="502920" cy="502920"/>
          </a:xfrm>
          <a:prstGeom prst="rect">
            <a:avLst/>
          </a:prstGeom>
          <a:noFill/>
        </p:spPr>
        <p:txBody>
          <a:bodyPr wrap="square">
            <a:spAutoFit/>
          </a:bodyPr>
          <a:lstStyle/>
          <a:p>
            <a:pPr algn="ctr"/>
            <a:r>
              <a:rPr sz="2800" b="1">
                <a:solidFill>
                  <a:srgbClr val="FFFFFF"/>
                </a:solidFill>
              </a:rPr>
              <a:t>2</a:t>
            </a:r>
          </a:p>
        </p:txBody>
      </p:sp>
      <p:sp>
        <p:nvSpPr>
          <p:cNvPr id="15" name="Rectangle 14"/>
          <p:cNvSpPr/>
          <p:nvPr/>
        </p:nvSpPr>
        <p:spPr>
          <a:xfrm>
            <a:off x="868680" y="26517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97480"/>
            <a:ext cx="7772400" cy="347472"/>
          </a:xfrm>
          <a:prstGeom prst="rect">
            <a:avLst/>
          </a:prstGeom>
          <a:noFill/>
        </p:spPr>
        <p:txBody>
          <a:bodyPr wrap="square">
            <a:spAutoFit/>
          </a:bodyPr>
          <a:lstStyle/>
          <a:p>
            <a:pPr algn="l"/>
            <a:r>
              <a:rPr sz="1400" b="1">
                <a:solidFill>
                  <a:srgbClr val="1F3864"/>
                </a:solidFill>
              </a:rPr>
              <a:t>Run p2v2 + p2v3 on Qwen3-14B</a:t>
            </a:r>
          </a:p>
        </p:txBody>
      </p:sp>
      <p:sp>
        <p:nvSpPr>
          <p:cNvPr id="17" name="TextBox 16"/>
          <p:cNvSpPr txBox="1"/>
          <p:nvPr/>
        </p:nvSpPr>
        <p:spPr>
          <a:xfrm>
            <a:off x="960120" y="3063240"/>
            <a:ext cx="7772400" cy="685800"/>
          </a:xfrm>
          <a:prstGeom prst="rect">
            <a:avLst/>
          </a:prstGeom>
          <a:noFill/>
        </p:spPr>
        <p:txBody>
          <a:bodyPr wrap="square">
            <a:spAutoFit/>
          </a:bodyPr>
          <a:lstStyle/>
          <a:p>
            <a:pPr algn="l"/>
            <a:r>
              <a:rPr sz="1100" b="0">
                <a:solidFill>
                  <a:srgbClr val="404040"/>
                </a:solidFill>
              </a:rPr>
              <a:t>Use same 3-stage pipeline (export → infer on Kaggle A100 → analyze)
Compare: 4B-p2v2, 4B-p2v3, 14B-p2v2, 14B-p2v3 (2x2 design)
Also run Phase 8 (RAG) with 14B to measure retrieval interaction</a:t>
            </a:r>
          </a:p>
        </p:txBody>
      </p:sp>
      <p:sp>
        <p:nvSpPr>
          <p:cNvPr id="18" name="Rectangle 17"/>
          <p:cNvSpPr/>
          <p:nvPr/>
        </p:nvSpPr>
        <p:spPr>
          <a:xfrm>
            <a:off x="10835640" y="2651760"/>
            <a:ext cx="987552"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971800"/>
            <a:ext cx="987552" cy="548640"/>
          </a:xfrm>
          <a:prstGeom prst="rect">
            <a:avLst/>
          </a:prstGeom>
          <a:noFill/>
        </p:spPr>
        <p:txBody>
          <a:bodyPr wrap="square">
            <a:spAutoFit/>
          </a:bodyPr>
          <a:lstStyle/>
          <a:p>
            <a:pPr algn="ctr"/>
            <a:r>
              <a:rPr sz="1100" b="1">
                <a:solidFill>
                  <a:srgbClr val="FFFFFF"/>
                </a:solidFill>
              </a:rPr>
              <a:t>~2 weeks</a:t>
            </a:r>
          </a:p>
        </p:txBody>
      </p:sp>
      <p:sp>
        <p:nvSpPr>
          <p:cNvPr id="20" name="Rectangle 19"/>
          <p:cNvSpPr/>
          <p:nvPr/>
        </p:nvSpPr>
        <p:spPr>
          <a:xfrm>
            <a:off x="320040" y="4023360"/>
            <a:ext cx="50292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343400"/>
            <a:ext cx="502920" cy="502920"/>
          </a:xfrm>
          <a:prstGeom prst="rect">
            <a:avLst/>
          </a:prstGeom>
          <a:noFill/>
        </p:spPr>
        <p:txBody>
          <a:bodyPr wrap="square">
            <a:spAutoFit/>
          </a:bodyPr>
          <a:lstStyle/>
          <a:p>
            <a:pPr algn="ctr"/>
            <a:r>
              <a:rPr sz="2800" b="1">
                <a:solidFill>
                  <a:srgbClr val="FFFFFF"/>
                </a:solidFill>
              </a:rPr>
              <a:t>3</a:t>
            </a:r>
          </a:p>
        </p:txBody>
      </p:sp>
      <p:sp>
        <p:nvSpPr>
          <p:cNvPr id="22" name="Rectangle 21"/>
          <p:cNvSpPr/>
          <p:nvPr/>
        </p:nvSpPr>
        <p:spPr>
          <a:xfrm>
            <a:off x="868680" y="40233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069080"/>
            <a:ext cx="7772400" cy="347472"/>
          </a:xfrm>
          <a:prstGeom prst="rect">
            <a:avLst/>
          </a:prstGeom>
          <a:noFill/>
        </p:spPr>
        <p:txBody>
          <a:bodyPr wrap="square">
            <a:spAutoFit/>
          </a:bodyPr>
          <a:lstStyle/>
          <a:p>
            <a:pPr algn="l"/>
            <a:r>
              <a:rPr sz="1400" b="1">
                <a:solidFill>
                  <a:srgbClr val="1F3864"/>
                </a:solidFill>
              </a:rPr>
              <a:t>Statistical significance testing</a:t>
            </a:r>
          </a:p>
        </p:txBody>
      </p:sp>
      <p:sp>
        <p:nvSpPr>
          <p:cNvPr id="24" name="TextBox 23"/>
          <p:cNvSpPr txBox="1"/>
          <p:nvPr/>
        </p:nvSpPr>
        <p:spPr>
          <a:xfrm>
            <a:off x="960120" y="4434840"/>
            <a:ext cx="7772400" cy="685800"/>
          </a:xfrm>
          <a:prstGeom prst="rect">
            <a:avLst/>
          </a:prstGeom>
          <a:noFill/>
        </p:spPr>
        <p:txBody>
          <a:bodyPr wrap="square">
            <a:spAutoFit/>
          </a:bodyPr>
          <a:lstStyle/>
          <a:p>
            <a:pPr algn="l"/>
            <a:r>
              <a:rPr sz="1100" b="0">
                <a:solidFill>
                  <a:srgbClr val="404040"/>
                </a:solidFill>
              </a:rPr>
              <a:t>Run bootstrap CIs + paired t-test for best results vs Phase 2 baseline
Bonferroni correction for multiple comparisons across 9 datasets
Also: Wilcoxon signed-rank for non-normal per-sample CER distributions</a:t>
            </a:r>
          </a:p>
        </p:txBody>
      </p:sp>
      <p:sp>
        <p:nvSpPr>
          <p:cNvPr id="25" name="Rectangle 24"/>
          <p:cNvSpPr/>
          <p:nvPr/>
        </p:nvSpPr>
        <p:spPr>
          <a:xfrm>
            <a:off x="10835640" y="4023360"/>
            <a:ext cx="987552"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4343400"/>
            <a:ext cx="987552" cy="548640"/>
          </a:xfrm>
          <a:prstGeom prst="rect">
            <a:avLst/>
          </a:prstGeom>
          <a:noFill/>
        </p:spPr>
        <p:txBody>
          <a:bodyPr wrap="square">
            <a:spAutoFit/>
          </a:bodyPr>
          <a:lstStyle/>
          <a:p>
            <a:pPr algn="ctr"/>
            <a:r>
              <a:rPr sz="1100" b="1">
                <a:solidFill>
                  <a:srgbClr val="FFFFFF"/>
                </a:solidFill>
              </a:rPr>
              <a:t>~3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698480" cy="822960"/>
          </a:xfrm>
          <a:prstGeom prst="rect">
            <a:avLst/>
          </a:prstGeom>
          <a:noFill/>
        </p:spPr>
        <p:txBody>
          <a:bodyPr wrap="square">
            <a:spAutoFit/>
          </a:bodyPr>
          <a:lstStyle/>
          <a:p>
            <a:pPr algn="ctr"/>
            <a:r>
              <a:rPr sz="3600" b="1">
                <a:solidFill>
                  <a:srgbClr val="FFFFFF"/>
                </a:solidFill>
              </a:rPr>
              <a:t>Summary</a:t>
            </a:r>
          </a:p>
        </p:txBody>
      </p:sp>
      <p:sp>
        <p:nvSpPr>
          <p:cNvPr id="5" name="Rectangle 4"/>
          <p:cNvSpPr/>
          <p:nvPr/>
        </p:nvSpPr>
        <p:spPr>
          <a:xfrm>
            <a:off x="548640" y="3017520"/>
            <a:ext cx="457200" cy="82296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301752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54096"/>
            <a:ext cx="10332720" cy="320040"/>
          </a:xfrm>
          <a:prstGeom prst="rect">
            <a:avLst/>
          </a:prstGeom>
          <a:noFill/>
        </p:spPr>
        <p:txBody>
          <a:bodyPr wrap="square">
            <a:spAutoFit/>
          </a:bodyPr>
          <a:lstStyle/>
          <a:p>
            <a:pPr algn="l"/>
            <a:r>
              <a:rPr sz="1500" b="1">
                <a:solidFill>
                  <a:srgbClr val="FFFFFF"/>
                </a:solidFill>
              </a:rPr>
              <a:t>LLMs work well on high-error Arabic OCR</a:t>
            </a:r>
          </a:p>
        </p:txBody>
      </p:sp>
      <p:sp>
        <p:nvSpPr>
          <p:cNvPr id="8" name="TextBox 7"/>
          <p:cNvSpPr txBox="1"/>
          <p:nvPr/>
        </p:nvSpPr>
        <p:spPr>
          <a:xfrm>
            <a:off x="1188720" y="3429000"/>
            <a:ext cx="10332720" cy="347472"/>
          </a:xfrm>
          <a:prstGeom prst="rect">
            <a:avLst/>
          </a:prstGeom>
          <a:noFill/>
        </p:spPr>
        <p:txBody>
          <a:bodyPr wrap="square">
            <a:spAutoFit/>
          </a:bodyPr>
          <a:lstStyle/>
          <a:p>
            <a:pPr algn="l"/>
            <a:r>
              <a:rPr sz="1300" b="0">
                <a:solidFill>
                  <a:srgbClr val="BDD7EE"/>
                </a:solidFill>
              </a:rPr>
              <a:t>KHATT: 51% CER reduction (5.66% → 2.77%) using RAG + Qwen3-4B</a:t>
            </a:r>
          </a:p>
        </p:txBody>
      </p:sp>
      <p:sp>
        <p:nvSpPr>
          <p:cNvPr id="9" name="Rectangle 8"/>
          <p:cNvSpPr/>
          <p:nvPr/>
        </p:nvSpPr>
        <p:spPr>
          <a:xfrm>
            <a:off x="548640" y="3977640"/>
            <a:ext cx="45720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397764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014216"/>
            <a:ext cx="10332720" cy="320040"/>
          </a:xfrm>
          <a:prstGeom prst="rect">
            <a:avLst/>
          </a:prstGeom>
          <a:noFill/>
        </p:spPr>
        <p:txBody>
          <a:bodyPr wrap="square">
            <a:spAutoFit/>
          </a:bodyPr>
          <a:lstStyle/>
          <a:p>
            <a:pPr algn="l"/>
            <a:r>
              <a:rPr sz="1500" b="1">
                <a:solidFill>
                  <a:srgbClr val="FFFFFF"/>
                </a:solidFill>
              </a:rPr>
              <a:t>Prompt engineering regresses on low-error text</a:t>
            </a:r>
          </a:p>
        </p:txBody>
      </p:sp>
      <p:sp>
        <p:nvSpPr>
          <p:cNvPr id="12" name="TextBox 11"/>
          <p:cNvSpPr txBox="1"/>
          <p:nvPr/>
        </p:nvSpPr>
        <p:spPr>
          <a:xfrm>
            <a:off x="1188720" y="4389120"/>
            <a:ext cx="10332720" cy="347472"/>
          </a:xfrm>
          <a:prstGeom prst="rect">
            <a:avLst/>
          </a:prstGeom>
          <a:noFill/>
        </p:spPr>
        <p:txBody>
          <a:bodyPr wrap="square">
            <a:spAutoFit/>
          </a:bodyPr>
          <a:lstStyle/>
          <a:p>
            <a:pPr algn="l"/>
            <a:r>
              <a:rPr sz="1300" b="0">
                <a:solidFill>
                  <a:srgbClr val="BDD7EE"/>
                </a:solidFill>
              </a:rPr>
              <a:t>PATS phases 3/4/6 increase CER vs zero-shot — over-correction at low noise floor</a:t>
            </a:r>
          </a:p>
        </p:txBody>
      </p:sp>
      <p:sp>
        <p:nvSpPr>
          <p:cNvPr id="13" name="Rectangle 12"/>
          <p:cNvSpPr/>
          <p:nvPr/>
        </p:nvSpPr>
        <p:spPr>
          <a:xfrm>
            <a:off x="548640" y="4937760"/>
            <a:ext cx="457200" cy="8229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 y="493776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74336"/>
            <a:ext cx="10332720" cy="320040"/>
          </a:xfrm>
          <a:prstGeom prst="rect">
            <a:avLst/>
          </a:prstGeom>
          <a:noFill/>
        </p:spPr>
        <p:txBody>
          <a:bodyPr wrap="square">
            <a:spAutoFit/>
          </a:bodyPr>
          <a:lstStyle/>
          <a:p>
            <a:pPr algn="l"/>
            <a:r>
              <a:rPr sz="1500" b="1">
                <a:solidFill>
                  <a:srgbClr val="FFFFFF"/>
                </a:solidFill>
              </a:rPr>
              <a:t>RAG (BM25) is the best strategy overall</a:t>
            </a:r>
          </a:p>
        </p:txBody>
      </p:sp>
      <p:sp>
        <p:nvSpPr>
          <p:cNvPr id="16" name="TextBox 15"/>
          <p:cNvSpPr txBox="1"/>
          <p:nvPr/>
        </p:nvSpPr>
        <p:spPr>
          <a:xfrm>
            <a:off x="1188720" y="5349240"/>
            <a:ext cx="10332720" cy="347472"/>
          </a:xfrm>
          <a:prstGeom prst="rect">
            <a:avLst/>
          </a:prstGeom>
          <a:noFill/>
        </p:spPr>
        <p:txBody>
          <a:bodyPr wrap="square">
            <a:spAutoFit/>
          </a:bodyPr>
          <a:lstStyle/>
          <a:p>
            <a:pPr algn="l"/>
            <a:r>
              <a:rPr sz="1300" b="0">
                <a:solidFill>
                  <a:srgbClr val="BDD7EE"/>
                </a:solidFill>
              </a:rPr>
              <a:t>Domain-matched training examples outperform all pure-prompt approaches</a:t>
            </a:r>
          </a:p>
        </p:txBody>
      </p:sp>
      <p:sp>
        <p:nvSpPr>
          <p:cNvPr id="17" name="Rectangle 16"/>
          <p:cNvSpPr/>
          <p:nvPr/>
        </p:nvSpPr>
        <p:spPr>
          <a:xfrm>
            <a:off x="548640" y="5897880"/>
            <a:ext cx="457200" cy="822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51560" y="589788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934456"/>
            <a:ext cx="10332720" cy="320040"/>
          </a:xfrm>
          <a:prstGeom prst="rect">
            <a:avLst/>
          </a:prstGeom>
          <a:noFill/>
        </p:spPr>
        <p:txBody>
          <a:bodyPr wrap="square">
            <a:spAutoFit/>
          </a:bodyPr>
          <a:lstStyle/>
          <a:p>
            <a:pPr algn="l"/>
            <a:r>
              <a:rPr sz="1500" b="1">
                <a:solidFill>
                  <a:srgbClr val="FFFFFF"/>
                </a:solidFill>
              </a:rPr>
              <a:t>Next: conservative prompt + Qwen3-14B</a:t>
            </a:r>
          </a:p>
        </p:txBody>
      </p:sp>
      <p:sp>
        <p:nvSpPr>
          <p:cNvPr id="20" name="TextBox 19"/>
          <p:cNvSpPr txBox="1"/>
          <p:nvPr/>
        </p:nvSpPr>
        <p:spPr>
          <a:xfrm>
            <a:off x="1188720" y="6309360"/>
            <a:ext cx="10332720" cy="347472"/>
          </a:xfrm>
          <a:prstGeom prst="rect">
            <a:avLst/>
          </a:prstGeom>
          <a:noFill/>
        </p:spPr>
        <p:txBody>
          <a:bodyPr wrap="square">
            <a:spAutoFit/>
          </a:bodyPr>
          <a:lstStyle/>
          <a:p>
            <a:pPr algn="l"/>
            <a:r>
              <a:rPr sz="1300" b="0">
                <a:solidFill>
                  <a:srgbClr val="BDD7EE"/>
                </a:solidFill>
              </a:rPr>
              <a:t>p2v3 to reduce false positives; 14B for stronger Arabic orthographic knowledge</a:t>
            </a:r>
          </a:p>
        </p:txBody>
      </p:sp>
      <p:sp>
        <p:nvSpPr>
          <p:cNvPr id="21" name="TextBox 20"/>
          <p:cNvSpPr txBox="1"/>
          <p:nvPr/>
        </p:nvSpPr>
        <p:spPr>
          <a:xfrm>
            <a:off x="731520" y="6492240"/>
            <a:ext cx="10698480" cy="274320"/>
          </a:xfrm>
          <a:prstGeom prst="rect">
            <a:avLst/>
          </a:prstGeom>
          <a:noFill/>
        </p:spPr>
        <p:txBody>
          <a:bodyPr wrap="square">
            <a:spAutoFit/>
          </a:bodyPr>
          <a:lstStyle/>
          <a:p>
            <a:pPr algn="ctr"/>
            <a:r>
              <a:rPr sz="1200" b="0">
                <a:solidFill>
                  <a:srgbClr val="BDD7EE"/>
                </a:solidFill>
              </a:rPr>
              <a:t>Mohamed Sabry · Master's Thesis · May 2026</a:t>
            </a:r>
          </a:p>
        </p:txBody>
      </p:sp>
      <p:sp>
        <p:nvSpPr>
          <p:cNvPr id="22" name="TextBox 21"/>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15 / 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15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Why CER ≈ WER? — The Runaway Effect Explained</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Normal OCR errors: WER &gt; CER  |  Qaari repetition bug: CER ≈ WER  |  Formulas below</a:t>
            </a:r>
          </a:p>
        </p:txBody>
      </p:sp>
      <p:sp>
        <p:nvSpPr>
          <p:cNvPr id="6" name="Rectangle 5"/>
          <p:cNvSpPr/>
          <p:nvPr/>
        </p:nvSpPr>
        <p:spPr>
          <a:xfrm>
            <a:off x="457200" y="1303000"/>
            <a:ext cx="3605784" cy="27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7200" y="1363000"/>
            <a:ext cx="3485784" cy="2600712"/>
          </a:xfrm>
          <a:prstGeom prst="rect">
            <a:avLst/>
          </a:prstGeom>
          <a:noFill/>
        </p:spPr>
        <p:txBody>
          <a:bodyPr wrap="square">
            <a:spAutoFit/>
          </a:bodyPr>
          <a:lstStyle/>
          <a:p>
            <a:pPr algn="l"/>
            <a:r>
              <a:rPr sz="1300" b="1" i="0" dirty="0" smtClean="0">
                <a:solidFill>
                  <a:srgbClr val="378635"/>
                </a:solidFill>
                <a:latin typeface="Calibri"/>
              </a:rPr>
              <a:t>NORMAL </a:t>
            </a:r>
            <a:r>
              <a:rPr sz="1300" b="1" i="0" dirty="0">
                <a:solidFill>
                  <a:srgbClr val="378635"/>
                </a:solidFill>
                <a:latin typeface="Calibri"/>
              </a:rPr>
              <a:t>Samples</a:t>
            </a:r>
          </a:p>
          <a:p>
            <a:pPr algn="l"/>
            <a:r>
              <a:rPr sz="900" b="0" i="0" dirty="0">
                <a:solidFill>
                  <a:srgbClr val="404040"/>
                </a:solidFill>
                <a:latin typeface="Calibri"/>
              </a:rPr>
              <a:t>(no runaway)</a:t>
            </a:r>
          </a:p>
          <a:p>
            <a:pPr algn="l"/>
            <a:endParaRPr sz="900" b="0" i="0" dirty="0">
              <a:solidFill>
                <a:srgbClr val="404040"/>
              </a:solidFill>
              <a:latin typeface="Calibri"/>
            </a:endParaRPr>
          </a:p>
          <a:p>
            <a:pPr algn="l"/>
            <a:r>
              <a:rPr sz="1000" b="0" i="0" dirty="0">
                <a:solidFill>
                  <a:srgbClr val="404040"/>
                </a:solidFill>
                <a:latin typeface="Calibri"/>
              </a:rPr>
              <a:t>1 char error ruins the whole word.</a:t>
            </a:r>
          </a:p>
          <a:p>
            <a:pPr algn="l"/>
            <a:r>
              <a:rPr sz="1000" b="0" i="0" dirty="0">
                <a:solidFill>
                  <a:srgbClr val="404040"/>
                </a:solidFill>
                <a:latin typeface="Calibri"/>
              </a:rPr>
              <a:t>WER is amplified at word level.</a:t>
            </a:r>
          </a:p>
          <a:p>
            <a:pPr algn="l"/>
            <a:endParaRPr sz="1000" b="0" i="0" dirty="0">
              <a:solidFill>
                <a:srgbClr val="404040"/>
              </a:solidFill>
              <a:latin typeface="Calibri"/>
            </a:endParaRPr>
          </a:p>
          <a:p>
            <a:pPr algn="l"/>
            <a:r>
              <a:rPr sz="1200" b="1" i="0" dirty="0">
                <a:solidFill>
                  <a:srgbClr val="378635"/>
                </a:solidFill>
                <a:latin typeface="Calibri"/>
              </a:rPr>
              <a:t>Result: WER &gt;&gt; </a:t>
            </a:r>
            <a:r>
              <a:rPr sz="1200" b="1" i="0" dirty="0" smtClean="0">
                <a:solidFill>
                  <a:srgbClr val="378635"/>
                </a:solidFill>
                <a:latin typeface="Calibri"/>
              </a:rPr>
              <a:t>CER</a:t>
            </a:r>
            <a:endParaRPr sz="1200" b="1" i="0" dirty="0">
              <a:solidFill>
                <a:srgbClr val="378635"/>
              </a:solidFill>
              <a:latin typeface="Calibri"/>
            </a:endParaRPr>
          </a:p>
          <a:p>
            <a:pPr algn="l"/>
            <a:r>
              <a:rPr sz="1000" b="1" i="0" dirty="0">
                <a:solidFill>
                  <a:srgbClr val="2E75B6"/>
                </a:solidFill>
                <a:latin typeface="Calibri"/>
              </a:rPr>
              <a:t>PATS-</a:t>
            </a:r>
            <a:r>
              <a:rPr sz="1000" b="1" i="0" dirty="0" err="1">
                <a:solidFill>
                  <a:srgbClr val="2E75B6"/>
                </a:solidFill>
                <a:latin typeface="Calibri"/>
              </a:rPr>
              <a:t>Akhbar</a:t>
            </a:r>
            <a:r>
              <a:rPr sz="1000" b="1" i="0" dirty="0">
                <a:solidFill>
                  <a:srgbClr val="2E75B6"/>
                </a:solidFill>
                <a:latin typeface="Calibri"/>
              </a:rPr>
              <a:t> normal (no </a:t>
            </a:r>
            <a:r>
              <a:rPr sz="1000" b="1" i="0" dirty="0" err="1">
                <a:solidFill>
                  <a:srgbClr val="2E75B6"/>
                </a:solidFill>
                <a:latin typeface="Calibri"/>
              </a:rPr>
              <a:t>diac</a:t>
            </a:r>
            <a:r>
              <a:rPr sz="1000" b="1" i="0" dirty="0">
                <a:solidFill>
                  <a:srgbClr val="2E75B6"/>
                </a:solidFill>
                <a:latin typeface="Calibri"/>
              </a:rPr>
              <a:t>):</a:t>
            </a:r>
          </a:p>
          <a:p>
            <a:pPr algn="l"/>
            <a:r>
              <a:rPr sz="1000" b="0" i="0" dirty="0">
                <a:solidFill>
                  <a:srgbClr val="378635"/>
                </a:solidFill>
                <a:latin typeface="Calibri"/>
              </a:rPr>
              <a:t>  CER = 2.12%</a:t>
            </a:r>
          </a:p>
          <a:p>
            <a:pPr algn="l"/>
            <a:r>
              <a:rPr sz="1000" b="0" i="0" dirty="0">
                <a:solidFill>
                  <a:srgbClr val="378635"/>
                </a:solidFill>
                <a:latin typeface="Calibri"/>
              </a:rPr>
              <a:t>  WER = 4.84%</a:t>
            </a:r>
          </a:p>
          <a:p>
            <a:pPr algn="l"/>
            <a:r>
              <a:rPr sz="1000" b="0" i="0" dirty="0">
                <a:solidFill>
                  <a:srgbClr val="378635"/>
                </a:solidFill>
                <a:latin typeface="Calibri"/>
              </a:rPr>
              <a:t>  WER/CER = 2.28x</a:t>
            </a:r>
          </a:p>
          <a:p>
            <a:pPr algn="l"/>
            <a:endParaRPr sz="1000" b="0" i="0" dirty="0">
              <a:solidFill>
                <a:srgbClr val="378635"/>
              </a:solidFill>
              <a:latin typeface="Calibri"/>
            </a:endParaRPr>
          </a:p>
          <a:p>
            <a:pPr algn="l"/>
            <a:r>
              <a:rPr sz="1000" b="1" i="0" dirty="0">
                <a:solidFill>
                  <a:srgbClr val="2E75B6"/>
                </a:solidFill>
                <a:latin typeface="Calibri"/>
              </a:rPr>
              <a:t>KHATT normal (no </a:t>
            </a:r>
            <a:r>
              <a:rPr sz="1000" b="1" i="0" dirty="0" err="1">
                <a:solidFill>
                  <a:srgbClr val="2E75B6"/>
                </a:solidFill>
                <a:latin typeface="Calibri"/>
              </a:rPr>
              <a:t>diac</a:t>
            </a:r>
            <a:r>
              <a:rPr sz="1000" b="1" i="0" dirty="0">
                <a:solidFill>
                  <a:srgbClr val="2E75B6"/>
                </a:solidFill>
                <a:latin typeface="Calibri"/>
              </a:rPr>
              <a:t>):</a:t>
            </a:r>
          </a:p>
          <a:p>
            <a:pPr algn="l"/>
            <a:r>
              <a:rPr sz="1000" b="0" i="0" dirty="0">
                <a:solidFill>
                  <a:srgbClr val="378635"/>
                </a:solidFill>
                <a:latin typeface="Calibri"/>
              </a:rPr>
              <a:t>  CER = 34.24%</a:t>
            </a:r>
          </a:p>
          <a:p>
            <a:pPr algn="l"/>
            <a:r>
              <a:rPr sz="1000" b="0" i="0" dirty="0">
                <a:solidFill>
                  <a:srgbClr val="378635"/>
                </a:solidFill>
                <a:latin typeface="Calibri"/>
              </a:rPr>
              <a:t>  WER = 75.60%</a:t>
            </a:r>
          </a:p>
          <a:p>
            <a:pPr algn="l"/>
            <a:r>
              <a:rPr sz="1000" b="0" i="0" dirty="0">
                <a:solidFill>
                  <a:srgbClr val="378635"/>
                </a:solidFill>
                <a:latin typeface="Calibri"/>
              </a:rPr>
              <a:t>  WER/CER = 2.21x</a:t>
            </a:r>
          </a:p>
        </p:txBody>
      </p:sp>
      <p:sp>
        <p:nvSpPr>
          <p:cNvPr id="8" name="Rectangle 7"/>
          <p:cNvSpPr/>
          <p:nvPr/>
        </p:nvSpPr>
        <p:spPr>
          <a:xfrm>
            <a:off x="4520184" y="1303000"/>
            <a:ext cx="3605784" cy="2750000"/>
          </a:xfrm>
          <a:prstGeom prst="rect">
            <a:avLst/>
          </a:prstGeom>
          <a:solidFill>
            <a:srgbClr val="FFE7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80184" y="1363000"/>
            <a:ext cx="3485784" cy="2446824"/>
          </a:xfrm>
          <a:prstGeom prst="rect">
            <a:avLst/>
          </a:prstGeom>
          <a:noFill/>
        </p:spPr>
        <p:txBody>
          <a:bodyPr wrap="square">
            <a:spAutoFit/>
          </a:bodyPr>
          <a:lstStyle/>
          <a:p>
            <a:pPr algn="l"/>
            <a:r>
              <a:rPr sz="1300" b="1" i="0" dirty="0" smtClean="0">
                <a:solidFill>
                  <a:srgbClr val="C00000"/>
                </a:solidFill>
                <a:latin typeface="Calibri"/>
              </a:rPr>
              <a:t>RUNAWAY </a:t>
            </a:r>
            <a:r>
              <a:rPr sz="1300" b="1" i="0" dirty="0">
                <a:solidFill>
                  <a:srgbClr val="C00000"/>
                </a:solidFill>
                <a:latin typeface="Calibri"/>
              </a:rPr>
              <a:t>Samples</a:t>
            </a:r>
          </a:p>
          <a:p>
            <a:pPr algn="l"/>
            <a:r>
              <a:rPr sz="900" b="0" i="0" dirty="0">
                <a:solidFill>
                  <a:srgbClr val="404040"/>
                </a:solidFill>
                <a:latin typeface="Calibri"/>
              </a:rPr>
              <a:t>(</a:t>
            </a:r>
            <a:r>
              <a:rPr sz="900" b="0" i="0" dirty="0" err="1">
                <a:solidFill>
                  <a:srgbClr val="404040"/>
                </a:solidFill>
                <a:latin typeface="Calibri"/>
              </a:rPr>
              <a:t>Qaari</a:t>
            </a:r>
            <a:r>
              <a:rPr sz="900" b="0" i="0" dirty="0">
                <a:solidFill>
                  <a:srgbClr val="404040"/>
                </a:solidFill>
                <a:latin typeface="Calibri"/>
              </a:rPr>
              <a:t> repetition bug)</a:t>
            </a:r>
          </a:p>
          <a:p>
            <a:pPr algn="l"/>
            <a:endParaRPr sz="900" b="0" i="0" dirty="0">
              <a:solidFill>
                <a:srgbClr val="404040"/>
              </a:solidFill>
              <a:latin typeface="Calibri"/>
            </a:endParaRPr>
          </a:p>
          <a:p>
            <a:pPr algn="l"/>
            <a:r>
              <a:rPr sz="1000" b="0" i="0" dirty="0">
                <a:solidFill>
                  <a:srgbClr val="404040"/>
                </a:solidFill>
                <a:latin typeface="Calibri"/>
              </a:rPr>
              <a:t>OCR repeats entire phrases:</a:t>
            </a:r>
          </a:p>
          <a:p>
            <a:pPr algn="l"/>
            <a:r>
              <a:rPr sz="1000" b="0" i="0" dirty="0">
                <a:solidFill>
                  <a:srgbClr val="404040"/>
                </a:solidFill>
                <a:latin typeface="Calibri"/>
              </a:rPr>
              <a:t>"word </a:t>
            </a:r>
            <a:r>
              <a:rPr sz="1000" b="0" i="0" dirty="0" err="1">
                <a:solidFill>
                  <a:srgbClr val="404040"/>
                </a:solidFill>
                <a:latin typeface="Calibri"/>
              </a:rPr>
              <a:t>word</a:t>
            </a:r>
            <a:r>
              <a:rPr sz="1000" b="0" i="0" dirty="0">
                <a:solidFill>
                  <a:srgbClr val="404040"/>
                </a:solidFill>
                <a:latin typeface="Calibri"/>
              </a:rPr>
              <a:t> word..." x24 times</a:t>
            </a:r>
          </a:p>
          <a:p>
            <a:pPr algn="l"/>
            <a:r>
              <a:rPr sz="1000" b="0" i="0" dirty="0">
                <a:solidFill>
                  <a:srgbClr val="404040"/>
                </a:solidFill>
                <a:latin typeface="Calibri"/>
              </a:rPr>
              <a:t>Both chars AND words inflate</a:t>
            </a:r>
          </a:p>
          <a:p>
            <a:pPr algn="l"/>
            <a:r>
              <a:rPr sz="1000" b="0" i="0" dirty="0">
                <a:solidFill>
                  <a:srgbClr val="404040"/>
                </a:solidFill>
                <a:latin typeface="Calibri"/>
              </a:rPr>
              <a:t>by exactly the same factor k.</a:t>
            </a:r>
          </a:p>
          <a:p>
            <a:pPr algn="l"/>
            <a:endParaRPr sz="1000" b="0" i="0" dirty="0">
              <a:solidFill>
                <a:srgbClr val="404040"/>
              </a:solidFill>
              <a:latin typeface="Calibri"/>
            </a:endParaRPr>
          </a:p>
          <a:p>
            <a:pPr algn="l"/>
            <a:r>
              <a:rPr sz="1200" b="1" i="0" dirty="0">
                <a:solidFill>
                  <a:srgbClr val="C00000"/>
                </a:solidFill>
                <a:latin typeface="Calibri"/>
              </a:rPr>
              <a:t>Result: CER = WER = k-1</a:t>
            </a:r>
          </a:p>
          <a:p>
            <a:pPr algn="l"/>
            <a:r>
              <a:rPr sz="1000" b="0" i="0" dirty="0">
                <a:solidFill>
                  <a:srgbClr val="404040"/>
                </a:solidFill>
                <a:latin typeface="Calibri"/>
              </a:rPr>
              <a:t>(ratio = 1.0x exactly)</a:t>
            </a:r>
          </a:p>
          <a:p>
            <a:pPr algn="l"/>
            <a:endParaRPr sz="1000" b="0" i="0" dirty="0">
              <a:solidFill>
                <a:srgbClr val="404040"/>
              </a:solidFill>
              <a:latin typeface="Calibri"/>
            </a:endParaRPr>
          </a:p>
          <a:p>
            <a:pPr algn="l"/>
            <a:r>
              <a:rPr sz="1000" b="1" i="0" dirty="0">
                <a:solidFill>
                  <a:srgbClr val="C00000"/>
                </a:solidFill>
                <a:latin typeface="Calibri"/>
              </a:rPr>
              <a:t>Example (k=24 repeats):</a:t>
            </a:r>
          </a:p>
          <a:p>
            <a:pPr algn="l"/>
            <a:r>
              <a:rPr sz="1000" b="0" i="0" dirty="0">
                <a:solidFill>
                  <a:srgbClr val="C00000"/>
                </a:solidFill>
                <a:latin typeface="Calibri"/>
              </a:rPr>
              <a:t>  CER = 24-1 = 23 = 2300%</a:t>
            </a:r>
          </a:p>
          <a:p>
            <a:pPr algn="l"/>
            <a:r>
              <a:rPr sz="1000" b="0" i="0" dirty="0">
                <a:solidFill>
                  <a:srgbClr val="C00000"/>
                </a:solidFill>
                <a:latin typeface="Calibri"/>
              </a:rPr>
              <a:t>  WER = 24-1 = 23 = 2300%</a:t>
            </a:r>
          </a:p>
          <a:p>
            <a:pPr algn="l"/>
            <a:r>
              <a:rPr sz="1000" b="0" i="0" dirty="0">
                <a:solidFill>
                  <a:srgbClr val="C00000"/>
                </a:solidFill>
                <a:latin typeface="Calibri"/>
              </a:rPr>
              <a:t>  Ratio = 1.0x</a:t>
            </a:r>
          </a:p>
        </p:txBody>
      </p:sp>
      <p:sp>
        <p:nvSpPr>
          <p:cNvPr id="10" name="Rectangle 9"/>
          <p:cNvSpPr/>
          <p:nvPr/>
        </p:nvSpPr>
        <p:spPr>
          <a:xfrm>
            <a:off x="8583168" y="1303000"/>
            <a:ext cx="3605784" cy="27500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43168" y="1363000"/>
            <a:ext cx="3485784" cy="2616101"/>
          </a:xfrm>
          <a:prstGeom prst="rect">
            <a:avLst/>
          </a:prstGeom>
          <a:noFill/>
        </p:spPr>
        <p:txBody>
          <a:bodyPr wrap="square">
            <a:spAutoFit/>
          </a:bodyPr>
          <a:lstStyle/>
          <a:p>
            <a:pPr algn="l"/>
            <a:r>
              <a:rPr sz="1300" b="1" i="0" dirty="0" smtClean="0">
                <a:solidFill>
                  <a:srgbClr val="ED7D31"/>
                </a:solidFill>
                <a:latin typeface="Calibri"/>
              </a:rPr>
              <a:t>MEAN </a:t>
            </a:r>
            <a:r>
              <a:rPr sz="1300" b="1" i="0" dirty="0">
                <a:solidFill>
                  <a:srgbClr val="ED7D31"/>
                </a:solidFill>
                <a:latin typeface="Calibri"/>
              </a:rPr>
              <a:t>(All Samples)</a:t>
            </a:r>
          </a:p>
          <a:p>
            <a:pPr algn="l"/>
            <a:r>
              <a:rPr sz="900" b="0" i="0" dirty="0">
                <a:solidFill>
                  <a:srgbClr val="404040"/>
                </a:solidFill>
                <a:latin typeface="Calibri"/>
              </a:rPr>
              <a:t>(normal + runaway mixed</a:t>
            </a:r>
            <a:r>
              <a:rPr sz="900" b="0" i="0" dirty="0" smtClean="0">
                <a:solidFill>
                  <a:srgbClr val="404040"/>
                </a:solidFill>
                <a:latin typeface="Calibri"/>
              </a:rPr>
              <a:t>)</a:t>
            </a:r>
            <a:endParaRPr sz="900" b="0" i="0" dirty="0">
              <a:solidFill>
                <a:srgbClr val="404040"/>
              </a:solidFill>
              <a:latin typeface="Calibri"/>
            </a:endParaRPr>
          </a:p>
          <a:p>
            <a:pPr algn="l"/>
            <a:r>
              <a:rPr sz="1000" b="0" i="0" dirty="0">
                <a:solidFill>
                  <a:srgbClr val="404040"/>
                </a:solidFill>
                <a:latin typeface="Calibri"/>
              </a:rPr>
              <a:t>A few extreme runaway values</a:t>
            </a:r>
          </a:p>
          <a:p>
            <a:pPr algn="l"/>
            <a:r>
              <a:rPr sz="1000" b="0" i="0" dirty="0">
                <a:solidFill>
                  <a:srgbClr val="404040"/>
                </a:solidFill>
                <a:latin typeface="Calibri"/>
              </a:rPr>
              <a:t>(CER ~ 2300%) swamp the mean.</a:t>
            </a:r>
          </a:p>
          <a:p>
            <a:pPr algn="l"/>
            <a:r>
              <a:rPr sz="1000" b="0" i="0" dirty="0">
                <a:solidFill>
                  <a:srgbClr val="404040"/>
                </a:solidFill>
                <a:latin typeface="Calibri"/>
              </a:rPr>
              <a:t>=&gt; all-samples CER ~ </a:t>
            </a:r>
            <a:r>
              <a:rPr sz="1000" b="0" i="0" dirty="0" smtClean="0">
                <a:solidFill>
                  <a:srgbClr val="404040"/>
                </a:solidFill>
                <a:latin typeface="Calibri"/>
              </a:rPr>
              <a:t>WER</a:t>
            </a:r>
            <a:endParaRPr sz="1000" b="0" i="0" dirty="0">
              <a:solidFill>
                <a:srgbClr val="404040"/>
              </a:solidFill>
              <a:latin typeface="Calibri"/>
            </a:endParaRPr>
          </a:p>
          <a:p>
            <a:pPr algn="l"/>
            <a:r>
              <a:rPr sz="1200" b="1" i="0" dirty="0">
                <a:solidFill>
                  <a:srgbClr val="ED7D31"/>
                </a:solidFill>
                <a:latin typeface="Calibri"/>
              </a:rPr>
              <a:t>Result: CER ~ WER (mean</a:t>
            </a:r>
            <a:r>
              <a:rPr sz="1200" b="1" i="0" dirty="0" smtClean="0">
                <a:solidFill>
                  <a:srgbClr val="ED7D31"/>
                </a:solidFill>
                <a:latin typeface="Calibri"/>
              </a:rPr>
              <a:t>)</a:t>
            </a:r>
            <a:endParaRPr sz="1200" b="1" i="0" dirty="0">
              <a:solidFill>
                <a:srgbClr val="ED7D31"/>
              </a:solidFill>
              <a:latin typeface="Calibri"/>
            </a:endParaRPr>
          </a:p>
          <a:p>
            <a:pPr algn="l"/>
            <a:r>
              <a:rPr sz="1000" b="1" i="0" dirty="0">
                <a:solidFill>
                  <a:srgbClr val="ED7D31"/>
                </a:solidFill>
                <a:latin typeface="Calibri"/>
              </a:rPr>
              <a:t>PATS-</a:t>
            </a:r>
            <a:r>
              <a:rPr sz="1000" b="1" i="0" dirty="0" err="1">
                <a:solidFill>
                  <a:srgbClr val="ED7D31"/>
                </a:solidFill>
                <a:latin typeface="Calibri"/>
              </a:rPr>
              <a:t>Akhbar</a:t>
            </a:r>
            <a:r>
              <a:rPr sz="1000" b="1" i="0" dirty="0">
                <a:solidFill>
                  <a:srgbClr val="ED7D31"/>
                </a:solidFill>
                <a:latin typeface="Calibri"/>
              </a:rPr>
              <a:t> ALL:</a:t>
            </a:r>
          </a:p>
          <a:p>
            <a:pPr algn="l"/>
            <a:r>
              <a:rPr sz="1000" b="0" i="0" dirty="0">
                <a:solidFill>
                  <a:srgbClr val="404040"/>
                </a:solidFill>
                <a:latin typeface="Calibri"/>
              </a:rPr>
              <a:t>  22/459 runaway (4.8%)</a:t>
            </a:r>
          </a:p>
          <a:p>
            <a:pPr algn="l"/>
            <a:r>
              <a:rPr sz="1000" b="0" i="0" dirty="0">
                <a:solidFill>
                  <a:srgbClr val="ED7D31"/>
                </a:solidFill>
                <a:latin typeface="Calibri"/>
              </a:rPr>
              <a:t>  CER = 114.42%</a:t>
            </a:r>
          </a:p>
          <a:p>
            <a:pPr algn="l"/>
            <a:r>
              <a:rPr sz="1000" b="0" i="0" dirty="0">
                <a:solidFill>
                  <a:srgbClr val="ED7D31"/>
                </a:solidFill>
                <a:latin typeface="Calibri"/>
              </a:rPr>
              <a:t>  WER = 110.82%</a:t>
            </a:r>
          </a:p>
          <a:p>
            <a:pPr algn="l"/>
            <a:r>
              <a:rPr sz="1000" b="0" i="0" dirty="0">
                <a:solidFill>
                  <a:srgbClr val="ED7D31"/>
                </a:solidFill>
                <a:latin typeface="Calibri"/>
              </a:rPr>
              <a:t>  Ratio = 0.97x</a:t>
            </a:r>
          </a:p>
          <a:p>
            <a:pPr algn="l"/>
            <a:endParaRPr sz="1000" b="0" i="0" dirty="0">
              <a:solidFill>
                <a:srgbClr val="ED7D31"/>
              </a:solidFill>
              <a:latin typeface="Calibri"/>
            </a:endParaRPr>
          </a:p>
          <a:p>
            <a:pPr algn="l"/>
            <a:r>
              <a:rPr sz="1000" b="1" i="0" dirty="0">
                <a:solidFill>
                  <a:srgbClr val="ED7D31"/>
                </a:solidFill>
                <a:latin typeface="Calibri"/>
              </a:rPr>
              <a:t>KHATT ALL:</a:t>
            </a:r>
          </a:p>
          <a:p>
            <a:pPr algn="l"/>
            <a:r>
              <a:rPr sz="1000" b="0" i="0" dirty="0">
                <a:solidFill>
                  <a:srgbClr val="404040"/>
                </a:solidFill>
                <a:latin typeface="Calibri"/>
              </a:rPr>
              <a:t>  40/226 runaway (17.7%)</a:t>
            </a:r>
          </a:p>
          <a:p>
            <a:pPr algn="l"/>
            <a:r>
              <a:rPr sz="1000" b="0" i="0" dirty="0">
                <a:solidFill>
                  <a:srgbClr val="ED7D31"/>
                </a:solidFill>
                <a:latin typeface="Calibri"/>
              </a:rPr>
              <a:t>  CER = 565.58%</a:t>
            </a:r>
          </a:p>
          <a:p>
            <a:pPr algn="l"/>
            <a:r>
              <a:rPr sz="1000" b="0" i="0" dirty="0">
                <a:solidFill>
                  <a:srgbClr val="ED7D31"/>
                </a:solidFill>
                <a:latin typeface="Calibri"/>
              </a:rPr>
              <a:t>  WER = 725.03%</a:t>
            </a:r>
          </a:p>
        </p:txBody>
      </p:sp>
      <p:sp>
        <p:nvSpPr>
          <p:cNvPr id="12" name="Rectangle 11"/>
          <p:cNvSpPr/>
          <p:nvPr/>
        </p:nvSpPr>
        <p:spPr>
          <a:xfrm>
            <a:off x="457200" y="4153000"/>
            <a:ext cx="5408676" cy="2555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7200" y="4213000"/>
            <a:ext cx="5248676" cy="2435000"/>
          </a:xfrm>
          <a:prstGeom prst="rect">
            <a:avLst/>
          </a:prstGeom>
          <a:noFill/>
        </p:spPr>
        <p:txBody>
          <a:bodyPr wrap="square">
            <a:spAutoFit/>
          </a:bodyPr>
          <a:lstStyle/>
          <a:p>
            <a:endParaRPr/>
          </a:p>
          <a:p>
            <a:pPr algn="l"/>
            <a:r>
              <a:rPr sz="1100" b="1" i="0">
                <a:solidFill>
                  <a:srgbClr val="378635"/>
                </a:solidFill>
                <a:latin typeface="Calibri"/>
              </a:rPr>
              <a:t>Normal OCR Error — Key Formula</a:t>
            </a:r>
          </a:p>
          <a:p>
            <a:pPr algn="l"/>
            <a:endParaRPr sz="1100" b="1" i="0">
              <a:solidFill>
                <a:srgbClr val="378635"/>
              </a:solidFill>
              <a:latin typeface="Calibri"/>
            </a:endParaRPr>
          </a:p>
          <a:p>
            <a:pPr algn="l"/>
            <a:r>
              <a:rPr sz="900" b="0" i="0">
                <a:solidFill>
                  <a:srgbClr val="2E75B6"/>
                </a:solidFill>
                <a:latin typeface="Calibri"/>
              </a:rPr>
              <a:t>CER = edit_dist(ref_chars, ocr_chars) / |ref_chars|</a:t>
            </a:r>
          </a:p>
          <a:p>
            <a:pPr algn="l"/>
            <a:r>
              <a:rPr sz="900" b="0" i="0">
                <a:solidFill>
                  <a:srgbClr val="2E75B6"/>
                </a:solidFill>
                <a:latin typeface="Calibri"/>
              </a:rPr>
              <a:t>WER = edit_dist(ref_words, ocr_words) / |ref_words|</a:t>
            </a:r>
          </a:p>
          <a:p>
            <a:pPr algn="l"/>
            <a:endParaRPr sz="900" b="0" i="0">
              <a:solidFill>
                <a:srgbClr val="2E75B6"/>
              </a:solidFill>
              <a:latin typeface="Calibri"/>
            </a:endParaRPr>
          </a:p>
          <a:p>
            <a:pPr algn="l"/>
            <a:r>
              <a:rPr sz="1000" b="0" i="0">
                <a:solidFill>
                  <a:srgbClr val="404040"/>
                </a:solidFill>
                <a:latin typeface="Calibri"/>
              </a:rPr>
              <a:t>1 char error =&gt; 1 bad word:</a:t>
            </a:r>
          </a:p>
          <a:p>
            <a:pPr algn="l"/>
            <a:r>
              <a:rPr sz="900" b="0" i="0">
                <a:solidFill>
                  <a:srgbClr val="404040"/>
                </a:solidFill>
                <a:latin typeface="Calibri"/>
              </a:rPr>
              <a:t>  CER weight: 1 / |ref_chars|</a:t>
            </a:r>
          </a:p>
          <a:p>
            <a:pPr algn="l"/>
            <a:r>
              <a:rPr sz="900" b="0" i="0">
                <a:solidFill>
                  <a:srgbClr val="404040"/>
                </a:solidFill>
                <a:latin typeface="Calibri"/>
              </a:rPr>
              <a:t>  WER weight: 1 / |ref_words|</a:t>
            </a:r>
          </a:p>
          <a:p>
            <a:pPr algn="l"/>
            <a:r>
              <a:rPr sz="900" b="0" i="0">
                <a:solidFill>
                  <a:srgbClr val="404040"/>
                </a:solidFill>
                <a:latin typeface="Calibri"/>
              </a:rPr>
              <a:t>  WER/CER ratio ~ |ref_chars|/|ref_words|</a:t>
            </a:r>
          </a:p>
          <a:p>
            <a:pPr algn="l"/>
            <a:r>
              <a:rPr sz="900" b="0" i="0">
                <a:solidFill>
                  <a:srgbClr val="404040"/>
                </a:solidFill>
                <a:latin typeface="Calibri"/>
              </a:rPr>
              <a:t>             = avg chars per word</a:t>
            </a:r>
          </a:p>
          <a:p>
            <a:pPr algn="l"/>
            <a:r>
              <a:rPr sz="900" b="0" i="0">
                <a:solidFill>
                  <a:srgbClr val="378635"/>
                </a:solidFill>
                <a:latin typeface="Calibri"/>
              </a:rPr>
              <a:t>  Arabic avg ~ 5-8 chars =&gt; WER &gt; CER</a:t>
            </a:r>
          </a:p>
        </p:txBody>
      </p:sp>
      <p:sp>
        <p:nvSpPr>
          <p:cNvPr id="14" name="Rectangle 13"/>
          <p:cNvSpPr/>
          <p:nvPr/>
        </p:nvSpPr>
        <p:spPr>
          <a:xfrm>
            <a:off x="6323076" y="4153000"/>
            <a:ext cx="5408676" cy="2555000"/>
          </a:xfrm>
          <a:prstGeom prst="rect">
            <a:avLst/>
          </a:prstGeom>
          <a:solidFill>
            <a:srgbClr val="FFE7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3076" y="4213000"/>
            <a:ext cx="5248676" cy="2435000"/>
          </a:xfrm>
          <a:prstGeom prst="rect">
            <a:avLst/>
          </a:prstGeom>
          <a:noFill/>
        </p:spPr>
        <p:txBody>
          <a:bodyPr wrap="square">
            <a:spAutoFit/>
          </a:bodyPr>
          <a:lstStyle/>
          <a:p>
            <a:endParaRPr/>
          </a:p>
          <a:p>
            <a:pPr algn="l"/>
            <a:r>
              <a:rPr sz="1100" b="1" i="0">
                <a:solidFill>
                  <a:srgbClr val="C00000"/>
                </a:solidFill>
                <a:latin typeface="Calibri"/>
              </a:rPr>
              <a:t>Runaway (k repetitions) — Key Formula</a:t>
            </a:r>
          </a:p>
          <a:p>
            <a:pPr algn="l"/>
            <a:endParaRPr sz="1100" b="1" i="0">
              <a:solidFill>
                <a:srgbClr val="C00000"/>
              </a:solidFill>
              <a:latin typeface="Calibri"/>
            </a:endParaRPr>
          </a:p>
          <a:p>
            <a:pPr algn="l"/>
            <a:r>
              <a:rPr sz="1000" b="0" i="0">
                <a:solidFill>
                  <a:srgbClr val="404040"/>
                </a:solidFill>
                <a:latin typeface="Calibri"/>
              </a:rPr>
              <a:t>OCR = GT repeated k times:</a:t>
            </a:r>
          </a:p>
          <a:p>
            <a:pPr algn="l"/>
            <a:r>
              <a:rPr sz="900" b="0" i="0">
                <a:solidFill>
                  <a:srgbClr val="2E75B6"/>
                </a:solidFill>
                <a:latin typeface="Calibri"/>
              </a:rPr>
              <a:t>  edit_dist = (k-1) x |GT_chars|</a:t>
            </a:r>
          </a:p>
          <a:p>
            <a:pPr algn="l"/>
            <a:r>
              <a:rPr sz="900" b="0" i="0">
                <a:solidFill>
                  <a:srgbClr val="2E75B6"/>
                </a:solidFill>
                <a:latin typeface="Calibri"/>
              </a:rPr>
              <a:t>  CER = (k-1)|GT_c| / |GT_c| = k-1</a:t>
            </a:r>
          </a:p>
          <a:p>
            <a:pPr algn="l"/>
            <a:r>
              <a:rPr sz="900" b="0" i="0">
                <a:solidFill>
                  <a:srgbClr val="2E75B6"/>
                </a:solidFill>
                <a:latin typeface="Calibri"/>
              </a:rPr>
              <a:t>  WER = (k-1)|GT_w| / |GT_w| = k-1</a:t>
            </a:r>
          </a:p>
          <a:p>
            <a:pPr algn="l"/>
            <a:endParaRPr sz="900" b="0" i="0">
              <a:solidFill>
                <a:srgbClr val="2E75B6"/>
              </a:solidFill>
              <a:latin typeface="Calibri"/>
            </a:endParaRPr>
          </a:p>
          <a:p>
            <a:pPr algn="l"/>
            <a:r>
              <a:rPr sz="1000" b="1" i="0">
                <a:solidFill>
                  <a:srgbClr val="C00000"/>
                </a:solidFill>
                <a:latin typeface="Calibri"/>
              </a:rPr>
              <a:t>=&gt; CER = WER = k-1  (ratio = 1.0x)</a:t>
            </a:r>
          </a:p>
          <a:p>
            <a:pPr algn="l"/>
            <a:endParaRPr sz="1000" b="1" i="0">
              <a:solidFill>
                <a:srgbClr val="C00000"/>
              </a:solidFill>
              <a:latin typeface="Calibri"/>
            </a:endParaRPr>
          </a:p>
          <a:p>
            <a:pPr algn="l"/>
            <a:r>
              <a:rPr sz="1000" b="0" i="0">
                <a:solidFill>
                  <a:srgbClr val="404040"/>
                </a:solidFill>
                <a:latin typeface="Calibri"/>
              </a:rPr>
              <a:t>Mean contamination:</a:t>
            </a:r>
          </a:p>
          <a:p>
            <a:pPr algn="l"/>
            <a:r>
              <a:rPr sz="900" b="0" i="0">
                <a:solidFill>
                  <a:srgbClr val="2E75B6"/>
                </a:solidFill>
                <a:latin typeface="Calibri"/>
              </a:rPr>
              <a:t>  CER_all = (N_norm x CER_n + N_run x CER_r) / N</a:t>
            </a:r>
          </a:p>
          <a:p>
            <a:pPr algn="l"/>
            <a:r>
              <a:rPr sz="900" b="0" i="0">
                <a:solidFill>
                  <a:srgbClr val="C00000"/>
                </a:solidFill>
                <a:latin typeface="Calibri"/>
              </a:rPr>
              <a:t>  Few large CER_r values dominate =&gt; CER_all ~ WER_all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16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Mathematical Derivation — Runaway Contamination Proof</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Formal derivation of CER=WER=k-1 + PATS-Akhbar back-calculation case study</a:t>
            </a:r>
          </a:p>
        </p:txBody>
      </p:sp>
      <p:sp>
        <p:nvSpPr>
          <p:cNvPr id="6" name="TextBox 5"/>
          <p:cNvSpPr txBox="1"/>
          <p:nvPr/>
        </p:nvSpPr>
        <p:spPr>
          <a:xfrm>
            <a:off x="457200" y="1323000"/>
            <a:ext cx="5408676" cy="5495000"/>
          </a:xfrm>
          <a:prstGeom prst="rect">
            <a:avLst/>
          </a:prstGeom>
          <a:noFill/>
        </p:spPr>
        <p:txBody>
          <a:bodyPr wrap="square">
            <a:spAutoFit/>
          </a:bodyPr>
          <a:lstStyle/>
          <a:p>
            <a:endParaRPr/>
          </a:p>
          <a:p>
            <a:pPr algn="l"/>
            <a:r>
              <a:rPr sz="1300" b="1" i="0">
                <a:solidFill>
                  <a:srgbClr val="2E75B6"/>
                </a:solidFill>
                <a:latin typeface="Calibri"/>
              </a:rPr>
              <a:t>Formal Derivation</a:t>
            </a:r>
          </a:p>
          <a:p>
            <a:pPr algn="l"/>
            <a:endParaRPr sz="1300" b="1" i="0">
              <a:solidFill>
                <a:srgbClr val="2E75B6"/>
              </a:solidFill>
              <a:latin typeface="Calibri"/>
            </a:endParaRPr>
          </a:p>
          <a:p>
            <a:pPr algn="l"/>
            <a:r>
              <a:rPr sz="1100" b="1" i="0">
                <a:solidFill>
                  <a:srgbClr val="1F3864"/>
                </a:solidFill>
                <a:latin typeface="Calibri"/>
              </a:rPr>
              <a:t>Setup:</a:t>
            </a:r>
          </a:p>
          <a:p>
            <a:pPr algn="l"/>
            <a:r>
              <a:rPr sz="1000" b="0" i="0">
                <a:solidFill>
                  <a:srgbClr val="404040"/>
                </a:solidFill>
                <a:latin typeface="Calibri"/>
              </a:rPr>
              <a:t>Let GT have N_c chars and N_w words.</a:t>
            </a:r>
          </a:p>
          <a:p>
            <a:pPr algn="l"/>
            <a:r>
              <a:rPr sz="1000" b="0" i="0">
                <a:solidFill>
                  <a:srgbClr val="404040"/>
                </a:solidFill>
                <a:latin typeface="Calibri"/>
              </a:rPr>
              <a:t>Qaari outputs GT repeated k times exactly.</a:t>
            </a:r>
          </a:p>
          <a:p>
            <a:pPr algn="l"/>
            <a:endParaRPr sz="1000" b="0" i="0">
              <a:solidFill>
                <a:srgbClr val="404040"/>
              </a:solidFill>
              <a:latin typeface="Calibri"/>
            </a:endParaRPr>
          </a:p>
          <a:p>
            <a:pPr algn="l"/>
            <a:r>
              <a:rPr sz="1100" b="1" i="0">
                <a:solidFill>
                  <a:srgbClr val="1F3864"/>
                </a:solidFill>
                <a:latin typeface="Calibri"/>
              </a:rPr>
              <a:t>CER calculation:</a:t>
            </a:r>
          </a:p>
          <a:p>
            <a:pPr algn="l"/>
            <a:r>
              <a:rPr sz="1000" b="0" i="0">
                <a:solidFill>
                  <a:srgbClr val="2E75B6"/>
                </a:solidFill>
                <a:latin typeface="Calibri"/>
              </a:rPr>
              <a:t>  OCR_chars = k x N_c</a:t>
            </a:r>
          </a:p>
          <a:p>
            <a:pPr algn="l"/>
            <a:r>
              <a:rPr sz="1000" b="0" i="0">
                <a:solidFill>
                  <a:srgbClr val="404040"/>
                </a:solidFill>
                <a:latin typeface="Calibri"/>
              </a:rPr>
              <a:t>  To transform OCR -&gt; GT:</a:t>
            </a:r>
          </a:p>
          <a:p>
            <a:pPr algn="l"/>
            <a:r>
              <a:rPr sz="1000" b="0" i="0">
                <a:solidFill>
                  <a:srgbClr val="404040"/>
                </a:solidFill>
                <a:latin typeface="Calibri"/>
              </a:rPr>
              <a:t>    delete (k-1) x N_c extra chars</a:t>
            </a:r>
          </a:p>
          <a:p>
            <a:pPr algn="l"/>
            <a:r>
              <a:rPr sz="1000" b="0" i="0">
                <a:solidFill>
                  <a:srgbClr val="2E75B6"/>
                </a:solidFill>
                <a:latin typeface="Calibri"/>
              </a:rPr>
              <a:t>  edit_dist = (k-1) x N_c</a:t>
            </a:r>
          </a:p>
          <a:p>
            <a:pPr algn="l"/>
            <a:r>
              <a:rPr sz="1000" b="0" i="0">
                <a:solidFill>
                  <a:srgbClr val="C00000"/>
                </a:solidFill>
                <a:latin typeface="Calibri"/>
              </a:rPr>
              <a:t>  CER = (k-1) x N_c / N_c = k-1</a:t>
            </a:r>
          </a:p>
          <a:p>
            <a:pPr algn="l"/>
            <a:endParaRPr sz="1000" b="0" i="0">
              <a:solidFill>
                <a:srgbClr val="C00000"/>
              </a:solidFill>
              <a:latin typeface="Calibri"/>
            </a:endParaRPr>
          </a:p>
          <a:p>
            <a:pPr algn="l"/>
            <a:r>
              <a:rPr sz="1100" b="1" i="0">
                <a:solidFill>
                  <a:srgbClr val="1F3864"/>
                </a:solidFill>
                <a:latin typeface="Calibri"/>
              </a:rPr>
              <a:t>WER calculation:</a:t>
            </a:r>
          </a:p>
          <a:p>
            <a:pPr algn="l"/>
            <a:r>
              <a:rPr sz="1000" b="0" i="0">
                <a:solidFill>
                  <a:srgbClr val="2E75B6"/>
                </a:solidFill>
                <a:latin typeface="Calibri"/>
              </a:rPr>
              <a:t>  OCR_words = k x N_w</a:t>
            </a:r>
          </a:p>
          <a:p>
            <a:pPr algn="l"/>
            <a:r>
              <a:rPr sz="1000" b="0" i="0">
                <a:solidFill>
                  <a:srgbClr val="2E75B6"/>
                </a:solidFill>
                <a:latin typeface="Calibri"/>
              </a:rPr>
              <a:t>  edit_dist = (k-1) x N_w</a:t>
            </a:r>
          </a:p>
          <a:p>
            <a:pPr algn="l"/>
            <a:r>
              <a:rPr sz="1000" b="0" i="0">
                <a:solidFill>
                  <a:srgbClr val="C00000"/>
                </a:solidFill>
                <a:latin typeface="Calibri"/>
              </a:rPr>
              <a:t>  WER = (k-1) x N_w / N_w = k-1</a:t>
            </a:r>
          </a:p>
          <a:p>
            <a:pPr algn="l"/>
            <a:endParaRPr sz="1000" b="0" i="0">
              <a:solidFill>
                <a:srgbClr val="C00000"/>
              </a:solidFill>
              <a:latin typeface="Calibri"/>
            </a:endParaRPr>
          </a:p>
          <a:p>
            <a:pPr algn="l"/>
            <a:r>
              <a:rPr sz="1100" b="1" i="0">
                <a:solidFill>
                  <a:srgbClr val="C00000"/>
                </a:solidFill>
                <a:latin typeface="Calibri"/>
              </a:rPr>
              <a:t>Therefore: CER = WER = k-1  (ratio = 1.0x)</a:t>
            </a:r>
          </a:p>
          <a:p>
            <a:pPr algn="l"/>
            <a:endParaRPr sz="1100" b="1" i="0">
              <a:solidFill>
                <a:srgbClr val="C00000"/>
              </a:solidFill>
              <a:latin typeface="Calibri"/>
            </a:endParaRPr>
          </a:p>
          <a:p>
            <a:pPr algn="l"/>
            <a:r>
              <a:rPr sz="1100" b="1" i="0">
                <a:solidFill>
                  <a:srgbClr val="1F3864"/>
                </a:solidFill>
                <a:latin typeface="Calibri"/>
              </a:rPr>
              <a:t>Mean contamination formula:</a:t>
            </a:r>
          </a:p>
          <a:p>
            <a:pPr algn="l"/>
            <a:r>
              <a:rPr sz="1000" b="0" i="0">
                <a:solidFill>
                  <a:srgbClr val="2E75B6"/>
                </a:solidFill>
                <a:latin typeface="Calibri"/>
              </a:rPr>
              <a:t>CER_all x N_c_all = CER_n x N_c_n + CER_r x N_c_r</a:t>
            </a:r>
          </a:p>
          <a:p>
            <a:pPr algn="l"/>
            <a:r>
              <a:rPr sz="1000" b="0" i="0">
                <a:solidFill>
                  <a:srgbClr val="2E75B6"/>
                </a:solidFill>
                <a:latin typeface="Calibri"/>
              </a:rPr>
              <a:t>=&gt; CER_r = (CER_all x N_c_all - CER_n x N_c_n) / N_c_r</a:t>
            </a:r>
          </a:p>
          <a:p>
            <a:pPr algn="l"/>
            <a:r>
              <a:rPr sz="900" b="0" i="0">
                <a:solidFill>
                  <a:srgbClr val="404040"/>
                </a:solidFill>
                <a:latin typeface="Calibri"/>
              </a:rPr>
              <a:t>(weighted by reference char count, not sample count)</a:t>
            </a:r>
          </a:p>
          <a:p>
            <a:pPr algn="l"/>
            <a:endParaRPr sz="900" b="0" i="0">
              <a:solidFill>
                <a:srgbClr val="404040"/>
              </a:solidFill>
              <a:latin typeface="Calibri"/>
            </a:endParaRPr>
          </a:p>
          <a:p>
            <a:pPr algn="l"/>
            <a:r>
              <a:rPr sz="1100" b="1" i="0">
                <a:solidFill>
                  <a:srgbClr val="378635"/>
                </a:solidFill>
                <a:latin typeface="Calibri"/>
              </a:rPr>
              <a:t>Key Result:</a:t>
            </a:r>
          </a:p>
          <a:p>
            <a:pPr algn="l"/>
            <a:r>
              <a:rPr sz="1000" b="0" i="0">
                <a:solidFill>
                  <a:srgbClr val="404040"/>
                </a:solidFill>
                <a:latin typeface="Calibri"/>
              </a:rPr>
              <a:t>All-samples mean CER ~ WER because runaway samples</a:t>
            </a:r>
          </a:p>
          <a:p>
            <a:pPr algn="l"/>
            <a:r>
              <a:rPr sz="1000" b="0" i="0">
                <a:solidFill>
                  <a:srgbClr val="404040"/>
                </a:solidFill>
                <a:latin typeface="Calibri"/>
              </a:rPr>
              <a:t>drive both metrics equally. Only normal-only separates them.</a:t>
            </a:r>
          </a:p>
        </p:txBody>
      </p:sp>
      <p:sp>
        <p:nvSpPr>
          <p:cNvPr id="7" name="TextBox 6"/>
          <p:cNvSpPr txBox="1"/>
          <p:nvPr/>
        </p:nvSpPr>
        <p:spPr>
          <a:xfrm>
            <a:off x="6323076" y="1323000"/>
            <a:ext cx="5408676" cy="5495000"/>
          </a:xfrm>
          <a:prstGeom prst="rect">
            <a:avLst/>
          </a:prstGeom>
          <a:noFill/>
        </p:spPr>
        <p:txBody>
          <a:bodyPr wrap="square">
            <a:spAutoFit/>
          </a:bodyPr>
          <a:lstStyle/>
          <a:p>
            <a:endParaRPr/>
          </a:p>
          <a:p>
            <a:pPr algn="l"/>
            <a:r>
              <a:rPr sz="1300" b="1" i="0">
                <a:solidFill>
                  <a:srgbClr val="2E75B6"/>
                </a:solidFill>
                <a:latin typeface="Calibri"/>
              </a:rPr>
              <a:t>Case Study: PATS-Akhbar Validation</a:t>
            </a:r>
          </a:p>
          <a:p>
            <a:pPr algn="l"/>
            <a:endParaRPr sz="1300" b="1" i="0">
              <a:solidFill>
                <a:srgbClr val="2E75B6"/>
              </a:solidFill>
              <a:latin typeface="Calibri"/>
            </a:endParaRPr>
          </a:p>
          <a:p>
            <a:pPr algn="l"/>
            <a:r>
              <a:rPr sz="1100" b="1" i="0">
                <a:solidFill>
                  <a:srgbClr val="1F3864"/>
                </a:solidFill>
                <a:latin typeface="Calibri"/>
              </a:rPr>
              <a:t>Observed data (Phase 1 baseline):</a:t>
            </a:r>
          </a:p>
          <a:p>
            <a:pPr algn="l"/>
            <a:r>
              <a:rPr sz="1000" b="0" i="0">
                <a:solidFill>
                  <a:srgbClr val="404040"/>
                </a:solidFill>
                <a:latin typeface="Calibri"/>
              </a:rPr>
              <a:t>  Total samples: 459</a:t>
            </a:r>
          </a:p>
          <a:p>
            <a:pPr algn="l"/>
            <a:r>
              <a:rPr sz="1000" b="0" i="0">
                <a:solidFill>
                  <a:srgbClr val="404040"/>
                </a:solidFill>
                <a:latin typeface="Calibri"/>
              </a:rPr>
              <a:t>  Normal: 437  |  Runaway: 22 (4.8%)</a:t>
            </a:r>
          </a:p>
          <a:p>
            <a:pPr algn="l"/>
            <a:r>
              <a:rPr sz="1000" b="0" i="0">
                <a:solidFill>
                  <a:srgbClr val="404040"/>
                </a:solidFill>
                <a:latin typeface="Calibri"/>
              </a:rPr>
              <a:t>  Ref chars (all): 37,101</a:t>
            </a:r>
          </a:p>
          <a:p>
            <a:pPr algn="l"/>
            <a:r>
              <a:rPr sz="1000" b="0" i="0">
                <a:solidFill>
                  <a:srgbClr val="404040"/>
                </a:solidFill>
                <a:latin typeface="Calibri"/>
              </a:rPr>
              <a:t>  Ref chars (normal): 35,285</a:t>
            </a:r>
          </a:p>
          <a:p>
            <a:pPr algn="l"/>
            <a:r>
              <a:rPr sz="1000" b="0" i="0">
                <a:solidFill>
                  <a:srgbClr val="ED7D31"/>
                </a:solidFill>
                <a:latin typeface="Calibri"/>
              </a:rPr>
              <a:t>  Ref chars (runaway): 37,101-35,285 = 1,816</a:t>
            </a:r>
          </a:p>
          <a:p>
            <a:pPr algn="l"/>
            <a:endParaRPr sz="1000" b="0" i="0">
              <a:solidFill>
                <a:srgbClr val="ED7D31"/>
              </a:solidFill>
              <a:latin typeface="Calibri"/>
            </a:endParaRPr>
          </a:p>
          <a:p>
            <a:pPr algn="l"/>
            <a:r>
              <a:rPr sz="1100" b="1" i="0">
                <a:solidFill>
                  <a:srgbClr val="1F3864"/>
                </a:solidFill>
                <a:latin typeface="Calibri"/>
              </a:rPr>
              <a:t>Measured metrics (with diacritics):</a:t>
            </a:r>
          </a:p>
          <a:p>
            <a:pPr algn="l"/>
            <a:r>
              <a:rPr sz="1000" b="0" i="0">
                <a:solidFill>
                  <a:srgbClr val="404040"/>
                </a:solidFill>
                <a:latin typeface="Calibri"/>
              </a:rPr>
              <a:t>  CER_all = 114.42%  (= 1.1442 ratio)</a:t>
            </a:r>
          </a:p>
          <a:p>
            <a:pPr algn="l"/>
            <a:r>
              <a:rPr sz="1000" b="0" i="0">
                <a:solidFill>
                  <a:srgbClr val="404040"/>
                </a:solidFill>
                <a:latin typeface="Calibri"/>
              </a:rPr>
              <a:t>  CER_normal = 2.22%  (= 0.0222 ratio)</a:t>
            </a:r>
          </a:p>
          <a:p>
            <a:pPr algn="l"/>
            <a:r>
              <a:rPr sz="1000" b="0" i="0">
                <a:solidFill>
                  <a:srgbClr val="404040"/>
                </a:solidFill>
                <a:latin typeface="Calibri"/>
              </a:rPr>
              <a:t>  WER_all = 110.82%  (= 1.1082 ratio)</a:t>
            </a:r>
          </a:p>
          <a:p>
            <a:pPr algn="l"/>
            <a:r>
              <a:rPr sz="1000" b="0" i="0">
                <a:solidFill>
                  <a:srgbClr val="404040"/>
                </a:solidFill>
                <a:latin typeface="Calibri"/>
              </a:rPr>
              <a:t>  WER_normal = 5.12%  (= 0.0512 ratio)</a:t>
            </a:r>
          </a:p>
          <a:p>
            <a:pPr algn="l"/>
            <a:endParaRPr sz="1000" b="0" i="0">
              <a:solidFill>
                <a:srgbClr val="404040"/>
              </a:solidFill>
              <a:latin typeface="Calibri"/>
            </a:endParaRPr>
          </a:p>
          <a:p>
            <a:pPr algn="l"/>
            <a:r>
              <a:rPr sz="1100" b="1" i="0">
                <a:solidFill>
                  <a:srgbClr val="1F3864"/>
                </a:solidFill>
                <a:latin typeface="Calibri"/>
              </a:rPr>
              <a:t>Back-calculate CER for runaway samples:</a:t>
            </a:r>
          </a:p>
          <a:p>
            <a:pPr algn="l"/>
            <a:r>
              <a:rPr sz="1000" b="0" i="0">
                <a:solidFill>
                  <a:srgbClr val="2E75B6"/>
                </a:solidFill>
                <a:latin typeface="Calibri"/>
              </a:rPr>
              <a:t>  CER_r x 1,816 = 1.1442x37,101 - 0.0222x35,285</a:t>
            </a:r>
          </a:p>
          <a:p>
            <a:pPr algn="l"/>
            <a:r>
              <a:rPr sz="1000" b="0" i="0">
                <a:solidFill>
                  <a:srgbClr val="2E75B6"/>
                </a:solidFill>
                <a:latin typeface="Calibri"/>
              </a:rPr>
              <a:t>                = 42,449 - 783 = 41,666</a:t>
            </a:r>
          </a:p>
          <a:p>
            <a:pPr algn="l"/>
            <a:r>
              <a:rPr sz="1000" b="1" i="0">
                <a:solidFill>
                  <a:srgbClr val="C00000"/>
                </a:solidFill>
                <a:latin typeface="Calibri"/>
              </a:rPr>
              <a:t>  CER_r = 41,666 / 1,816 = 22.95 = 2295%</a:t>
            </a:r>
          </a:p>
          <a:p>
            <a:pPr algn="l"/>
            <a:endParaRPr sz="1000" b="1" i="0">
              <a:solidFill>
                <a:srgbClr val="C00000"/>
              </a:solidFill>
              <a:latin typeface="Calibri"/>
            </a:endParaRPr>
          </a:p>
          <a:p>
            <a:pPr algn="l"/>
            <a:r>
              <a:rPr sz="1100" b="1" i="0">
                <a:solidFill>
                  <a:srgbClr val="1F3864"/>
                </a:solidFill>
                <a:latin typeface="Calibri"/>
              </a:rPr>
              <a:t>Back-calculate WER for runaway samples:</a:t>
            </a:r>
          </a:p>
          <a:p>
            <a:pPr algn="l"/>
            <a:r>
              <a:rPr sz="1000" b="0" i="0">
                <a:solidFill>
                  <a:srgbClr val="2E75B6"/>
                </a:solidFill>
                <a:latin typeface="Calibri"/>
              </a:rPr>
              <a:t>  Ref words (all)=7,631  (normal)=7,255  (runaway)=376</a:t>
            </a:r>
          </a:p>
          <a:p>
            <a:pPr algn="l"/>
            <a:r>
              <a:rPr sz="1000" b="0" i="0">
                <a:solidFill>
                  <a:srgbClr val="2E75B6"/>
                </a:solidFill>
                <a:latin typeface="Calibri"/>
              </a:rPr>
              <a:t>  WER_r x 376 = 1.1082x7,631 - 0.0512x7,255</a:t>
            </a:r>
          </a:p>
          <a:p>
            <a:pPr algn="l"/>
            <a:r>
              <a:rPr sz="1000" b="0" i="0">
                <a:solidFill>
                  <a:srgbClr val="2E75B6"/>
                </a:solidFill>
                <a:latin typeface="Calibri"/>
              </a:rPr>
              <a:t>             = 8,457 - 371 = 8,086</a:t>
            </a:r>
          </a:p>
          <a:p>
            <a:pPr algn="l"/>
            <a:r>
              <a:rPr sz="1000" b="1" i="0">
                <a:solidFill>
                  <a:srgbClr val="C00000"/>
                </a:solidFill>
                <a:latin typeface="Calibri"/>
              </a:rPr>
              <a:t>  WER_r = 8,086 / 376 = 21.50 = 2150%</a:t>
            </a:r>
          </a:p>
          <a:p>
            <a:pPr algn="l"/>
            <a:endParaRPr sz="1000" b="1" i="0">
              <a:solidFill>
                <a:srgbClr val="C00000"/>
              </a:solidFill>
              <a:latin typeface="Calibri"/>
            </a:endParaRPr>
          </a:p>
          <a:p>
            <a:pPr algn="l"/>
            <a:r>
              <a:rPr sz="1100" b="1" i="0">
                <a:solidFill>
                  <a:srgbClr val="378635"/>
                </a:solidFill>
                <a:latin typeface="Calibri"/>
              </a:rPr>
              <a:t>Interpretation:</a:t>
            </a:r>
          </a:p>
          <a:p>
            <a:pPr algn="l"/>
            <a:r>
              <a:rPr sz="1000" b="0" i="0">
                <a:solidFill>
                  <a:srgbClr val="378635"/>
                </a:solidFill>
                <a:latin typeface="Calibri"/>
              </a:rPr>
              <a:t>  CER_r / WER_r = 2295 / 2150 = 1.07x  (theory: 1.0x)</a:t>
            </a:r>
          </a:p>
          <a:p>
            <a:pPr algn="l"/>
            <a:r>
              <a:rPr sz="1000" b="0" i="0">
                <a:solidFill>
                  <a:srgbClr val="378635"/>
                </a:solidFill>
                <a:latin typeface="Calibri"/>
              </a:rPr>
              <a:t>  k-1 = 22.95  =&gt;  avg repetition count k ~ 24x</a:t>
            </a:r>
          </a:p>
          <a:p>
            <a:pPr algn="l"/>
            <a:r>
              <a:rPr sz="1000" b="0" i="0">
                <a:solidFill>
                  <a:srgbClr val="C00000"/>
                </a:solidFill>
                <a:latin typeface="Calibri"/>
              </a:rPr>
              <a:t>  22 runaway samples contribute ~98% of all-samples CER!</a:t>
            </a:r>
          </a:p>
          <a:p>
            <a:pPr algn="l"/>
            <a:r>
              <a:rPr sz="1000" b="0" i="0">
                <a:solidFill>
                  <a:srgbClr val="404040"/>
                </a:solidFill>
                <a:latin typeface="Calibri"/>
              </a:rPr>
              <a:t>  =&gt; Normal-only is essential for true quality measurement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17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Understanding the Results — Metric Context Matters</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All-samples CER/WER is inflated by Qaari runaway bug  |  Normal-only = true OCR quality</a:t>
            </a:r>
          </a:p>
        </p:txBody>
      </p:sp>
      <p:graphicFrame>
        <p:nvGraphicFramePr>
          <p:cNvPr id="6" name="Table 5"/>
          <p:cNvGraphicFramePr>
            <a:graphicFrameLocks noGrp="1"/>
          </p:cNvGraphicFramePr>
          <p:nvPr/>
        </p:nvGraphicFramePr>
        <p:xfrm>
          <a:off x="457200" y="1363000"/>
          <a:ext cx="6800000" cy="2240000"/>
        </p:xfrm>
        <a:graphic>
          <a:graphicData uri="http://schemas.openxmlformats.org/drawingml/2006/table">
            <a:tbl>
              <a:tblPr firstRow="1" bandRow="1">
                <a:tableStyleId>{5C22544A-7EE6-4342-B048-85BDC9FD1C3A}</a:tableStyleId>
              </a:tblPr>
              <a:tblGrid>
                <a:gridCol w="1700000"/>
                <a:gridCol w="1100000"/>
                <a:gridCol w="1100000"/>
                <a:gridCol w="1100000"/>
                <a:gridCol w="1100000"/>
                <a:gridCol w="700000"/>
              </a:tblGrid>
              <a:tr h="560000">
                <a:tc>
                  <a:txBody>
                    <a:bodyPr/>
                    <a:lstStyle/>
                    <a:p>
                      <a:pPr algn="ctr"/>
                      <a:r>
                        <a:rPr sz="900" b="1">
                          <a:solidFill>
                            <a:srgbClr val="FFFFFF"/>
                          </a:solidFill>
                        </a:rPr>
                        <a:t>Dataset (Phase 1)</a:t>
                      </a:r>
                    </a:p>
                  </a:txBody>
                  <a:tcPr>
                    <a:solidFill>
                      <a:srgbClr val="1F3864"/>
                    </a:solidFill>
                  </a:tcPr>
                </a:tc>
                <a:tc>
                  <a:txBody>
                    <a:bodyPr/>
                    <a:lstStyle/>
                    <a:p>
                      <a:pPr algn="ctr"/>
                      <a:r>
                        <a:rPr sz="900" b="1">
                          <a:solidFill>
                            <a:srgbClr val="FFFFFF"/>
                          </a:solidFill>
                        </a:rPr>
                        <a:t>All+Diac CER</a:t>
                      </a:r>
                    </a:p>
                  </a:txBody>
                  <a:tcPr>
                    <a:solidFill>
                      <a:srgbClr val="1F3864"/>
                    </a:solidFill>
                  </a:tcPr>
                </a:tc>
                <a:tc>
                  <a:txBody>
                    <a:bodyPr/>
                    <a:lstStyle/>
                    <a:p>
                      <a:pPr algn="ctr"/>
                      <a:r>
                        <a:rPr sz="900" b="1">
                          <a:solidFill>
                            <a:srgbClr val="FFFFFF"/>
                          </a:solidFill>
                        </a:rPr>
                        <a:t>All NoDiac CER</a:t>
                      </a:r>
                    </a:p>
                  </a:txBody>
                  <a:tcPr>
                    <a:solidFill>
                      <a:srgbClr val="1F3864"/>
                    </a:solidFill>
                  </a:tcPr>
                </a:tc>
                <a:tc>
                  <a:txBody>
                    <a:bodyPr/>
                    <a:lstStyle/>
                    <a:p>
                      <a:pPr algn="ctr"/>
                      <a:r>
                        <a:rPr sz="900" b="1">
                          <a:solidFill>
                            <a:srgbClr val="FFFFFF"/>
                          </a:solidFill>
                        </a:rPr>
                        <a:t>Norm+Diac CER</a:t>
                      </a:r>
                    </a:p>
                  </a:txBody>
                  <a:tcPr>
                    <a:solidFill>
                      <a:srgbClr val="1F3864"/>
                    </a:solidFill>
                  </a:tcPr>
                </a:tc>
                <a:tc>
                  <a:txBody>
                    <a:bodyPr/>
                    <a:lstStyle/>
                    <a:p>
                      <a:pPr algn="ctr"/>
                      <a:r>
                        <a:rPr sz="900" b="1">
                          <a:solidFill>
                            <a:srgbClr val="FFFFFF"/>
                          </a:solidFill>
                        </a:rPr>
                        <a:t>Norm NoDiac CER *</a:t>
                      </a:r>
                    </a:p>
                  </a:txBody>
                  <a:tcPr>
                    <a:solidFill>
                      <a:srgbClr val="2E75B6"/>
                    </a:solidFill>
                  </a:tcPr>
                </a:tc>
                <a:tc>
                  <a:txBody>
                    <a:bodyPr/>
                    <a:lstStyle/>
                    <a:p>
                      <a:pPr algn="ctr"/>
                      <a:r>
                        <a:rPr sz="900" b="1">
                          <a:solidFill>
                            <a:srgbClr val="FFFFFF"/>
                          </a:solidFill>
                        </a:rPr>
                        <a:t>Runaway %</a:t>
                      </a:r>
                    </a:p>
                  </a:txBody>
                  <a:tcPr>
                    <a:solidFill>
                      <a:srgbClr val="1F3864"/>
                    </a:solidFill>
                  </a:tcPr>
                </a:tc>
              </a:tr>
              <a:tr h="560000">
                <a:tc>
                  <a:txBody>
                    <a:bodyPr/>
                    <a:lstStyle/>
                    <a:p>
                      <a:pPr algn="l"/>
                      <a:r>
                        <a:rPr sz="900" b="0">
                          <a:solidFill>
                            <a:srgbClr val="404040"/>
                          </a:solidFill>
                        </a:rPr>
                        <a:t>PATS avg (8 fonts)</a:t>
                      </a:r>
                    </a:p>
                  </a:txBody>
                  <a:tcPr/>
                </a:tc>
                <a:tc>
                  <a:txBody>
                    <a:bodyPr/>
                    <a:lstStyle/>
                    <a:p>
                      <a:pPr algn="ctr"/>
                      <a:r>
                        <a:rPr sz="900" b="0">
                          <a:solidFill>
                            <a:srgbClr val="404040"/>
                          </a:solidFill>
                        </a:rPr>
                        <a:t>131.55%</a:t>
                      </a:r>
                    </a:p>
                  </a:txBody>
                  <a:tcPr/>
                </a:tc>
                <a:tc>
                  <a:txBody>
                    <a:bodyPr/>
                    <a:lstStyle/>
                    <a:p>
                      <a:pPr algn="ctr"/>
                      <a:r>
                        <a:rPr sz="900" b="0">
                          <a:solidFill>
                            <a:srgbClr val="404040"/>
                          </a:solidFill>
                        </a:rPr>
                        <a:t>127.56%</a:t>
                      </a:r>
                    </a:p>
                  </a:txBody>
                  <a:tcPr/>
                </a:tc>
                <a:tc>
                  <a:txBody>
                    <a:bodyPr/>
                    <a:lstStyle/>
                    <a:p>
                      <a:pPr algn="ctr"/>
                      <a:r>
                        <a:rPr sz="900" b="0">
                          <a:solidFill>
                            <a:srgbClr val="404040"/>
                          </a:solidFill>
                        </a:rPr>
                        <a:t>6.50%</a:t>
                      </a:r>
                    </a:p>
                  </a:txBody>
                  <a:tcPr/>
                </a:tc>
                <a:tc>
                  <a:txBody>
                    <a:bodyPr/>
                    <a:lstStyle/>
                    <a:p>
                      <a:pPr algn="ctr"/>
                      <a:r>
                        <a:rPr sz="900" b="0">
                          <a:solidFill>
                            <a:srgbClr val="2E75B6"/>
                          </a:solidFill>
                        </a:rPr>
                        <a:t>5.57%</a:t>
                      </a:r>
                    </a:p>
                  </a:txBody>
                  <a:tcPr/>
                </a:tc>
                <a:tc>
                  <a:txBody>
                    <a:bodyPr/>
                    <a:lstStyle/>
                    <a:p>
                      <a:pPr algn="ctr"/>
                      <a:r>
                        <a:rPr sz="900" b="0">
                          <a:solidFill>
                            <a:srgbClr val="404040"/>
                          </a:solidFill>
                        </a:rPr>
                        <a:t>5.5%</a:t>
                      </a:r>
                    </a:p>
                  </a:txBody>
                  <a:tcPr/>
                </a:tc>
              </a:tr>
              <a:tr h="560000">
                <a:tc>
                  <a:txBody>
                    <a:bodyPr/>
                    <a:lstStyle/>
                    <a:p>
                      <a:pPr algn="l"/>
                      <a:r>
                        <a:rPr sz="900" b="0">
                          <a:solidFill>
                            <a:srgbClr val="2E75B6"/>
                          </a:solidFill>
                        </a:rPr>
                        <a:t>KHATT-validation</a:t>
                      </a:r>
                    </a:p>
                  </a:txBody>
                  <a:tcPr>
                    <a:solidFill>
                      <a:srgbClr val="D6E4F7"/>
                    </a:solidFill>
                  </a:tcPr>
                </a:tc>
                <a:tc>
                  <a:txBody>
                    <a:bodyPr/>
                    <a:lstStyle/>
                    <a:p>
                      <a:pPr algn="ctr"/>
                      <a:r>
                        <a:rPr sz="900" b="0">
                          <a:solidFill>
                            <a:srgbClr val="404040"/>
                          </a:solidFill>
                        </a:rPr>
                        <a:t>565.58%</a:t>
                      </a:r>
                    </a:p>
                  </a:txBody>
                  <a:tcPr>
                    <a:solidFill>
                      <a:srgbClr val="D6E4F7"/>
                    </a:solidFill>
                  </a:tcPr>
                </a:tc>
                <a:tc>
                  <a:txBody>
                    <a:bodyPr/>
                    <a:lstStyle/>
                    <a:p>
                      <a:pPr algn="ctr"/>
                      <a:r>
                        <a:rPr sz="900" b="0">
                          <a:solidFill>
                            <a:srgbClr val="404040"/>
                          </a:solidFill>
                        </a:rPr>
                        <a:t>404.64%</a:t>
                      </a:r>
                    </a:p>
                  </a:txBody>
                  <a:tcPr>
                    <a:solidFill>
                      <a:srgbClr val="D6E4F7"/>
                    </a:solidFill>
                  </a:tcPr>
                </a:tc>
                <a:tc>
                  <a:txBody>
                    <a:bodyPr/>
                    <a:lstStyle/>
                    <a:p>
                      <a:pPr algn="ctr"/>
                      <a:r>
                        <a:rPr sz="900" b="0">
                          <a:solidFill>
                            <a:srgbClr val="404040"/>
                          </a:solidFill>
                        </a:rPr>
                        <a:t>60.59%</a:t>
                      </a:r>
                    </a:p>
                  </a:txBody>
                  <a:tcPr>
                    <a:solidFill>
                      <a:srgbClr val="D6E4F7"/>
                    </a:solidFill>
                  </a:tcPr>
                </a:tc>
                <a:tc>
                  <a:txBody>
                    <a:bodyPr/>
                    <a:lstStyle/>
                    <a:p>
                      <a:pPr algn="ctr"/>
                      <a:r>
                        <a:rPr sz="900" b="0">
                          <a:solidFill>
                            <a:srgbClr val="2E75B6"/>
                          </a:solidFill>
                        </a:rPr>
                        <a:t>34.24%</a:t>
                      </a:r>
                    </a:p>
                  </a:txBody>
                  <a:tcPr>
                    <a:solidFill>
                      <a:srgbClr val="D6E4F7"/>
                    </a:solidFill>
                  </a:tcPr>
                </a:tc>
                <a:tc>
                  <a:txBody>
                    <a:bodyPr/>
                    <a:lstStyle/>
                    <a:p>
                      <a:pPr algn="ctr"/>
                      <a:r>
                        <a:rPr sz="900" b="0">
                          <a:solidFill>
                            <a:srgbClr val="404040"/>
                          </a:solidFill>
                        </a:rPr>
                        <a:t>17.7%</a:t>
                      </a:r>
                    </a:p>
                  </a:txBody>
                  <a:tcPr>
                    <a:solidFill>
                      <a:srgbClr val="D6E4F7"/>
                    </a:solidFill>
                  </a:tcPr>
                </a:tc>
              </a:tr>
              <a:tr h="560000">
                <a:tc>
                  <a:txBody>
                    <a:bodyPr/>
                    <a:lstStyle/>
                    <a:p>
                      <a:pPr algn="l"/>
                      <a:r>
                        <a:rPr sz="900" b="1">
                          <a:solidFill>
                            <a:srgbClr val="C00000"/>
                          </a:solidFill>
                        </a:rPr>
                        <a:t>KHATT / PATS ratio</a:t>
                      </a:r>
                    </a:p>
                  </a:txBody>
                  <a:tcPr>
                    <a:solidFill>
                      <a:srgbClr val="F2F2F2"/>
                    </a:solidFill>
                  </a:tcPr>
                </a:tc>
                <a:tc>
                  <a:txBody>
                    <a:bodyPr/>
                    <a:lstStyle/>
                    <a:p>
                      <a:pPr algn="ctr"/>
                      <a:r>
                        <a:rPr sz="900" b="0">
                          <a:solidFill>
                            <a:srgbClr val="C00000"/>
                          </a:solidFill>
                        </a:rPr>
                        <a:t>4.30x</a:t>
                      </a:r>
                    </a:p>
                  </a:txBody>
                  <a:tcPr>
                    <a:solidFill>
                      <a:srgbClr val="F2F2F2"/>
                    </a:solidFill>
                  </a:tcPr>
                </a:tc>
                <a:tc>
                  <a:txBody>
                    <a:bodyPr/>
                    <a:lstStyle/>
                    <a:p>
                      <a:pPr algn="ctr"/>
                      <a:r>
                        <a:rPr sz="900" b="0">
                          <a:solidFill>
                            <a:srgbClr val="C00000"/>
                          </a:solidFill>
                        </a:rPr>
                        <a:t>3.17x</a:t>
                      </a:r>
                    </a:p>
                  </a:txBody>
                  <a:tcPr>
                    <a:solidFill>
                      <a:srgbClr val="F2F2F2"/>
                    </a:solidFill>
                  </a:tcPr>
                </a:tc>
                <a:tc>
                  <a:txBody>
                    <a:bodyPr/>
                    <a:lstStyle/>
                    <a:p>
                      <a:pPr algn="ctr"/>
                      <a:r>
                        <a:rPr sz="900" b="0">
                          <a:solidFill>
                            <a:srgbClr val="C00000"/>
                          </a:solidFill>
                        </a:rPr>
                        <a:t>9.32x</a:t>
                      </a:r>
                    </a:p>
                  </a:txBody>
                  <a:tcPr>
                    <a:solidFill>
                      <a:srgbClr val="F2F2F2"/>
                    </a:solidFill>
                  </a:tcPr>
                </a:tc>
                <a:tc>
                  <a:txBody>
                    <a:bodyPr/>
                    <a:lstStyle/>
                    <a:p>
                      <a:pPr algn="ctr"/>
                      <a:r>
                        <a:rPr sz="900" b="0">
                          <a:solidFill>
                            <a:srgbClr val="C00000"/>
                          </a:solidFill>
                        </a:rPr>
                        <a:t>6.15x</a:t>
                      </a:r>
                    </a:p>
                  </a:txBody>
                  <a:tcPr>
                    <a:solidFill>
                      <a:srgbClr val="F2F2F2"/>
                    </a:solidFill>
                  </a:tcPr>
                </a:tc>
                <a:tc>
                  <a:txBody>
                    <a:bodyPr/>
                    <a:lstStyle/>
                    <a:p>
                      <a:pPr algn="ctr"/>
                      <a:r>
                        <a:rPr sz="900" b="0">
                          <a:solidFill>
                            <a:srgbClr val="C00000"/>
                          </a:solidFill>
                        </a:rPr>
                        <a:t>--</a:t>
                      </a:r>
                    </a:p>
                  </a:txBody>
                  <a:tcPr>
                    <a:solidFill>
                      <a:srgbClr val="F2F2F2"/>
                    </a:solidFill>
                  </a:tcPr>
                </a:tc>
              </a:tr>
            </a:tbl>
          </a:graphicData>
        </a:graphic>
      </p:graphicFrame>
      <p:sp>
        <p:nvSpPr>
          <p:cNvPr id="7" name="TextBox 6"/>
          <p:cNvSpPr txBox="1"/>
          <p:nvPr/>
        </p:nvSpPr>
        <p:spPr>
          <a:xfrm>
            <a:off x="7714400" y="1323000"/>
            <a:ext cx="4017352" cy="5515000"/>
          </a:xfrm>
          <a:prstGeom prst="rect">
            <a:avLst/>
          </a:prstGeom>
          <a:noFill/>
        </p:spPr>
        <p:txBody>
          <a:bodyPr wrap="square">
            <a:spAutoFit/>
          </a:bodyPr>
          <a:lstStyle/>
          <a:p>
            <a:endParaRPr/>
          </a:p>
          <a:p>
            <a:pPr algn="l"/>
            <a:r>
              <a:rPr sz="1200" b="1" i="0">
                <a:solidFill>
                  <a:srgbClr val="1F3864"/>
                </a:solidFill>
                <a:latin typeface="Calibri"/>
              </a:rPr>
              <a:t>Key Claims Validated</a:t>
            </a:r>
          </a:p>
          <a:p>
            <a:pPr algn="l"/>
            <a:endParaRPr sz="1200" b="1" i="0">
              <a:solidFill>
                <a:srgbClr val="1F3864"/>
              </a:solidFill>
              <a:latin typeface="Calibri"/>
            </a:endParaRPr>
          </a:p>
          <a:p>
            <a:pPr algn="l"/>
            <a:r>
              <a:rPr sz="1100" b="1" i="0">
                <a:solidFill>
                  <a:srgbClr val="2E75B6"/>
                </a:solidFill>
                <a:latin typeface="Calibri"/>
              </a:rPr>
              <a:t>Claim 1: KHATT 4.3x harder than PATS</a:t>
            </a:r>
          </a:p>
          <a:p>
            <a:pPr algn="l"/>
            <a:r>
              <a:rPr sz="1000" b="0" i="0">
                <a:solidFill>
                  <a:srgbClr val="404040"/>
                </a:solidFill>
                <a:latin typeface="Calibri"/>
              </a:rPr>
              <a:t>Context: all-samples + diacritics CER</a:t>
            </a:r>
          </a:p>
          <a:p>
            <a:pPr algn="l"/>
            <a:r>
              <a:rPr sz="1000" b="0" i="0">
                <a:solidFill>
                  <a:srgbClr val="378635"/>
                </a:solidFill>
                <a:latin typeface="Calibri"/>
              </a:rPr>
              <a:t>565.58 / 131.55 = 4.30x  [verified]</a:t>
            </a:r>
          </a:p>
          <a:p>
            <a:pPr algn="l"/>
            <a:r>
              <a:rPr sz="1000" b="0" i="0">
                <a:solidFill>
                  <a:srgbClr val="ED7D31"/>
                </a:solidFill>
                <a:latin typeface="Calibri"/>
              </a:rPr>
              <a:t>Normal-only no-diac: 34.24/5.57 = 6.15x</a:t>
            </a:r>
          </a:p>
          <a:p>
            <a:pPr algn="l"/>
            <a:r>
              <a:rPr sz="900" b="0" i="0">
                <a:solidFill>
                  <a:srgbClr val="404040"/>
                </a:solidFill>
                <a:latin typeface="Calibri"/>
              </a:rPr>
              <a:t>(true difficulty gap is larger!)</a:t>
            </a:r>
          </a:p>
          <a:p>
            <a:pPr algn="l"/>
            <a:endParaRPr sz="900" b="0" i="0">
              <a:solidFill>
                <a:srgbClr val="404040"/>
              </a:solidFill>
              <a:latin typeface="Calibri"/>
            </a:endParaRPr>
          </a:p>
          <a:p>
            <a:pPr algn="l"/>
            <a:r>
              <a:rPr sz="1100" b="1" i="0">
                <a:solidFill>
                  <a:srgbClr val="2E75B6"/>
                </a:solidFill>
                <a:latin typeface="Calibri"/>
              </a:rPr>
              <a:t>Claim 2: 51% improvement (P8 KHATT)</a:t>
            </a:r>
          </a:p>
          <a:p>
            <a:pPr algn="l"/>
            <a:r>
              <a:rPr sz="1000" b="0" i="0">
                <a:solidFill>
                  <a:srgbClr val="404040"/>
                </a:solidFill>
                <a:latin typeface="Calibri"/>
              </a:rPr>
              <a:t>Context: all-samples CER</a:t>
            </a:r>
          </a:p>
          <a:p>
            <a:pPr algn="l"/>
            <a:r>
              <a:rPr sz="1000" b="0" i="0">
                <a:solidFill>
                  <a:srgbClr val="404040"/>
                </a:solidFill>
                <a:latin typeface="Calibri"/>
              </a:rPr>
              <a:t>P1=565.58%, P8=277.27%</a:t>
            </a:r>
          </a:p>
          <a:p>
            <a:pPr algn="l"/>
            <a:r>
              <a:rPr sz="1000" b="0" i="0">
                <a:solidFill>
                  <a:srgbClr val="378635"/>
                </a:solidFill>
                <a:latin typeface="Calibri"/>
              </a:rPr>
              <a:t>(565.58-277.27)/565.58 = 51.0%  [verified]</a:t>
            </a:r>
          </a:p>
          <a:p>
            <a:pPr algn="l"/>
            <a:r>
              <a:rPr sz="1000" b="0" i="0">
                <a:solidFill>
                  <a:srgbClr val="404040"/>
                </a:solidFill>
                <a:latin typeface="Calibri"/>
              </a:rPr>
              <a:t>But normal-only no-diac:</a:t>
            </a:r>
          </a:p>
          <a:p>
            <a:pPr algn="l"/>
            <a:r>
              <a:rPr sz="1000" b="0" i="0">
                <a:solidFill>
                  <a:srgbClr val="C00000"/>
                </a:solidFill>
                <a:latin typeface="Calibri"/>
              </a:rPr>
              <a:t>P1=34.24%, P8=33.83% =&gt; 1.2% gain</a:t>
            </a:r>
          </a:p>
          <a:p>
            <a:pPr algn="l"/>
            <a:r>
              <a:rPr sz="900" b="0" i="0">
                <a:solidFill>
                  <a:srgbClr val="404040"/>
                </a:solidFill>
                <a:latin typeface="Calibri"/>
              </a:rPr>
              <a:t>(51% = runaway resolution, not OCR fix)</a:t>
            </a:r>
          </a:p>
          <a:p>
            <a:pPr algn="l"/>
            <a:endParaRPr sz="900" b="0" i="0">
              <a:solidFill>
                <a:srgbClr val="404040"/>
              </a:solidFill>
              <a:latin typeface="Calibri"/>
            </a:endParaRPr>
          </a:p>
          <a:p>
            <a:pPr algn="l"/>
            <a:r>
              <a:rPr sz="1100" b="1" i="0">
                <a:solidFill>
                  <a:srgbClr val="2E75B6"/>
                </a:solidFill>
                <a:latin typeface="Calibri"/>
              </a:rPr>
              <a:t>Why normal-only no-diac is primary:</a:t>
            </a:r>
          </a:p>
          <a:p>
            <a:pPr algn="l"/>
            <a:r>
              <a:rPr sz="1000" b="0" i="0">
                <a:solidFill>
                  <a:srgbClr val="404040"/>
                </a:solidFill>
                <a:latin typeface="Calibri"/>
              </a:rPr>
              <a:t>1. Removes runaway contamination</a:t>
            </a:r>
          </a:p>
          <a:p>
            <a:pPr algn="l"/>
            <a:r>
              <a:rPr sz="1000" b="0" i="0">
                <a:solidFill>
                  <a:srgbClr val="404040"/>
                </a:solidFill>
                <a:latin typeface="Calibri"/>
              </a:rPr>
              <a:t>   (17.7% KHATT / 5.5% PATS runaway)</a:t>
            </a:r>
          </a:p>
          <a:p>
            <a:pPr algn="l"/>
            <a:r>
              <a:rPr sz="1000" b="0" i="0">
                <a:solidFill>
                  <a:srgbClr val="404040"/>
                </a:solidFill>
                <a:latin typeface="Calibri"/>
              </a:rPr>
              <a:t>2. Removes diacritic artifacts</a:t>
            </a:r>
          </a:p>
          <a:p>
            <a:pPr algn="l"/>
            <a:r>
              <a:rPr sz="1000" b="0" i="0">
                <a:solidFill>
                  <a:srgbClr val="404040"/>
                </a:solidFill>
                <a:latin typeface="Calibri"/>
              </a:rPr>
              <a:t>   (Qaari inconsistently adds/drops diacritics)</a:t>
            </a:r>
          </a:p>
          <a:p>
            <a:pPr algn="l"/>
            <a:r>
              <a:rPr sz="1000" b="0" i="0">
                <a:solidFill>
                  <a:srgbClr val="404040"/>
                </a:solidFill>
                <a:latin typeface="Calibri"/>
              </a:rPr>
              <a:t>3. Shows true character correction quality</a:t>
            </a:r>
          </a:p>
          <a:p>
            <a:pPr algn="l"/>
            <a:endParaRPr sz="1000" b="0" i="0">
              <a:solidFill>
                <a:srgbClr val="404040"/>
              </a:solidFill>
              <a:latin typeface="Calibri"/>
            </a:endParaRPr>
          </a:p>
          <a:p>
            <a:pPr algn="l"/>
            <a:r>
              <a:rPr sz="800" b="0" i="0">
                <a:solidFill>
                  <a:srgbClr val="404040"/>
                </a:solidFill>
                <a:latin typeface="Calibri"/>
              </a:rPr>
              <a:t>* PATS avg = simple mean of 8 fonts (CER %)</a:t>
            </a:r>
          </a:p>
        </p:txBody>
      </p:sp>
      <p:sp>
        <p:nvSpPr>
          <p:cNvPr id="8" name="TextBox 7"/>
          <p:cNvSpPr txBox="1"/>
          <p:nvPr/>
        </p:nvSpPr>
        <p:spPr>
          <a:xfrm>
            <a:off x="457200" y="6338000"/>
            <a:ext cx="11274552" cy="480000"/>
          </a:xfrm>
          <a:prstGeom prst="rect">
            <a:avLst/>
          </a:prstGeom>
          <a:noFill/>
        </p:spPr>
        <p:txBody>
          <a:bodyPr wrap="square">
            <a:spAutoFit/>
          </a:bodyPr>
          <a:lstStyle/>
          <a:p>
            <a:endParaRPr/>
          </a:p>
          <a:p>
            <a:pPr algn="l"/>
            <a:r>
              <a:rPr sz="900" b="0" i="0">
                <a:solidFill>
                  <a:srgbClr val="404040"/>
                </a:solidFill>
                <a:latin typeface="Calibri"/>
              </a:rPr>
              <a:t>Data source: Phase 1 baseline_metrics.json (OCR = Qaari v1, no LLM). PATS avg is arithmetic mean across 8 fonts. All-samples includes 22-47 runaway samples per PATS font (avg 5.5%) and 40 runaway samples for KHATT (17.7%).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18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Phase 1 Baseline — Complete Metric Breakdown (4 Variants)</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Each dataset x {All / Normal-only} x {With diacritics / Without diacritics}</a:t>
            </a:r>
          </a:p>
        </p:txBody>
      </p:sp>
      <p:graphicFrame>
        <p:nvGraphicFramePr>
          <p:cNvPr id="6" name="Table 5"/>
          <p:cNvGraphicFramePr>
            <a:graphicFrameLocks noGrp="1"/>
          </p:cNvGraphicFramePr>
          <p:nvPr/>
        </p:nvGraphicFramePr>
        <p:xfrm>
          <a:off x="457200" y="1343000"/>
          <a:ext cx="9400000" cy="4270000"/>
        </p:xfrm>
        <a:graphic>
          <a:graphicData uri="http://schemas.openxmlformats.org/drawingml/2006/table">
            <a:tbl>
              <a:tblPr firstRow="1" bandRow="1">
                <a:tableStyleId>{5C22544A-7EE6-4342-B048-85BDC9FD1C3A}</a:tableStyleId>
              </a:tblPr>
              <a:tblGrid>
                <a:gridCol w="1500000"/>
                <a:gridCol w="900000"/>
                <a:gridCol w="900000"/>
                <a:gridCol w="900000"/>
                <a:gridCol w="900000"/>
                <a:gridCol w="900000"/>
                <a:gridCol w="900000"/>
                <a:gridCol w="900000"/>
                <a:gridCol w="900000"/>
                <a:gridCol w="700000"/>
              </a:tblGrid>
              <a:tr h="490000">
                <a:tc>
                  <a:txBody>
                    <a:bodyPr/>
                    <a:lstStyle/>
                    <a:p>
                      <a:pPr algn="ctr"/>
                      <a:r>
                        <a:rPr sz="900" b="1">
                          <a:solidFill>
                            <a:srgbClr val="FFFFFF"/>
                          </a:solidFill>
                        </a:rPr>
                        <a:t>Dataset</a:t>
                      </a:r>
                    </a:p>
                  </a:txBody>
                  <a:tcPr>
                    <a:solidFill>
                      <a:srgbClr val="1F3864"/>
                    </a:solidFill>
                  </a:tcPr>
                </a:tc>
                <a:tc>
                  <a:txBody>
                    <a:bodyPr/>
                    <a:lstStyle/>
                    <a:p>
                      <a:pPr algn="ctr"/>
                      <a:r>
                        <a:rPr sz="900" b="1">
                          <a:solidFill>
                            <a:srgbClr val="FFFFFF"/>
                          </a:solidFill>
                        </a:rPr>
                        <a:t>All+Diac CER</a:t>
                      </a:r>
                    </a:p>
                  </a:txBody>
                  <a:tcPr>
                    <a:solidFill>
                      <a:srgbClr val="1F3864"/>
                    </a:solidFill>
                  </a:tcPr>
                </a:tc>
                <a:tc>
                  <a:txBody>
                    <a:bodyPr/>
                    <a:lstStyle/>
                    <a:p>
                      <a:pPr algn="ctr"/>
                      <a:r>
                        <a:rPr sz="900" b="1">
                          <a:solidFill>
                            <a:srgbClr val="FFFFFF"/>
                          </a:solidFill>
                        </a:rPr>
                        <a:t>All+Diac WER</a:t>
                      </a:r>
                    </a:p>
                  </a:txBody>
                  <a:tcPr>
                    <a:solidFill>
                      <a:srgbClr val="1F3864"/>
                    </a:solidFill>
                  </a:tcPr>
                </a:tc>
                <a:tc>
                  <a:txBody>
                    <a:bodyPr/>
                    <a:lstStyle/>
                    <a:p>
                      <a:pPr algn="ctr"/>
                      <a:r>
                        <a:rPr sz="900" b="1">
                          <a:solidFill>
                            <a:srgbClr val="FFFFFF"/>
                          </a:solidFill>
                        </a:rPr>
                        <a:t>All NoDiac CER</a:t>
                      </a:r>
                    </a:p>
                  </a:txBody>
                  <a:tcPr>
                    <a:solidFill>
                      <a:srgbClr val="1F3864"/>
                    </a:solidFill>
                  </a:tcPr>
                </a:tc>
                <a:tc>
                  <a:txBody>
                    <a:bodyPr/>
                    <a:lstStyle/>
                    <a:p>
                      <a:pPr algn="ctr"/>
                      <a:r>
                        <a:rPr sz="900" b="1">
                          <a:solidFill>
                            <a:srgbClr val="FFFFFF"/>
                          </a:solidFill>
                        </a:rPr>
                        <a:t>All NoDiac WER</a:t>
                      </a:r>
                    </a:p>
                  </a:txBody>
                  <a:tcPr>
                    <a:solidFill>
                      <a:srgbClr val="1F3864"/>
                    </a:solidFill>
                  </a:tcPr>
                </a:tc>
                <a:tc>
                  <a:txBody>
                    <a:bodyPr/>
                    <a:lstStyle/>
                    <a:p>
                      <a:pPr algn="ctr"/>
                      <a:r>
                        <a:rPr sz="900" b="1">
                          <a:solidFill>
                            <a:srgbClr val="FFFFFF"/>
                          </a:solidFill>
                        </a:rPr>
                        <a:t>Norm CER</a:t>
                      </a:r>
                    </a:p>
                  </a:txBody>
                  <a:tcPr>
                    <a:solidFill>
                      <a:srgbClr val="1F3864"/>
                    </a:solidFill>
                  </a:tcPr>
                </a:tc>
                <a:tc>
                  <a:txBody>
                    <a:bodyPr/>
                    <a:lstStyle/>
                    <a:p>
                      <a:pPr algn="ctr"/>
                      <a:r>
                        <a:rPr sz="900" b="1">
                          <a:solidFill>
                            <a:srgbClr val="FFFFFF"/>
                          </a:solidFill>
                        </a:rPr>
                        <a:t>Norm WER</a:t>
                      </a:r>
                    </a:p>
                  </a:txBody>
                  <a:tcPr>
                    <a:solidFill>
                      <a:srgbClr val="1F3864"/>
                    </a:solidFill>
                  </a:tcPr>
                </a:tc>
                <a:tc>
                  <a:txBody>
                    <a:bodyPr/>
                    <a:lstStyle/>
                    <a:p>
                      <a:pPr algn="ctr"/>
                      <a:r>
                        <a:rPr sz="900" b="1">
                          <a:solidFill>
                            <a:srgbClr val="FFFFFF"/>
                          </a:solidFill>
                        </a:rPr>
                        <a:t>Norm NoDiac CER *</a:t>
                      </a:r>
                    </a:p>
                  </a:txBody>
                  <a:tcPr>
                    <a:solidFill>
                      <a:srgbClr val="2E75B6"/>
                    </a:solidFill>
                  </a:tcPr>
                </a:tc>
                <a:tc>
                  <a:txBody>
                    <a:bodyPr/>
                    <a:lstStyle/>
                    <a:p>
                      <a:pPr algn="ctr"/>
                      <a:r>
                        <a:rPr sz="900" b="1">
                          <a:solidFill>
                            <a:srgbClr val="FFFFFF"/>
                          </a:solidFill>
                        </a:rPr>
                        <a:t>Norm NoDiac WER *</a:t>
                      </a:r>
                    </a:p>
                  </a:txBody>
                  <a:tcPr>
                    <a:solidFill>
                      <a:srgbClr val="2E75B6"/>
                    </a:solidFill>
                  </a:tcPr>
                </a:tc>
                <a:tc>
                  <a:txBody>
                    <a:bodyPr/>
                    <a:lstStyle/>
                    <a:p>
                      <a:pPr algn="ctr"/>
                      <a:r>
                        <a:rPr sz="900" b="1">
                          <a:solidFill>
                            <a:srgbClr val="FFFFFF"/>
                          </a:solidFill>
                        </a:rPr>
                        <a:t>Runaway</a:t>
                      </a:r>
                    </a:p>
                  </a:txBody>
                  <a:tcPr>
                    <a:solidFill>
                      <a:srgbClr val="1F3864"/>
                    </a:solidFill>
                  </a:tcPr>
                </a:tc>
              </a:tr>
              <a:tr h="420000">
                <a:tc>
                  <a:txBody>
                    <a:bodyPr/>
                    <a:lstStyle/>
                    <a:p>
                      <a:pPr algn="l"/>
                      <a:r>
                        <a:rPr sz="1000" b="1">
                          <a:solidFill>
                            <a:srgbClr val="404040"/>
                          </a:solidFill>
                        </a:rPr>
                        <a:t>PATS-Akhbar</a:t>
                      </a:r>
                    </a:p>
                  </a:txBody>
                  <a:tcPr/>
                </a:tc>
                <a:tc>
                  <a:txBody>
                    <a:bodyPr/>
                    <a:lstStyle/>
                    <a:p>
                      <a:pPr algn="ctr"/>
                      <a:r>
                        <a:rPr sz="900" b="0">
                          <a:solidFill>
                            <a:srgbClr val="404040"/>
                          </a:solidFill>
                        </a:rPr>
                        <a:t>114.42%</a:t>
                      </a:r>
                    </a:p>
                  </a:txBody>
                  <a:tcPr/>
                </a:tc>
                <a:tc>
                  <a:txBody>
                    <a:bodyPr/>
                    <a:lstStyle/>
                    <a:p>
                      <a:pPr algn="ctr"/>
                      <a:r>
                        <a:rPr sz="900" b="0">
                          <a:solidFill>
                            <a:srgbClr val="404040"/>
                          </a:solidFill>
                        </a:rPr>
                        <a:t>110.82%</a:t>
                      </a:r>
                    </a:p>
                  </a:txBody>
                  <a:tcPr/>
                </a:tc>
                <a:tc>
                  <a:txBody>
                    <a:bodyPr/>
                    <a:lstStyle/>
                    <a:p>
                      <a:pPr algn="ctr"/>
                      <a:r>
                        <a:rPr sz="900" b="0">
                          <a:solidFill>
                            <a:srgbClr val="404040"/>
                          </a:solidFill>
                        </a:rPr>
                        <a:t>111.91%</a:t>
                      </a:r>
                    </a:p>
                  </a:txBody>
                  <a:tcPr/>
                </a:tc>
                <a:tc>
                  <a:txBody>
                    <a:bodyPr/>
                    <a:lstStyle/>
                    <a:p>
                      <a:pPr algn="ctr"/>
                      <a:r>
                        <a:rPr sz="900" b="0">
                          <a:solidFill>
                            <a:srgbClr val="404040"/>
                          </a:solidFill>
                        </a:rPr>
                        <a:t>110.53%</a:t>
                      </a:r>
                    </a:p>
                  </a:txBody>
                  <a:tcPr/>
                </a:tc>
                <a:tc>
                  <a:txBody>
                    <a:bodyPr/>
                    <a:lstStyle/>
                    <a:p>
                      <a:pPr algn="ctr"/>
                      <a:r>
                        <a:rPr sz="900" b="0">
                          <a:solidFill>
                            <a:srgbClr val="404040"/>
                          </a:solidFill>
                        </a:rPr>
                        <a:t>2.22%</a:t>
                      </a:r>
                    </a:p>
                  </a:txBody>
                  <a:tcPr/>
                </a:tc>
                <a:tc>
                  <a:txBody>
                    <a:bodyPr/>
                    <a:lstStyle/>
                    <a:p>
                      <a:pPr algn="ctr"/>
                      <a:r>
                        <a:rPr sz="900" b="0">
                          <a:solidFill>
                            <a:srgbClr val="404040"/>
                          </a:solidFill>
                        </a:rPr>
                        <a:t>5.12%</a:t>
                      </a:r>
                    </a:p>
                  </a:txBody>
                  <a:tcPr/>
                </a:tc>
                <a:tc>
                  <a:txBody>
                    <a:bodyPr/>
                    <a:lstStyle/>
                    <a:p>
                      <a:pPr algn="ctr"/>
                      <a:r>
                        <a:rPr sz="900" b="0">
                          <a:solidFill>
                            <a:srgbClr val="404040"/>
                          </a:solidFill>
                        </a:rPr>
                        <a:t>2.12%</a:t>
                      </a:r>
                    </a:p>
                  </a:txBody>
                  <a:tcPr/>
                </a:tc>
                <a:tc>
                  <a:txBody>
                    <a:bodyPr/>
                    <a:lstStyle/>
                    <a:p>
                      <a:pPr algn="ctr"/>
                      <a:r>
                        <a:rPr sz="900" b="0">
                          <a:solidFill>
                            <a:srgbClr val="404040"/>
                          </a:solidFill>
                        </a:rPr>
                        <a:t>4.84%</a:t>
                      </a:r>
                    </a:p>
                  </a:txBody>
                  <a:tcPr/>
                </a:tc>
                <a:tc>
                  <a:txBody>
                    <a:bodyPr/>
                    <a:lstStyle/>
                    <a:p>
                      <a:pPr algn="ctr"/>
                      <a:r>
                        <a:rPr sz="900" b="0">
                          <a:solidFill>
                            <a:srgbClr val="404040"/>
                          </a:solidFill>
                        </a:rPr>
                        <a:t>4.8%</a:t>
                      </a:r>
                    </a:p>
                  </a:txBody>
                  <a:tcPr/>
                </a:tc>
              </a:tr>
              <a:tr h="420000">
                <a:tc>
                  <a:txBody>
                    <a:bodyPr/>
                    <a:lstStyle/>
                    <a:p>
                      <a:pPr algn="l"/>
                      <a:r>
                        <a:rPr sz="1000" b="1">
                          <a:solidFill>
                            <a:srgbClr val="404040"/>
                          </a:solidFill>
                        </a:rPr>
                        <a:t>PATS-Andalus</a:t>
                      </a:r>
                    </a:p>
                  </a:txBody>
                  <a:tcPr>
                    <a:solidFill>
                      <a:srgbClr val="D6E4F7"/>
                    </a:solidFill>
                  </a:tcPr>
                </a:tc>
                <a:tc>
                  <a:txBody>
                    <a:bodyPr/>
                    <a:lstStyle/>
                    <a:p>
                      <a:pPr algn="ctr"/>
                      <a:r>
                        <a:rPr sz="900" b="0">
                          <a:solidFill>
                            <a:srgbClr val="404040"/>
                          </a:solidFill>
                        </a:rPr>
                        <a:t>154.43%</a:t>
                      </a:r>
                    </a:p>
                  </a:txBody>
                  <a:tcPr>
                    <a:solidFill>
                      <a:srgbClr val="D6E4F7"/>
                    </a:solidFill>
                  </a:tcPr>
                </a:tc>
                <a:tc>
                  <a:txBody>
                    <a:bodyPr/>
                    <a:lstStyle/>
                    <a:p>
                      <a:pPr algn="ctr"/>
                      <a:r>
                        <a:rPr sz="900" b="0">
                          <a:solidFill>
                            <a:srgbClr val="404040"/>
                          </a:solidFill>
                        </a:rPr>
                        <a:t>166.20%</a:t>
                      </a:r>
                    </a:p>
                  </a:txBody>
                  <a:tcPr>
                    <a:solidFill>
                      <a:srgbClr val="D6E4F7"/>
                    </a:solidFill>
                  </a:tcPr>
                </a:tc>
                <a:tc>
                  <a:txBody>
                    <a:bodyPr/>
                    <a:lstStyle/>
                    <a:p>
                      <a:pPr algn="ctr"/>
                      <a:r>
                        <a:rPr sz="900" b="0">
                          <a:solidFill>
                            <a:srgbClr val="404040"/>
                          </a:solidFill>
                        </a:rPr>
                        <a:t>143.75%</a:t>
                      </a:r>
                    </a:p>
                  </a:txBody>
                  <a:tcPr>
                    <a:solidFill>
                      <a:srgbClr val="D6E4F7"/>
                    </a:solidFill>
                  </a:tcPr>
                </a:tc>
                <a:tc>
                  <a:txBody>
                    <a:bodyPr/>
                    <a:lstStyle/>
                    <a:p>
                      <a:pPr algn="ctr"/>
                      <a:r>
                        <a:rPr sz="900" b="0">
                          <a:solidFill>
                            <a:srgbClr val="404040"/>
                          </a:solidFill>
                        </a:rPr>
                        <a:t>162.61%</a:t>
                      </a:r>
                    </a:p>
                  </a:txBody>
                  <a:tcPr>
                    <a:solidFill>
                      <a:srgbClr val="D6E4F7"/>
                    </a:solidFill>
                  </a:tcPr>
                </a:tc>
                <a:tc>
                  <a:txBody>
                    <a:bodyPr/>
                    <a:lstStyle/>
                    <a:p>
                      <a:pPr algn="ctr"/>
                      <a:r>
                        <a:rPr sz="900" b="0">
                          <a:solidFill>
                            <a:srgbClr val="404040"/>
                          </a:solidFill>
                        </a:rPr>
                        <a:t>14.61%</a:t>
                      </a:r>
                    </a:p>
                  </a:txBody>
                  <a:tcPr>
                    <a:solidFill>
                      <a:srgbClr val="D6E4F7"/>
                    </a:solidFill>
                  </a:tcPr>
                </a:tc>
                <a:tc>
                  <a:txBody>
                    <a:bodyPr/>
                    <a:lstStyle/>
                    <a:p>
                      <a:pPr algn="ctr"/>
                      <a:r>
                        <a:rPr sz="900" b="0">
                          <a:solidFill>
                            <a:srgbClr val="404040"/>
                          </a:solidFill>
                        </a:rPr>
                        <a:t>37.21%</a:t>
                      </a:r>
                    </a:p>
                  </a:txBody>
                  <a:tcPr>
                    <a:solidFill>
                      <a:srgbClr val="D6E4F7"/>
                    </a:solidFill>
                  </a:tcPr>
                </a:tc>
                <a:tc>
                  <a:txBody>
                    <a:bodyPr/>
                    <a:lstStyle/>
                    <a:p>
                      <a:pPr algn="ctr"/>
                      <a:r>
                        <a:rPr sz="900" b="0">
                          <a:solidFill>
                            <a:srgbClr val="404040"/>
                          </a:solidFill>
                        </a:rPr>
                        <a:t>12.12%</a:t>
                      </a:r>
                    </a:p>
                  </a:txBody>
                  <a:tcPr>
                    <a:solidFill>
                      <a:srgbClr val="D6E4F7"/>
                    </a:solidFill>
                  </a:tcPr>
                </a:tc>
                <a:tc>
                  <a:txBody>
                    <a:bodyPr/>
                    <a:lstStyle/>
                    <a:p>
                      <a:pPr algn="ctr"/>
                      <a:r>
                        <a:rPr sz="900" b="0">
                          <a:solidFill>
                            <a:srgbClr val="404040"/>
                          </a:solidFill>
                        </a:rPr>
                        <a:t>33.67%</a:t>
                      </a:r>
                    </a:p>
                  </a:txBody>
                  <a:tcPr>
                    <a:solidFill>
                      <a:srgbClr val="D6E4F7"/>
                    </a:solidFill>
                  </a:tcPr>
                </a:tc>
                <a:tc>
                  <a:txBody>
                    <a:bodyPr/>
                    <a:lstStyle/>
                    <a:p>
                      <a:pPr algn="ctr"/>
                      <a:r>
                        <a:rPr sz="900" b="0">
                          <a:solidFill>
                            <a:srgbClr val="404040"/>
                          </a:solidFill>
                        </a:rPr>
                        <a:t>6.2%</a:t>
                      </a:r>
                    </a:p>
                  </a:txBody>
                  <a:tcPr>
                    <a:solidFill>
                      <a:srgbClr val="D6E4F7"/>
                    </a:solidFill>
                  </a:tcPr>
                </a:tc>
              </a:tr>
              <a:tr h="420000">
                <a:tc>
                  <a:txBody>
                    <a:bodyPr/>
                    <a:lstStyle/>
                    <a:p>
                      <a:pPr algn="l"/>
                      <a:r>
                        <a:rPr sz="1000" b="1">
                          <a:solidFill>
                            <a:srgbClr val="404040"/>
                          </a:solidFill>
                        </a:rPr>
                        <a:t>PATS-Arial</a:t>
                      </a:r>
                    </a:p>
                  </a:txBody>
                  <a:tcPr/>
                </a:tc>
                <a:tc>
                  <a:txBody>
                    <a:bodyPr/>
                    <a:lstStyle/>
                    <a:p>
                      <a:pPr algn="ctr"/>
                      <a:r>
                        <a:rPr sz="900" b="0">
                          <a:solidFill>
                            <a:srgbClr val="404040"/>
                          </a:solidFill>
                        </a:rPr>
                        <a:t>106.43%</a:t>
                      </a:r>
                    </a:p>
                  </a:txBody>
                  <a:tcPr/>
                </a:tc>
                <a:tc>
                  <a:txBody>
                    <a:bodyPr/>
                    <a:lstStyle/>
                    <a:p>
                      <a:pPr algn="ctr"/>
                      <a:r>
                        <a:rPr sz="900" b="0">
                          <a:solidFill>
                            <a:srgbClr val="404040"/>
                          </a:solidFill>
                        </a:rPr>
                        <a:t>107.61%</a:t>
                      </a:r>
                    </a:p>
                  </a:txBody>
                  <a:tcPr/>
                </a:tc>
                <a:tc>
                  <a:txBody>
                    <a:bodyPr/>
                    <a:lstStyle/>
                    <a:p>
                      <a:pPr algn="ctr"/>
                      <a:r>
                        <a:rPr sz="900" b="0">
                          <a:solidFill>
                            <a:srgbClr val="404040"/>
                          </a:solidFill>
                        </a:rPr>
                        <a:t>106.22%</a:t>
                      </a:r>
                    </a:p>
                  </a:txBody>
                  <a:tcPr/>
                </a:tc>
                <a:tc>
                  <a:txBody>
                    <a:bodyPr/>
                    <a:lstStyle/>
                    <a:p>
                      <a:pPr algn="ctr"/>
                      <a:r>
                        <a:rPr sz="900" b="0">
                          <a:solidFill>
                            <a:srgbClr val="404040"/>
                          </a:solidFill>
                        </a:rPr>
                        <a:t>107.29%</a:t>
                      </a:r>
                    </a:p>
                  </a:txBody>
                  <a:tcPr/>
                </a:tc>
                <a:tc>
                  <a:txBody>
                    <a:bodyPr/>
                    <a:lstStyle/>
                    <a:p>
                      <a:pPr algn="ctr"/>
                      <a:r>
                        <a:rPr sz="900" b="0">
                          <a:solidFill>
                            <a:srgbClr val="404040"/>
                          </a:solidFill>
                        </a:rPr>
                        <a:t>3.78%</a:t>
                      </a:r>
                    </a:p>
                  </a:txBody>
                  <a:tcPr/>
                </a:tc>
                <a:tc>
                  <a:txBody>
                    <a:bodyPr/>
                    <a:lstStyle/>
                    <a:p>
                      <a:pPr algn="ctr"/>
                      <a:r>
                        <a:rPr sz="900" b="0">
                          <a:solidFill>
                            <a:srgbClr val="404040"/>
                          </a:solidFill>
                        </a:rPr>
                        <a:t>7.18%</a:t>
                      </a:r>
                    </a:p>
                  </a:txBody>
                  <a:tcPr/>
                </a:tc>
                <a:tc>
                  <a:txBody>
                    <a:bodyPr/>
                    <a:lstStyle/>
                    <a:p>
                      <a:pPr algn="ctr"/>
                      <a:r>
                        <a:rPr sz="900" b="0">
                          <a:solidFill>
                            <a:srgbClr val="404040"/>
                          </a:solidFill>
                        </a:rPr>
                        <a:t>3.65%</a:t>
                      </a:r>
                    </a:p>
                  </a:txBody>
                  <a:tcPr/>
                </a:tc>
                <a:tc>
                  <a:txBody>
                    <a:bodyPr/>
                    <a:lstStyle/>
                    <a:p>
                      <a:pPr algn="ctr"/>
                      <a:r>
                        <a:rPr sz="900" b="0">
                          <a:solidFill>
                            <a:srgbClr val="404040"/>
                          </a:solidFill>
                        </a:rPr>
                        <a:t>6.84%</a:t>
                      </a:r>
                    </a:p>
                  </a:txBody>
                  <a:tcPr/>
                </a:tc>
                <a:tc>
                  <a:txBody>
                    <a:bodyPr/>
                    <a:lstStyle/>
                    <a:p>
                      <a:pPr algn="ctr"/>
                      <a:r>
                        <a:rPr sz="900" b="0">
                          <a:solidFill>
                            <a:srgbClr val="404040"/>
                          </a:solidFill>
                        </a:rPr>
                        <a:t>4.6%</a:t>
                      </a:r>
                    </a:p>
                  </a:txBody>
                  <a:tcPr/>
                </a:tc>
              </a:tr>
              <a:tr h="420000">
                <a:tc>
                  <a:txBody>
                    <a:bodyPr/>
                    <a:lstStyle/>
                    <a:p>
                      <a:pPr algn="l"/>
                      <a:r>
                        <a:rPr sz="1000" b="1">
                          <a:solidFill>
                            <a:srgbClr val="404040"/>
                          </a:solidFill>
                        </a:rPr>
                        <a:t>PATS-Naskh</a:t>
                      </a:r>
                    </a:p>
                  </a:txBody>
                  <a:tcPr>
                    <a:solidFill>
                      <a:srgbClr val="D6E4F7"/>
                    </a:solidFill>
                  </a:tcPr>
                </a:tc>
                <a:tc>
                  <a:txBody>
                    <a:bodyPr/>
                    <a:lstStyle/>
                    <a:p>
                      <a:pPr algn="ctr"/>
                      <a:r>
                        <a:rPr sz="900" b="0">
                          <a:solidFill>
                            <a:srgbClr val="404040"/>
                          </a:solidFill>
                        </a:rPr>
                        <a:t>85.96%</a:t>
                      </a:r>
                    </a:p>
                  </a:txBody>
                  <a:tcPr>
                    <a:solidFill>
                      <a:srgbClr val="D6E4F7"/>
                    </a:solidFill>
                  </a:tcPr>
                </a:tc>
                <a:tc>
                  <a:txBody>
                    <a:bodyPr/>
                    <a:lstStyle/>
                    <a:p>
                      <a:pPr algn="ctr"/>
                      <a:r>
                        <a:rPr sz="900" b="0">
                          <a:solidFill>
                            <a:srgbClr val="404040"/>
                          </a:solidFill>
                        </a:rPr>
                        <a:t>92.35%</a:t>
                      </a:r>
                    </a:p>
                  </a:txBody>
                  <a:tcPr>
                    <a:solidFill>
                      <a:srgbClr val="D6E4F7"/>
                    </a:solidFill>
                  </a:tcPr>
                </a:tc>
                <a:tc>
                  <a:txBody>
                    <a:bodyPr/>
                    <a:lstStyle/>
                    <a:p>
                      <a:pPr algn="ctr"/>
                      <a:r>
                        <a:rPr sz="900" b="0">
                          <a:solidFill>
                            <a:srgbClr val="404040"/>
                          </a:solidFill>
                        </a:rPr>
                        <a:t>81.97%</a:t>
                      </a:r>
                    </a:p>
                  </a:txBody>
                  <a:tcPr>
                    <a:solidFill>
                      <a:srgbClr val="D6E4F7"/>
                    </a:solidFill>
                  </a:tcPr>
                </a:tc>
                <a:tc>
                  <a:txBody>
                    <a:bodyPr/>
                    <a:lstStyle/>
                    <a:p>
                      <a:pPr algn="ctr"/>
                      <a:r>
                        <a:rPr sz="900" b="0">
                          <a:solidFill>
                            <a:srgbClr val="404040"/>
                          </a:solidFill>
                        </a:rPr>
                        <a:t>88.04%</a:t>
                      </a:r>
                    </a:p>
                  </a:txBody>
                  <a:tcPr>
                    <a:solidFill>
                      <a:srgbClr val="D6E4F7"/>
                    </a:solidFill>
                  </a:tcPr>
                </a:tc>
                <a:tc>
                  <a:txBody>
                    <a:bodyPr/>
                    <a:lstStyle/>
                    <a:p>
                      <a:pPr algn="ctr"/>
                      <a:r>
                        <a:rPr sz="900" b="0">
                          <a:solidFill>
                            <a:srgbClr val="404040"/>
                          </a:solidFill>
                        </a:rPr>
                        <a:t>5.68%</a:t>
                      </a:r>
                    </a:p>
                  </a:txBody>
                  <a:tcPr>
                    <a:solidFill>
                      <a:srgbClr val="D6E4F7"/>
                    </a:solidFill>
                  </a:tcPr>
                </a:tc>
                <a:tc>
                  <a:txBody>
                    <a:bodyPr/>
                    <a:lstStyle/>
                    <a:p>
                      <a:pPr algn="ctr"/>
                      <a:r>
                        <a:rPr sz="900" b="0">
                          <a:solidFill>
                            <a:srgbClr val="404040"/>
                          </a:solidFill>
                        </a:rPr>
                        <a:t>13.77%</a:t>
                      </a:r>
                    </a:p>
                  </a:txBody>
                  <a:tcPr>
                    <a:solidFill>
                      <a:srgbClr val="D6E4F7"/>
                    </a:solidFill>
                  </a:tcPr>
                </a:tc>
                <a:tc>
                  <a:txBody>
                    <a:bodyPr/>
                    <a:lstStyle/>
                    <a:p>
                      <a:pPr algn="ctr"/>
                      <a:r>
                        <a:rPr sz="900" b="0">
                          <a:solidFill>
                            <a:srgbClr val="404040"/>
                          </a:solidFill>
                        </a:rPr>
                        <a:t>4.10%</a:t>
                      </a:r>
                    </a:p>
                  </a:txBody>
                  <a:tcPr>
                    <a:solidFill>
                      <a:srgbClr val="D6E4F7"/>
                    </a:solidFill>
                  </a:tcPr>
                </a:tc>
                <a:tc>
                  <a:txBody>
                    <a:bodyPr/>
                    <a:lstStyle/>
                    <a:p>
                      <a:pPr algn="ctr"/>
                      <a:r>
                        <a:rPr sz="900" b="0">
                          <a:solidFill>
                            <a:srgbClr val="404040"/>
                          </a:solidFill>
                        </a:rPr>
                        <a:t>9.56%</a:t>
                      </a:r>
                    </a:p>
                  </a:txBody>
                  <a:tcPr>
                    <a:solidFill>
                      <a:srgbClr val="D6E4F7"/>
                    </a:solidFill>
                  </a:tcPr>
                </a:tc>
                <a:tc>
                  <a:txBody>
                    <a:bodyPr/>
                    <a:lstStyle/>
                    <a:p>
                      <a:pPr algn="ctr"/>
                      <a:r>
                        <a:rPr sz="900" b="0">
                          <a:solidFill>
                            <a:srgbClr val="404040"/>
                          </a:solidFill>
                        </a:rPr>
                        <a:t>3.5%</a:t>
                      </a:r>
                    </a:p>
                  </a:txBody>
                  <a:tcPr>
                    <a:solidFill>
                      <a:srgbClr val="D6E4F7"/>
                    </a:solidFill>
                  </a:tcPr>
                </a:tc>
              </a:tr>
              <a:tr h="420000">
                <a:tc>
                  <a:txBody>
                    <a:bodyPr/>
                    <a:lstStyle/>
                    <a:p>
                      <a:pPr algn="l"/>
                      <a:r>
                        <a:rPr sz="1000" b="1">
                          <a:solidFill>
                            <a:srgbClr val="404040"/>
                          </a:solidFill>
                        </a:rPr>
                        <a:t>PATS-Simplified</a:t>
                      </a:r>
                    </a:p>
                  </a:txBody>
                  <a:tcPr/>
                </a:tc>
                <a:tc>
                  <a:txBody>
                    <a:bodyPr/>
                    <a:lstStyle/>
                    <a:p>
                      <a:pPr algn="ctr"/>
                      <a:r>
                        <a:rPr sz="900" b="0">
                          <a:solidFill>
                            <a:srgbClr val="404040"/>
                          </a:solidFill>
                        </a:rPr>
                        <a:t>131.77%</a:t>
                      </a:r>
                    </a:p>
                  </a:txBody>
                  <a:tcPr/>
                </a:tc>
                <a:tc>
                  <a:txBody>
                    <a:bodyPr/>
                    <a:lstStyle/>
                    <a:p>
                      <a:pPr algn="ctr"/>
                      <a:r>
                        <a:rPr sz="900" b="0">
                          <a:solidFill>
                            <a:srgbClr val="404040"/>
                          </a:solidFill>
                        </a:rPr>
                        <a:t>133.07%</a:t>
                      </a:r>
                    </a:p>
                  </a:txBody>
                  <a:tcPr/>
                </a:tc>
                <a:tc>
                  <a:txBody>
                    <a:bodyPr/>
                    <a:lstStyle/>
                    <a:p>
                      <a:pPr algn="ctr"/>
                      <a:r>
                        <a:rPr sz="900" b="0">
                          <a:solidFill>
                            <a:srgbClr val="404040"/>
                          </a:solidFill>
                        </a:rPr>
                        <a:t>131.69%</a:t>
                      </a:r>
                    </a:p>
                  </a:txBody>
                  <a:tcPr/>
                </a:tc>
                <a:tc>
                  <a:txBody>
                    <a:bodyPr/>
                    <a:lstStyle/>
                    <a:p>
                      <a:pPr algn="ctr"/>
                      <a:r>
                        <a:rPr sz="900" b="0">
                          <a:solidFill>
                            <a:srgbClr val="404040"/>
                          </a:solidFill>
                        </a:rPr>
                        <a:t>132.83%</a:t>
                      </a:r>
                    </a:p>
                  </a:txBody>
                  <a:tcPr/>
                </a:tc>
                <a:tc>
                  <a:txBody>
                    <a:bodyPr/>
                    <a:lstStyle/>
                    <a:p>
                      <a:pPr algn="ctr"/>
                      <a:r>
                        <a:rPr sz="900" b="0">
                          <a:solidFill>
                            <a:srgbClr val="404040"/>
                          </a:solidFill>
                        </a:rPr>
                        <a:t>3.02%</a:t>
                      </a:r>
                    </a:p>
                  </a:txBody>
                  <a:tcPr/>
                </a:tc>
                <a:tc>
                  <a:txBody>
                    <a:bodyPr/>
                    <a:lstStyle/>
                    <a:p>
                      <a:pPr algn="ctr"/>
                      <a:r>
                        <a:rPr sz="900" b="0">
                          <a:solidFill>
                            <a:srgbClr val="404040"/>
                          </a:solidFill>
                        </a:rPr>
                        <a:t>6.05%</a:t>
                      </a:r>
                    </a:p>
                  </a:txBody>
                  <a:tcPr/>
                </a:tc>
                <a:tc>
                  <a:txBody>
                    <a:bodyPr/>
                    <a:lstStyle/>
                    <a:p>
                      <a:pPr algn="ctr"/>
                      <a:r>
                        <a:rPr sz="900" b="0">
                          <a:solidFill>
                            <a:srgbClr val="404040"/>
                          </a:solidFill>
                        </a:rPr>
                        <a:t>2.94%</a:t>
                      </a:r>
                    </a:p>
                  </a:txBody>
                  <a:tcPr/>
                </a:tc>
                <a:tc>
                  <a:txBody>
                    <a:bodyPr/>
                    <a:lstStyle/>
                    <a:p>
                      <a:pPr algn="ctr"/>
                      <a:r>
                        <a:rPr sz="900" b="0">
                          <a:solidFill>
                            <a:srgbClr val="404040"/>
                          </a:solidFill>
                        </a:rPr>
                        <a:t>5.81%</a:t>
                      </a:r>
                    </a:p>
                  </a:txBody>
                  <a:tcPr/>
                </a:tc>
                <a:tc>
                  <a:txBody>
                    <a:bodyPr/>
                    <a:lstStyle/>
                    <a:p>
                      <a:pPr algn="ctr"/>
                      <a:r>
                        <a:rPr sz="900" b="0">
                          <a:solidFill>
                            <a:srgbClr val="404040"/>
                          </a:solidFill>
                        </a:rPr>
                        <a:t>5.7%</a:t>
                      </a:r>
                    </a:p>
                  </a:txBody>
                  <a:tcPr/>
                </a:tc>
              </a:tr>
              <a:tr h="420000">
                <a:tc>
                  <a:txBody>
                    <a:bodyPr/>
                    <a:lstStyle/>
                    <a:p>
                      <a:pPr algn="l"/>
                      <a:r>
                        <a:rPr sz="1000" b="1">
                          <a:solidFill>
                            <a:srgbClr val="404040"/>
                          </a:solidFill>
                        </a:rPr>
                        <a:t>PATS-Tahoma</a:t>
                      </a:r>
                    </a:p>
                  </a:txBody>
                  <a:tcPr>
                    <a:solidFill>
                      <a:srgbClr val="D6E4F7"/>
                    </a:solidFill>
                  </a:tcPr>
                </a:tc>
                <a:tc>
                  <a:txBody>
                    <a:bodyPr/>
                    <a:lstStyle/>
                    <a:p>
                      <a:pPr algn="ctr"/>
                      <a:r>
                        <a:rPr sz="900" b="0">
                          <a:solidFill>
                            <a:srgbClr val="404040"/>
                          </a:solidFill>
                        </a:rPr>
                        <a:t>239.25%</a:t>
                      </a:r>
                    </a:p>
                  </a:txBody>
                  <a:tcPr>
                    <a:solidFill>
                      <a:srgbClr val="D6E4F7"/>
                    </a:solidFill>
                  </a:tcPr>
                </a:tc>
                <a:tc>
                  <a:txBody>
                    <a:bodyPr/>
                    <a:lstStyle/>
                    <a:p>
                      <a:pPr algn="ctr"/>
                      <a:r>
                        <a:rPr sz="900" b="0">
                          <a:solidFill>
                            <a:srgbClr val="404040"/>
                          </a:solidFill>
                        </a:rPr>
                        <a:t>235.11%</a:t>
                      </a:r>
                    </a:p>
                  </a:txBody>
                  <a:tcPr>
                    <a:solidFill>
                      <a:srgbClr val="D6E4F7"/>
                    </a:solidFill>
                  </a:tcPr>
                </a:tc>
                <a:tc>
                  <a:txBody>
                    <a:bodyPr/>
                    <a:lstStyle/>
                    <a:p>
                      <a:pPr algn="ctr"/>
                      <a:r>
                        <a:rPr sz="900" b="0">
                          <a:solidFill>
                            <a:srgbClr val="404040"/>
                          </a:solidFill>
                        </a:rPr>
                        <a:t>238.79%</a:t>
                      </a:r>
                    </a:p>
                  </a:txBody>
                  <a:tcPr>
                    <a:solidFill>
                      <a:srgbClr val="D6E4F7"/>
                    </a:solidFill>
                  </a:tcPr>
                </a:tc>
                <a:tc>
                  <a:txBody>
                    <a:bodyPr/>
                    <a:lstStyle/>
                    <a:p>
                      <a:pPr algn="ctr"/>
                      <a:r>
                        <a:rPr sz="900" b="0">
                          <a:solidFill>
                            <a:srgbClr val="404040"/>
                          </a:solidFill>
                        </a:rPr>
                        <a:t>234.99%</a:t>
                      </a:r>
                    </a:p>
                  </a:txBody>
                  <a:tcPr>
                    <a:solidFill>
                      <a:srgbClr val="D6E4F7"/>
                    </a:solidFill>
                  </a:tcPr>
                </a:tc>
                <a:tc>
                  <a:txBody>
                    <a:bodyPr/>
                    <a:lstStyle/>
                    <a:p>
                      <a:pPr algn="ctr"/>
                      <a:r>
                        <a:rPr sz="900" b="0">
                          <a:solidFill>
                            <a:srgbClr val="404040"/>
                          </a:solidFill>
                        </a:rPr>
                        <a:t>5.87%</a:t>
                      </a:r>
                    </a:p>
                  </a:txBody>
                  <a:tcPr>
                    <a:solidFill>
                      <a:srgbClr val="D6E4F7"/>
                    </a:solidFill>
                  </a:tcPr>
                </a:tc>
                <a:tc>
                  <a:txBody>
                    <a:bodyPr/>
                    <a:lstStyle/>
                    <a:p>
                      <a:pPr algn="ctr"/>
                      <a:r>
                        <a:rPr sz="900" b="0">
                          <a:solidFill>
                            <a:srgbClr val="404040"/>
                          </a:solidFill>
                        </a:rPr>
                        <a:t>9.18%</a:t>
                      </a:r>
                    </a:p>
                  </a:txBody>
                  <a:tcPr>
                    <a:solidFill>
                      <a:srgbClr val="D6E4F7"/>
                    </a:solidFill>
                  </a:tcPr>
                </a:tc>
                <a:tc>
                  <a:txBody>
                    <a:bodyPr/>
                    <a:lstStyle/>
                    <a:p>
                      <a:pPr algn="ctr"/>
                      <a:r>
                        <a:rPr sz="900" b="0">
                          <a:solidFill>
                            <a:srgbClr val="404040"/>
                          </a:solidFill>
                        </a:rPr>
                        <a:t>5.82%</a:t>
                      </a:r>
                    </a:p>
                  </a:txBody>
                  <a:tcPr>
                    <a:solidFill>
                      <a:srgbClr val="D6E4F7"/>
                    </a:solidFill>
                  </a:tcPr>
                </a:tc>
                <a:tc>
                  <a:txBody>
                    <a:bodyPr/>
                    <a:lstStyle/>
                    <a:p>
                      <a:pPr algn="ctr"/>
                      <a:r>
                        <a:rPr sz="900" b="0">
                          <a:solidFill>
                            <a:srgbClr val="404040"/>
                          </a:solidFill>
                        </a:rPr>
                        <a:t>9.07%</a:t>
                      </a:r>
                    </a:p>
                  </a:txBody>
                  <a:tcPr>
                    <a:solidFill>
                      <a:srgbClr val="D6E4F7"/>
                    </a:solidFill>
                  </a:tcPr>
                </a:tc>
                <a:tc>
                  <a:txBody>
                    <a:bodyPr/>
                    <a:lstStyle/>
                    <a:p>
                      <a:pPr algn="ctr"/>
                      <a:r>
                        <a:rPr sz="900" b="0">
                          <a:solidFill>
                            <a:srgbClr val="C00000"/>
                          </a:solidFill>
                        </a:rPr>
                        <a:t>10.4%</a:t>
                      </a:r>
                    </a:p>
                  </a:txBody>
                  <a:tcPr>
                    <a:solidFill>
                      <a:srgbClr val="D6E4F7"/>
                    </a:solidFill>
                  </a:tcPr>
                </a:tc>
              </a:tr>
              <a:tr h="420000">
                <a:tc>
                  <a:txBody>
                    <a:bodyPr/>
                    <a:lstStyle/>
                    <a:p>
                      <a:pPr algn="l"/>
                      <a:r>
                        <a:rPr sz="1000" b="1">
                          <a:solidFill>
                            <a:srgbClr val="404040"/>
                          </a:solidFill>
                        </a:rPr>
                        <a:t>PATS-Thuluth</a:t>
                      </a:r>
                    </a:p>
                  </a:txBody>
                  <a:tcPr/>
                </a:tc>
                <a:tc>
                  <a:txBody>
                    <a:bodyPr/>
                    <a:lstStyle/>
                    <a:p>
                      <a:pPr algn="ctr"/>
                      <a:r>
                        <a:rPr sz="900" b="0">
                          <a:solidFill>
                            <a:srgbClr val="404040"/>
                          </a:solidFill>
                        </a:rPr>
                        <a:t>102.38%</a:t>
                      </a:r>
                    </a:p>
                  </a:txBody>
                  <a:tcPr/>
                </a:tc>
                <a:tc>
                  <a:txBody>
                    <a:bodyPr/>
                    <a:lstStyle/>
                    <a:p>
                      <a:pPr algn="ctr"/>
                      <a:r>
                        <a:rPr sz="900" b="0">
                          <a:solidFill>
                            <a:srgbClr val="404040"/>
                          </a:solidFill>
                        </a:rPr>
                        <a:t>107.18%</a:t>
                      </a:r>
                    </a:p>
                  </a:txBody>
                  <a:tcPr/>
                </a:tc>
                <a:tc>
                  <a:txBody>
                    <a:bodyPr/>
                    <a:lstStyle/>
                    <a:p>
                      <a:pPr algn="ctr"/>
                      <a:r>
                        <a:rPr sz="900" b="0">
                          <a:solidFill>
                            <a:srgbClr val="404040"/>
                          </a:solidFill>
                        </a:rPr>
                        <a:t>90.24%</a:t>
                      </a:r>
                    </a:p>
                  </a:txBody>
                  <a:tcPr/>
                </a:tc>
                <a:tc>
                  <a:txBody>
                    <a:bodyPr/>
                    <a:lstStyle/>
                    <a:p>
                      <a:pPr algn="ctr"/>
                      <a:r>
                        <a:rPr sz="900" b="0">
                          <a:solidFill>
                            <a:srgbClr val="404040"/>
                          </a:solidFill>
                        </a:rPr>
                        <a:t>104.09%</a:t>
                      </a:r>
                    </a:p>
                  </a:txBody>
                  <a:tcPr/>
                </a:tc>
                <a:tc>
                  <a:txBody>
                    <a:bodyPr/>
                    <a:lstStyle/>
                    <a:p>
                      <a:pPr algn="ctr"/>
                      <a:r>
                        <a:rPr sz="900" b="0">
                          <a:solidFill>
                            <a:srgbClr val="404040"/>
                          </a:solidFill>
                        </a:rPr>
                        <a:t>12.93%</a:t>
                      </a:r>
                    </a:p>
                  </a:txBody>
                  <a:tcPr/>
                </a:tc>
                <a:tc>
                  <a:txBody>
                    <a:bodyPr/>
                    <a:lstStyle/>
                    <a:p>
                      <a:pPr algn="ctr"/>
                      <a:r>
                        <a:rPr sz="900" b="0">
                          <a:solidFill>
                            <a:srgbClr val="404040"/>
                          </a:solidFill>
                        </a:rPr>
                        <a:t>33.96%</a:t>
                      </a:r>
                    </a:p>
                  </a:txBody>
                  <a:tcPr/>
                </a:tc>
                <a:tc>
                  <a:txBody>
                    <a:bodyPr/>
                    <a:lstStyle/>
                    <a:p>
                      <a:pPr algn="ctr"/>
                      <a:r>
                        <a:rPr sz="900" b="0">
                          <a:solidFill>
                            <a:srgbClr val="404040"/>
                          </a:solidFill>
                        </a:rPr>
                        <a:t>10.21%</a:t>
                      </a:r>
                    </a:p>
                  </a:txBody>
                  <a:tcPr/>
                </a:tc>
                <a:tc>
                  <a:txBody>
                    <a:bodyPr/>
                    <a:lstStyle/>
                    <a:p>
                      <a:pPr algn="ctr"/>
                      <a:r>
                        <a:rPr sz="900" b="0">
                          <a:solidFill>
                            <a:srgbClr val="404040"/>
                          </a:solidFill>
                        </a:rPr>
                        <a:t>31.11%</a:t>
                      </a:r>
                    </a:p>
                  </a:txBody>
                  <a:tcPr/>
                </a:tc>
                <a:tc>
                  <a:txBody>
                    <a:bodyPr/>
                    <a:lstStyle/>
                    <a:p>
                      <a:pPr algn="ctr"/>
                      <a:r>
                        <a:rPr sz="900" b="0">
                          <a:solidFill>
                            <a:srgbClr val="404040"/>
                          </a:solidFill>
                        </a:rPr>
                        <a:t>3.9%</a:t>
                      </a:r>
                    </a:p>
                  </a:txBody>
                  <a:tcPr/>
                </a:tc>
              </a:tr>
              <a:tr h="420000">
                <a:tc>
                  <a:txBody>
                    <a:bodyPr/>
                    <a:lstStyle/>
                    <a:p>
                      <a:pPr algn="l"/>
                      <a:r>
                        <a:rPr sz="1000" b="1">
                          <a:solidFill>
                            <a:srgbClr val="404040"/>
                          </a:solidFill>
                        </a:rPr>
                        <a:t>PATS-Traditional</a:t>
                      </a:r>
                    </a:p>
                  </a:txBody>
                  <a:tcPr>
                    <a:solidFill>
                      <a:srgbClr val="D6E4F7"/>
                    </a:solidFill>
                  </a:tcPr>
                </a:tc>
                <a:tc>
                  <a:txBody>
                    <a:bodyPr/>
                    <a:lstStyle/>
                    <a:p>
                      <a:pPr algn="ctr"/>
                      <a:r>
                        <a:rPr sz="900" b="0">
                          <a:solidFill>
                            <a:srgbClr val="404040"/>
                          </a:solidFill>
                        </a:rPr>
                        <a:t>117.72%</a:t>
                      </a:r>
                    </a:p>
                  </a:txBody>
                  <a:tcPr>
                    <a:solidFill>
                      <a:srgbClr val="D6E4F7"/>
                    </a:solidFill>
                  </a:tcPr>
                </a:tc>
                <a:tc>
                  <a:txBody>
                    <a:bodyPr/>
                    <a:lstStyle/>
                    <a:p>
                      <a:pPr algn="ctr"/>
                      <a:r>
                        <a:rPr sz="900" b="0">
                          <a:solidFill>
                            <a:srgbClr val="404040"/>
                          </a:solidFill>
                        </a:rPr>
                        <a:t>122.20%</a:t>
                      </a:r>
                    </a:p>
                  </a:txBody>
                  <a:tcPr>
                    <a:solidFill>
                      <a:srgbClr val="D6E4F7"/>
                    </a:solidFill>
                  </a:tcPr>
                </a:tc>
                <a:tc>
                  <a:txBody>
                    <a:bodyPr/>
                    <a:lstStyle/>
                    <a:p>
                      <a:pPr algn="ctr"/>
                      <a:r>
                        <a:rPr sz="900" b="0">
                          <a:solidFill>
                            <a:srgbClr val="404040"/>
                          </a:solidFill>
                        </a:rPr>
                        <a:t>115.91%</a:t>
                      </a:r>
                    </a:p>
                  </a:txBody>
                  <a:tcPr>
                    <a:solidFill>
                      <a:srgbClr val="D6E4F7"/>
                    </a:solidFill>
                  </a:tcPr>
                </a:tc>
                <a:tc>
                  <a:txBody>
                    <a:bodyPr/>
                    <a:lstStyle/>
                    <a:p>
                      <a:pPr algn="ctr"/>
                      <a:r>
                        <a:rPr sz="900" b="0">
                          <a:solidFill>
                            <a:srgbClr val="404040"/>
                          </a:solidFill>
                        </a:rPr>
                        <a:t>121.39%</a:t>
                      </a:r>
                    </a:p>
                  </a:txBody>
                  <a:tcPr>
                    <a:solidFill>
                      <a:srgbClr val="D6E4F7"/>
                    </a:solidFill>
                  </a:tcPr>
                </a:tc>
                <a:tc>
                  <a:txBody>
                    <a:bodyPr/>
                    <a:lstStyle/>
                    <a:p>
                      <a:pPr algn="ctr"/>
                      <a:r>
                        <a:rPr sz="900" b="0">
                          <a:solidFill>
                            <a:srgbClr val="404040"/>
                          </a:solidFill>
                        </a:rPr>
                        <a:t>3.87%</a:t>
                      </a:r>
                    </a:p>
                  </a:txBody>
                  <a:tcPr>
                    <a:solidFill>
                      <a:srgbClr val="D6E4F7"/>
                    </a:solidFill>
                  </a:tcPr>
                </a:tc>
                <a:tc>
                  <a:txBody>
                    <a:bodyPr/>
                    <a:lstStyle/>
                    <a:p>
                      <a:pPr algn="ctr"/>
                      <a:r>
                        <a:rPr sz="900" b="0">
                          <a:solidFill>
                            <a:srgbClr val="404040"/>
                          </a:solidFill>
                        </a:rPr>
                        <a:t>10.07%</a:t>
                      </a:r>
                    </a:p>
                  </a:txBody>
                  <a:tcPr>
                    <a:solidFill>
                      <a:srgbClr val="D6E4F7"/>
                    </a:solidFill>
                  </a:tcPr>
                </a:tc>
                <a:tc>
                  <a:txBody>
                    <a:bodyPr/>
                    <a:lstStyle/>
                    <a:p>
                      <a:pPr algn="ctr"/>
                      <a:r>
                        <a:rPr sz="900" b="0">
                          <a:solidFill>
                            <a:srgbClr val="404040"/>
                          </a:solidFill>
                        </a:rPr>
                        <a:t>3.63%</a:t>
                      </a:r>
                    </a:p>
                  </a:txBody>
                  <a:tcPr>
                    <a:solidFill>
                      <a:srgbClr val="D6E4F7"/>
                    </a:solidFill>
                  </a:tcPr>
                </a:tc>
                <a:tc>
                  <a:txBody>
                    <a:bodyPr/>
                    <a:lstStyle/>
                    <a:p>
                      <a:pPr algn="ctr"/>
                      <a:r>
                        <a:rPr sz="900" b="0">
                          <a:solidFill>
                            <a:srgbClr val="404040"/>
                          </a:solidFill>
                        </a:rPr>
                        <a:t>9.35%</a:t>
                      </a:r>
                    </a:p>
                  </a:txBody>
                  <a:tcPr>
                    <a:solidFill>
                      <a:srgbClr val="D6E4F7"/>
                    </a:solidFill>
                  </a:tcPr>
                </a:tc>
                <a:tc>
                  <a:txBody>
                    <a:bodyPr/>
                    <a:lstStyle/>
                    <a:p>
                      <a:pPr algn="ctr"/>
                      <a:r>
                        <a:rPr sz="900" b="0">
                          <a:solidFill>
                            <a:srgbClr val="404040"/>
                          </a:solidFill>
                        </a:rPr>
                        <a:t>5.0%</a:t>
                      </a:r>
                    </a:p>
                  </a:txBody>
                  <a:tcPr>
                    <a:solidFill>
                      <a:srgbClr val="D6E4F7"/>
                    </a:solidFill>
                  </a:tcPr>
                </a:tc>
              </a:tr>
              <a:tr h="420000">
                <a:tc>
                  <a:txBody>
                    <a:bodyPr/>
                    <a:lstStyle/>
                    <a:p>
                      <a:pPr algn="l"/>
                      <a:r>
                        <a:rPr sz="1000" b="1">
                          <a:solidFill>
                            <a:srgbClr val="2E75B6"/>
                          </a:solidFill>
                        </a:rPr>
                        <a:t>KHATT</a:t>
                      </a:r>
                    </a:p>
                  </a:txBody>
                  <a:tcPr/>
                </a:tc>
                <a:tc>
                  <a:txBody>
                    <a:bodyPr/>
                    <a:lstStyle/>
                    <a:p>
                      <a:pPr algn="ctr"/>
                      <a:r>
                        <a:rPr sz="900" b="0">
                          <a:solidFill>
                            <a:srgbClr val="404040"/>
                          </a:solidFill>
                        </a:rPr>
                        <a:t>565.58%</a:t>
                      </a:r>
                    </a:p>
                  </a:txBody>
                  <a:tcPr/>
                </a:tc>
                <a:tc>
                  <a:txBody>
                    <a:bodyPr/>
                    <a:lstStyle/>
                    <a:p>
                      <a:pPr algn="ctr"/>
                      <a:r>
                        <a:rPr sz="900" b="0">
                          <a:solidFill>
                            <a:srgbClr val="404040"/>
                          </a:solidFill>
                        </a:rPr>
                        <a:t>725.03%</a:t>
                      </a:r>
                    </a:p>
                  </a:txBody>
                  <a:tcPr/>
                </a:tc>
                <a:tc>
                  <a:txBody>
                    <a:bodyPr/>
                    <a:lstStyle/>
                    <a:p>
                      <a:pPr algn="ctr"/>
                      <a:r>
                        <a:rPr sz="900" b="0">
                          <a:solidFill>
                            <a:srgbClr val="404040"/>
                          </a:solidFill>
                        </a:rPr>
                        <a:t>404.64%</a:t>
                      </a:r>
                    </a:p>
                  </a:txBody>
                  <a:tcPr/>
                </a:tc>
                <a:tc>
                  <a:txBody>
                    <a:bodyPr/>
                    <a:lstStyle/>
                    <a:p>
                      <a:pPr algn="ctr"/>
                      <a:r>
                        <a:rPr sz="900" b="0">
                          <a:solidFill>
                            <a:srgbClr val="404040"/>
                          </a:solidFill>
                        </a:rPr>
                        <a:t>672.77%</a:t>
                      </a:r>
                    </a:p>
                  </a:txBody>
                  <a:tcPr/>
                </a:tc>
                <a:tc>
                  <a:txBody>
                    <a:bodyPr/>
                    <a:lstStyle/>
                    <a:p>
                      <a:pPr algn="ctr"/>
                      <a:r>
                        <a:rPr sz="900" b="0">
                          <a:solidFill>
                            <a:srgbClr val="404040"/>
                          </a:solidFill>
                        </a:rPr>
                        <a:t>60.59%</a:t>
                      </a:r>
                    </a:p>
                  </a:txBody>
                  <a:tcPr/>
                </a:tc>
                <a:tc>
                  <a:txBody>
                    <a:bodyPr/>
                    <a:lstStyle/>
                    <a:p>
                      <a:pPr algn="ctr"/>
                      <a:r>
                        <a:rPr sz="900" b="0">
                          <a:solidFill>
                            <a:srgbClr val="404040"/>
                          </a:solidFill>
                        </a:rPr>
                        <a:t>89.25%</a:t>
                      </a:r>
                    </a:p>
                  </a:txBody>
                  <a:tcPr/>
                </a:tc>
                <a:tc>
                  <a:txBody>
                    <a:bodyPr/>
                    <a:lstStyle/>
                    <a:p>
                      <a:pPr algn="ctr"/>
                      <a:r>
                        <a:rPr sz="900" b="0">
                          <a:solidFill>
                            <a:srgbClr val="404040"/>
                          </a:solidFill>
                        </a:rPr>
                        <a:t>34.24%</a:t>
                      </a:r>
                    </a:p>
                  </a:txBody>
                  <a:tcPr/>
                </a:tc>
                <a:tc>
                  <a:txBody>
                    <a:bodyPr/>
                    <a:lstStyle/>
                    <a:p>
                      <a:pPr algn="ctr"/>
                      <a:r>
                        <a:rPr sz="900" b="0">
                          <a:solidFill>
                            <a:srgbClr val="404040"/>
                          </a:solidFill>
                        </a:rPr>
                        <a:t>75.60%</a:t>
                      </a:r>
                    </a:p>
                  </a:txBody>
                  <a:tcPr/>
                </a:tc>
                <a:tc>
                  <a:txBody>
                    <a:bodyPr/>
                    <a:lstStyle/>
                    <a:p>
                      <a:pPr algn="ctr"/>
                      <a:r>
                        <a:rPr sz="900" b="0">
                          <a:solidFill>
                            <a:srgbClr val="C00000"/>
                          </a:solidFill>
                        </a:rPr>
                        <a:t>17.7%</a:t>
                      </a:r>
                    </a:p>
                  </a:txBody>
                  <a:tcPr/>
                </a:tc>
              </a:tr>
            </a:tbl>
          </a:graphicData>
        </a:graphic>
      </p:graphicFrame>
      <p:sp>
        <p:nvSpPr>
          <p:cNvPr id="7" name="TextBox 6"/>
          <p:cNvSpPr txBox="1"/>
          <p:nvPr/>
        </p:nvSpPr>
        <p:spPr>
          <a:xfrm>
            <a:off x="457200" y="6508000"/>
            <a:ext cx="11274552" cy="300000"/>
          </a:xfrm>
          <a:prstGeom prst="rect">
            <a:avLst/>
          </a:prstGeom>
          <a:noFill/>
        </p:spPr>
        <p:txBody>
          <a:bodyPr wrap="square">
            <a:spAutoFit/>
          </a:bodyPr>
          <a:lstStyle/>
          <a:p>
            <a:endParaRPr/>
          </a:p>
          <a:p>
            <a:pPr algn="l"/>
            <a:r>
              <a:rPr sz="1000" b="0" i="0">
                <a:solidFill>
                  <a:srgbClr val="404040"/>
                </a:solidFill>
                <a:latin typeface="Calibri"/>
              </a:rPr>
              <a:t>* Primary metric (starred): Normal-Only + No Diacritics. All-samples CER ~ WER because runaway inflates both equally. Normal-only shows true OCR quality: WER &gt; CER as expected.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19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All-Phase Comparison — KHATT Validation (226 samples, 40 runaway)</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Primary metric: Normal-Only + No Diacritics (*)  |  Lower is better</a:t>
            </a:r>
          </a:p>
        </p:txBody>
      </p:sp>
      <p:graphicFrame>
        <p:nvGraphicFramePr>
          <p:cNvPr id="6" name="Table 5"/>
          <p:cNvGraphicFramePr>
            <a:graphicFrameLocks noGrp="1"/>
          </p:cNvGraphicFramePr>
          <p:nvPr/>
        </p:nvGraphicFramePr>
        <p:xfrm>
          <a:off x="457200" y="1343000"/>
          <a:ext cx="12188952" cy="4100000"/>
        </p:xfrm>
        <a:graphic>
          <a:graphicData uri="http://schemas.openxmlformats.org/drawingml/2006/table">
            <a:tbl>
              <a:tblPr firstRow="1" bandRow="1">
                <a:tableStyleId>{5C22544A-7EE6-4342-B048-85BDC9FD1C3A}</a:tableStyleId>
              </a:tblPr>
              <a:tblGrid>
                <a:gridCol w="2300000"/>
                <a:gridCol w="1236119"/>
                <a:gridCol w="1236119"/>
                <a:gridCol w="1236119"/>
                <a:gridCol w="1236119"/>
                <a:gridCol w="1236119"/>
                <a:gridCol w="1236119"/>
                <a:gridCol w="1236119"/>
                <a:gridCol w="1236119"/>
              </a:tblGrid>
              <a:tr h="490000">
                <a:tc>
                  <a:txBody>
                    <a:bodyPr/>
                    <a:lstStyle/>
                    <a:p>
                      <a:pPr algn="ctr"/>
                      <a:r>
                        <a:rPr sz="1000" b="1">
                          <a:solidFill>
                            <a:srgbClr val="FFFFFF"/>
                          </a:solidFill>
                        </a:rPr>
                        <a:t>Phase</a:t>
                      </a:r>
                    </a:p>
                  </a:txBody>
                  <a:tcPr>
                    <a:solidFill>
                      <a:srgbClr val="1F3864"/>
                    </a:solidFill>
                  </a:tcPr>
                </a:tc>
                <a:tc>
                  <a:txBody>
                    <a:bodyPr/>
                    <a:lstStyle/>
                    <a:p>
                      <a:pPr algn="ctr"/>
                      <a:r>
                        <a:rPr sz="900" b="1">
                          <a:solidFill>
                            <a:srgbClr val="FFFFFF"/>
                          </a:solidFill>
                        </a:rPr>
                        <a:t>Normal-Only (with diacritics)</a:t>
                      </a:r>
                    </a:p>
                  </a:txBody>
                  <a:tcPr>
                    <a:solidFill>
                      <a:srgbClr val="378635"/>
                    </a:solidFill>
                  </a:tcPr>
                </a:tc>
                <a:tc>
                  <a:txBody>
                    <a:bodyPr/>
                    <a:lstStyle/>
                    <a:p>
                      <a:pPr algn="ctr"/>
                      <a:endParaRPr/>
                    </a:p>
                  </a:txBody>
                  <a:tcPr>
                    <a:solidFill>
                      <a:srgbClr val="378635"/>
                    </a:solidFill>
                  </a:tcPr>
                </a:tc>
                <a:tc>
                  <a:txBody>
                    <a:bodyPr/>
                    <a:lstStyle/>
                    <a:p>
                      <a:pPr algn="ctr"/>
                      <a:r>
                        <a:rPr sz="900" b="1">
                          <a:solidFill>
                            <a:srgbClr val="FFFFFF"/>
                          </a:solidFill>
                        </a:rPr>
                        <a:t>Normal-Only NO diacritics (*)</a:t>
                      </a:r>
                    </a:p>
                  </a:txBody>
                  <a:tcPr>
                    <a:solidFill>
                      <a:srgbClr val="2E75B6"/>
                    </a:solidFill>
                  </a:tcPr>
                </a:tc>
                <a:tc>
                  <a:txBody>
                    <a:bodyPr/>
                    <a:lstStyle/>
                    <a:p>
                      <a:pPr algn="ctr"/>
                      <a:endParaRPr/>
                    </a:p>
                  </a:txBody>
                  <a:tcPr>
                    <a:solidFill>
                      <a:srgbClr val="2E75B6"/>
                    </a:solidFill>
                  </a:tcPr>
                </a:tc>
                <a:tc>
                  <a:txBody>
                    <a:bodyPr/>
                    <a:lstStyle/>
                    <a:p>
                      <a:pPr algn="ctr"/>
                      <a:r>
                        <a:rPr sz="900" b="1">
                          <a:solidFill>
                            <a:srgbClr val="FFFFFF"/>
                          </a:solidFill>
                        </a:rPr>
                        <a:t>All Samples (with diacritics)</a:t>
                      </a:r>
                    </a:p>
                  </a:txBody>
                  <a:tcPr>
                    <a:solidFill>
                      <a:srgbClr val="C00000"/>
                    </a:solidFill>
                  </a:tcPr>
                </a:tc>
                <a:tc>
                  <a:txBody>
                    <a:bodyPr/>
                    <a:lstStyle/>
                    <a:p>
                      <a:pPr algn="ctr"/>
                      <a:endParaRPr/>
                    </a:p>
                  </a:txBody>
                  <a:tcPr>
                    <a:solidFill>
                      <a:srgbClr val="C00000"/>
                    </a:solidFill>
                  </a:tcPr>
                </a:tc>
                <a:tc>
                  <a:txBody>
                    <a:bodyPr/>
                    <a:lstStyle/>
                    <a:p>
                      <a:pPr algn="ctr"/>
                      <a:r>
                        <a:rPr sz="900" b="1">
                          <a:solidFill>
                            <a:srgbClr val="FFFFFF"/>
                          </a:solidFill>
                        </a:rPr>
                        <a:t>All Samples (NO diacritics)</a:t>
                      </a:r>
                    </a:p>
                  </a:txBody>
                  <a:tcPr>
                    <a:solidFill>
                      <a:srgbClr val="7B0000"/>
                    </a:solidFill>
                  </a:tcPr>
                </a:tc>
                <a:tc>
                  <a:txBody>
                    <a:bodyPr/>
                    <a:lstStyle/>
                    <a:p>
                      <a:pPr algn="ctr"/>
                      <a:endParaRPr/>
                    </a:p>
                  </a:txBody>
                  <a:tcPr>
                    <a:solidFill>
                      <a:srgbClr val="7B0000"/>
                    </a:solidFill>
                  </a:tcPr>
                </a:tc>
              </a:tr>
              <a:tr h="490000">
                <a:tc>
                  <a:txBody>
                    <a:bodyPr/>
                    <a:lstStyle/>
                    <a:p>
                      <a:pPr algn="ctr"/>
                      <a:r>
                        <a:rPr sz="900" b="1">
                          <a:solidFill>
                            <a:srgbClr val="FFFFFF"/>
                          </a:solidFill>
                        </a:rPr>
                        <a:t>Phase / Variant</a:t>
                      </a:r>
                    </a:p>
                  </a:txBody>
                  <a:tcPr>
                    <a:solidFill>
                      <a:srgbClr val="1F3864"/>
                    </a:solidFill>
                  </a:tcPr>
                </a:tc>
                <a:tc>
                  <a:txBody>
                    <a:bodyPr/>
                    <a:lstStyle/>
                    <a:p>
                      <a:pPr algn="ctr"/>
                      <a:r>
                        <a:rPr sz="900" b="1">
                          <a:solidFill>
                            <a:srgbClr val="FFFFFF"/>
                          </a:solidFill>
                        </a:rPr>
                        <a:t>CER</a:t>
                      </a:r>
                    </a:p>
                  </a:txBody>
                  <a:tcPr>
                    <a:solidFill>
                      <a:srgbClr val="1F3864"/>
                    </a:solidFill>
                  </a:tcPr>
                </a:tc>
                <a:tc>
                  <a:txBody>
                    <a:bodyPr/>
                    <a:lstStyle/>
                    <a:p>
                      <a:pPr algn="ctr"/>
                      <a:r>
                        <a:rPr sz="900" b="1">
                          <a:solidFill>
                            <a:srgbClr val="FFFFFF"/>
                          </a:solidFill>
                        </a:rPr>
                        <a:t>WER</a:t>
                      </a:r>
                    </a:p>
                  </a:txBody>
                  <a:tcPr>
                    <a:solidFill>
                      <a:srgbClr val="1F3864"/>
                    </a:solidFill>
                  </a:tcPr>
                </a:tc>
                <a:tc>
                  <a:txBody>
                    <a:bodyPr/>
                    <a:lstStyle/>
                    <a:p>
                      <a:pPr algn="ctr"/>
                      <a:r>
                        <a:rPr sz="900" b="1">
                          <a:solidFill>
                            <a:srgbClr val="FFFFFF"/>
                          </a:solidFill>
                        </a:rPr>
                        <a:t>CER</a:t>
                      </a:r>
                    </a:p>
                  </a:txBody>
                  <a:tcPr>
                    <a:solidFill>
                      <a:srgbClr val="1F3864"/>
                    </a:solidFill>
                  </a:tcPr>
                </a:tc>
                <a:tc>
                  <a:txBody>
                    <a:bodyPr/>
                    <a:lstStyle/>
                    <a:p>
                      <a:pPr algn="ctr"/>
                      <a:r>
                        <a:rPr sz="900" b="1">
                          <a:solidFill>
                            <a:srgbClr val="FFFFFF"/>
                          </a:solidFill>
                        </a:rPr>
                        <a:t>WER</a:t>
                      </a:r>
                    </a:p>
                  </a:txBody>
                  <a:tcPr>
                    <a:solidFill>
                      <a:srgbClr val="1F3864"/>
                    </a:solidFill>
                  </a:tcPr>
                </a:tc>
                <a:tc>
                  <a:txBody>
                    <a:bodyPr/>
                    <a:lstStyle/>
                    <a:p>
                      <a:pPr algn="ctr"/>
                      <a:r>
                        <a:rPr sz="900" b="1">
                          <a:solidFill>
                            <a:srgbClr val="FFFFFF"/>
                          </a:solidFill>
                        </a:rPr>
                        <a:t>CER</a:t>
                      </a:r>
                    </a:p>
                  </a:txBody>
                  <a:tcPr>
                    <a:solidFill>
                      <a:srgbClr val="1F3864"/>
                    </a:solidFill>
                  </a:tcPr>
                </a:tc>
                <a:tc>
                  <a:txBody>
                    <a:bodyPr/>
                    <a:lstStyle/>
                    <a:p>
                      <a:pPr algn="ctr"/>
                      <a:r>
                        <a:rPr sz="900" b="1">
                          <a:solidFill>
                            <a:srgbClr val="FFFFFF"/>
                          </a:solidFill>
                        </a:rPr>
                        <a:t>WER</a:t>
                      </a:r>
                    </a:p>
                  </a:txBody>
                  <a:tcPr>
                    <a:solidFill>
                      <a:srgbClr val="1F3864"/>
                    </a:solidFill>
                  </a:tcPr>
                </a:tc>
                <a:tc>
                  <a:txBody>
                    <a:bodyPr/>
                    <a:lstStyle/>
                    <a:p>
                      <a:pPr algn="ctr"/>
                      <a:r>
                        <a:rPr sz="900" b="1">
                          <a:solidFill>
                            <a:srgbClr val="FFFFFF"/>
                          </a:solidFill>
                        </a:rPr>
                        <a:t>CER</a:t>
                      </a:r>
                    </a:p>
                  </a:txBody>
                  <a:tcPr>
                    <a:solidFill>
                      <a:srgbClr val="1F3864"/>
                    </a:solidFill>
                  </a:tcPr>
                </a:tc>
                <a:tc>
                  <a:txBody>
                    <a:bodyPr/>
                    <a:lstStyle/>
                    <a:p>
                      <a:pPr algn="ctr"/>
                      <a:r>
                        <a:rPr sz="900" b="1">
                          <a:solidFill>
                            <a:srgbClr val="FFFFFF"/>
                          </a:solidFill>
                        </a:rPr>
                        <a:t>WER</a:t>
                      </a:r>
                    </a:p>
                  </a:txBody>
                  <a:tcPr>
                    <a:solidFill>
                      <a:srgbClr val="1F3864"/>
                    </a:solidFill>
                  </a:tcPr>
                </a:tc>
              </a:tr>
              <a:tr h="520000">
                <a:tc>
                  <a:txBody>
                    <a:bodyPr/>
                    <a:lstStyle/>
                    <a:p>
                      <a:pPr algn="l"/>
                      <a:r>
                        <a:rPr sz="1000" b="1">
                          <a:solidFill>
                            <a:srgbClr val="404040"/>
                          </a:solidFill>
                        </a:rPr>
                        <a:t>P1 — OCR Baseline</a:t>
                      </a:r>
                    </a:p>
                  </a:txBody>
                  <a:tcPr/>
                </a:tc>
                <a:tc>
                  <a:txBody>
                    <a:bodyPr/>
                    <a:lstStyle/>
                    <a:p>
                      <a:pPr algn="ctr"/>
                      <a:r>
                        <a:rPr sz="900" b="0">
                          <a:solidFill>
                            <a:srgbClr val="404040"/>
                          </a:solidFill>
                        </a:rPr>
                        <a:t>60.59%</a:t>
                      </a:r>
                    </a:p>
                  </a:txBody>
                  <a:tcPr/>
                </a:tc>
                <a:tc>
                  <a:txBody>
                    <a:bodyPr/>
                    <a:lstStyle/>
                    <a:p>
                      <a:pPr algn="ctr"/>
                      <a:r>
                        <a:rPr sz="900" b="0">
                          <a:solidFill>
                            <a:srgbClr val="404040"/>
                          </a:solidFill>
                        </a:rPr>
                        <a:t>89.25%</a:t>
                      </a:r>
                    </a:p>
                  </a:txBody>
                  <a:tcPr/>
                </a:tc>
                <a:tc>
                  <a:txBody>
                    <a:bodyPr/>
                    <a:lstStyle/>
                    <a:p>
                      <a:pPr algn="ctr"/>
                      <a:r>
                        <a:rPr sz="900" b="0">
                          <a:solidFill>
                            <a:srgbClr val="404040"/>
                          </a:solidFill>
                        </a:rPr>
                        <a:t>34.24%</a:t>
                      </a:r>
                    </a:p>
                  </a:txBody>
                  <a:tcPr/>
                </a:tc>
                <a:tc>
                  <a:txBody>
                    <a:bodyPr/>
                    <a:lstStyle/>
                    <a:p>
                      <a:pPr algn="ctr"/>
                      <a:r>
                        <a:rPr sz="900" b="0">
                          <a:solidFill>
                            <a:srgbClr val="404040"/>
                          </a:solidFill>
                        </a:rPr>
                        <a:t>75.60%</a:t>
                      </a:r>
                    </a:p>
                  </a:txBody>
                  <a:tcPr/>
                </a:tc>
                <a:tc>
                  <a:txBody>
                    <a:bodyPr/>
                    <a:lstStyle/>
                    <a:p>
                      <a:pPr algn="ctr"/>
                      <a:r>
                        <a:rPr sz="900" b="0">
                          <a:solidFill>
                            <a:srgbClr val="404040"/>
                          </a:solidFill>
                        </a:rPr>
                        <a:t>565.58%</a:t>
                      </a:r>
                    </a:p>
                  </a:txBody>
                  <a:tcPr/>
                </a:tc>
                <a:tc>
                  <a:txBody>
                    <a:bodyPr/>
                    <a:lstStyle/>
                    <a:p>
                      <a:pPr algn="ctr"/>
                      <a:r>
                        <a:rPr sz="900" b="0">
                          <a:solidFill>
                            <a:srgbClr val="404040"/>
                          </a:solidFill>
                        </a:rPr>
                        <a:t>725.03%</a:t>
                      </a:r>
                    </a:p>
                  </a:txBody>
                  <a:tcPr/>
                </a:tc>
                <a:tc>
                  <a:txBody>
                    <a:bodyPr/>
                    <a:lstStyle/>
                    <a:p>
                      <a:pPr algn="ctr"/>
                      <a:r>
                        <a:rPr sz="900" b="0">
                          <a:solidFill>
                            <a:srgbClr val="404040"/>
                          </a:solidFill>
                        </a:rPr>
                        <a:t>404.64%</a:t>
                      </a:r>
                    </a:p>
                  </a:txBody>
                  <a:tcPr/>
                </a:tc>
                <a:tc>
                  <a:txBody>
                    <a:bodyPr/>
                    <a:lstStyle/>
                    <a:p>
                      <a:pPr algn="ctr"/>
                      <a:r>
                        <a:rPr sz="900" b="0">
                          <a:solidFill>
                            <a:srgbClr val="404040"/>
                          </a:solidFill>
                        </a:rPr>
                        <a:t>672.77%</a:t>
                      </a:r>
                    </a:p>
                  </a:txBody>
                  <a:tcPr/>
                </a:tc>
              </a:tr>
              <a:tr h="520000">
                <a:tc>
                  <a:txBody>
                    <a:bodyPr/>
                    <a:lstStyle/>
                    <a:p>
                      <a:pPr algn="l"/>
                      <a:r>
                        <a:rPr sz="1000" b="0">
                          <a:solidFill>
                            <a:srgbClr val="404040"/>
                          </a:solidFill>
                        </a:rPr>
                        <a:t>P2 — Zero-Shot (v2)</a:t>
                      </a:r>
                    </a:p>
                  </a:txBody>
                  <a:tcPr>
                    <a:solidFill>
                      <a:srgbClr val="D6E4F7"/>
                    </a:solidFill>
                  </a:tcPr>
                </a:tc>
                <a:tc>
                  <a:txBody>
                    <a:bodyPr/>
                    <a:lstStyle/>
                    <a:p>
                      <a:pPr algn="ctr"/>
                      <a:r>
                        <a:rPr sz="900" b="0">
                          <a:solidFill>
                            <a:srgbClr val="404040"/>
                          </a:solidFill>
                        </a:rPr>
                        <a:t>50.93%</a:t>
                      </a:r>
                    </a:p>
                  </a:txBody>
                  <a:tcPr>
                    <a:solidFill>
                      <a:srgbClr val="D6E4F7"/>
                    </a:solidFill>
                  </a:tcPr>
                </a:tc>
                <a:tc>
                  <a:txBody>
                    <a:bodyPr/>
                    <a:lstStyle/>
                    <a:p>
                      <a:pPr algn="ctr"/>
                      <a:r>
                        <a:rPr sz="900" b="0">
                          <a:solidFill>
                            <a:srgbClr val="404040"/>
                          </a:solidFill>
                        </a:rPr>
                        <a:t>82.64%</a:t>
                      </a:r>
                    </a:p>
                  </a:txBody>
                  <a:tcPr>
                    <a:solidFill>
                      <a:srgbClr val="D6E4F7"/>
                    </a:solidFill>
                  </a:tcPr>
                </a:tc>
                <a:tc>
                  <a:txBody>
                    <a:bodyPr/>
                    <a:lstStyle/>
                    <a:p>
                      <a:pPr algn="ctr"/>
                      <a:r>
                        <a:rPr sz="900" b="0">
                          <a:solidFill>
                            <a:srgbClr val="378635"/>
                          </a:solidFill>
                        </a:rPr>
                        <a:t>33.25%</a:t>
                      </a:r>
                    </a:p>
                  </a:txBody>
                  <a:tcPr>
                    <a:solidFill>
                      <a:srgbClr val="D6E4F7"/>
                    </a:solidFill>
                  </a:tcPr>
                </a:tc>
                <a:tc>
                  <a:txBody>
                    <a:bodyPr/>
                    <a:lstStyle/>
                    <a:p>
                      <a:pPr algn="ctr"/>
                      <a:r>
                        <a:rPr sz="900" b="0">
                          <a:solidFill>
                            <a:srgbClr val="404040"/>
                          </a:solidFill>
                        </a:rPr>
                        <a:t>73.94%</a:t>
                      </a:r>
                    </a:p>
                  </a:txBody>
                  <a:tcPr>
                    <a:solidFill>
                      <a:srgbClr val="D6E4F7"/>
                    </a:solidFill>
                  </a:tcPr>
                </a:tc>
                <a:tc>
                  <a:txBody>
                    <a:bodyPr/>
                    <a:lstStyle/>
                    <a:p>
                      <a:pPr algn="ctr"/>
                      <a:r>
                        <a:rPr sz="900" b="0">
                          <a:solidFill>
                            <a:srgbClr val="404040"/>
                          </a:solidFill>
                        </a:rPr>
                        <a:t>320.73%</a:t>
                      </a:r>
                    </a:p>
                  </a:txBody>
                  <a:tcPr>
                    <a:solidFill>
                      <a:srgbClr val="D6E4F7"/>
                    </a:solidFill>
                  </a:tcPr>
                </a:tc>
                <a:tc>
                  <a:txBody>
                    <a:bodyPr/>
                    <a:lstStyle/>
                    <a:p>
                      <a:pPr algn="ctr"/>
                      <a:r>
                        <a:rPr sz="900" b="0">
                          <a:solidFill>
                            <a:srgbClr val="404040"/>
                          </a:solidFill>
                        </a:rPr>
                        <a:t>453.14%</a:t>
                      </a:r>
                    </a:p>
                  </a:txBody>
                  <a:tcPr>
                    <a:solidFill>
                      <a:srgbClr val="D6E4F7"/>
                    </a:solidFill>
                  </a:tcPr>
                </a:tc>
                <a:tc>
                  <a:txBody>
                    <a:bodyPr/>
                    <a:lstStyle/>
                    <a:p>
                      <a:pPr algn="ctr"/>
                      <a:r>
                        <a:rPr sz="900" b="0">
                          <a:solidFill>
                            <a:srgbClr val="404040"/>
                          </a:solidFill>
                        </a:rPr>
                        <a:t>281.75%</a:t>
                      </a:r>
                    </a:p>
                  </a:txBody>
                  <a:tcPr>
                    <a:solidFill>
                      <a:srgbClr val="D6E4F7"/>
                    </a:solidFill>
                  </a:tcPr>
                </a:tc>
                <a:tc>
                  <a:txBody>
                    <a:bodyPr/>
                    <a:lstStyle/>
                    <a:p>
                      <a:pPr algn="ctr"/>
                      <a:r>
                        <a:rPr sz="900" b="0">
                          <a:solidFill>
                            <a:srgbClr val="404040"/>
                          </a:solidFill>
                        </a:rPr>
                        <a:t>445.32%</a:t>
                      </a:r>
                    </a:p>
                  </a:txBody>
                  <a:tcPr>
                    <a:solidFill>
                      <a:srgbClr val="D6E4F7"/>
                    </a:solidFill>
                  </a:tcPr>
                </a:tc>
              </a:tr>
              <a:tr h="520000">
                <a:tc>
                  <a:txBody>
                    <a:bodyPr/>
                    <a:lstStyle/>
                    <a:p>
                      <a:pPr algn="l"/>
                      <a:r>
                        <a:rPr sz="1000" b="0">
                          <a:solidFill>
                            <a:srgbClr val="404040"/>
                          </a:solidFill>
                        </a:rPr>
                        <a:t>P3 — OCR-Aware (conf.mat)</a:t>
                      </a:r>
                    </a:p>
                  </a:txBody>
                  <a:tcPr/>
                </a:tc>
                <a:tc>
                  <a:txBody>
                    <a:bodyPr/>
                    <a:lstStyle/>
                    <a:p>
                      <a:pPr algn="ctr"/>
                      <a:r>
                        <a:rPr sz="900" b="0">
                          <a:solidFill>
                            <a:srgbClr val="404040"/>
                          </a:solidFill>
                        </a:rPr>
                        <a:t>50.72%</a:t>
                      </a:r>
                    </a:p>
                  </a:txBody>
                  <a:tcPr/>
                </a:tc>
                <a:tc>
                  <a:txBody>
                    <a:bodyPr/>
                    <a:lstStyle/>
                    <a:p>
                      <a:pPr algn="ctr"/>
                      <a:r>
                        <a:rPr sz="900" b="0">
                          <a:solidFill>
                            <a:srgbClr val="404040"/>
                          </a:solidFill>
                        </a:rPr>
                        <a:t>83.04%</a:t>
                      </a:r>
                    </a:p>
                  </a:txBody>
                  <a:tcPr/>
                </a:tc>
                <a:tc>
                  <a:txBody>
                    <a:bodyPr/>
                    <a:lstStyle/>
                    <a:p>
                      <a:pPr algn="ctr"/>
                      <a:r>
                        <a:rPr sz="900" b="0">
                          <a:solidFill>
                            <a:srgbClr val="404040"/>
                          </a:solidFill>
                        </a:rPr>
                        <a:t>33.26%</a:t>
                      </a:r>
                    </a:p>
                  </a:txBody>
                  <a:tcPr/>
                </a:tc>
                <a:tc>
                  <a:txBody>
                    <a:bodyPr/>
                    <a:lstStyle/>
                    <a:p>
                      <a:pPr algn="ctr"/>
                      <a:r>
                        <a:rPr sz="900" b="0">
                          <a:solidFill>
                            <a:srgbClr val="404040"/>
                          </a:solidFill>
                        </a:rPr>
                        <a:t>74.12%</a:t>
                      </a:r>
                    </a:p>
                  </a:txBody>
                  <a:tcPr/>
                </a:tc>
                <a:tc>
                  <a:txBody>
                    <a:bodyPr/>
                    <a:lstStyle/>
                    <a:p>
                      <a:pPr algn="ctr"/>
                      <a:r>
                        <a:rPr sz="900" b="0">
                          <a:solidFill>
                            <a:srgbClr val="404040"/>
                          </a:solidFill>
                        </a:rPr>
                        <a:t>332.98%</a:t>
                      </a:r>
                    </a:p>
                  </a:txBody>
                  <a:tcPr/>
                </a:tc>
                <a:tc>
                  <a:txBody>
                    <a:bodyPr/>
                    <a:lstStyle/>
                    <a:p>
                      <a:pPr algn="ctr"/>
                      <a:r>
                        <a:rPr sz="900" b="0">
                          <a:solidFill>
                            <a:srgbClr val="404040"/>
                          </a:solidFill>
                        </a:rPr>
                        <a:t>358.75%</a:t>
                      </a:r>
                    </a:p>
                  </a:txBody>
                  <a:tcPr/>
                </a:tc>
                <a:tc>
                  <a:txBody>
                    <a:bodyPr/>
                    <a:lstStyle/>
                    <a:p>
                      <a:pPr algn="ctr"/>
                      <a:r>
                        <a:rPr sz="900" b="0">
                          <a:solidFill>
                            <a:srgbClr val="404040"/>
                          </a:solidFill>
                        </a:rPr>
                        <a:t>276.86%</a:t>
                      </a:r>
                    </a:p>
                  </a:txBody>
                  <a:tcPr/>
                </a:tc>
                <a:tc>
                  <a:txBody>
                    <a:bodyPr/>
                    <a:lstStyle/>
                    <a:p>
                      <a:pPr algn="ctr"/>
                      <a:r>
                        <a:rPr sz="900" b="0">
                          <a:solidFill>
                            <a:srgbClr val="404040"/>
                          </a:solidFill>
                        </a:rPr>
                        <a:t>350.62%</a:t>
                      </a:r>
                    </a:p>
                  </a:txBody>
                  <a:tcPr/>
                </a:tc>
              </a:tr>
              <a:tr h="520000">
                <a:tc>
                  <a:txBody>
                    <a:bodyPr/>
                    <a:lstStyle/>
                    <a:p>
                      <a:pPr algn="l"/>
                      <a:r>
                        <a:rPr sz="1000" b="0">
                          <a:solidFill>
                            <a:srgbClr val="404040"/>
                          </a:solidFill>
                        </a:rPr>
                        <a:t>P4 — Self-Reflective</a:t>
                      </a:r>
                    </a:p>
                  </a:txBody>
                  <a:tcPr>
                    <a:solidFill>
                      <a:srgbClr val="D6E4F7"/>
                    </a:solidFill>
                  </a:tcPr>
                </a:tc>
                <a:tc>
                  <a:txBody>
                    <a:bodyPr/>
                    <a:lstStyle/>
                    <a:p>
                      <a:pPr algn="ctr"/>
                      <a:r>
                        <a:rPr sz="900" b="0">
                          <a:solidFill>
                            <a:srgbClr val="404040"/>
                          </a:solidFill>
                        </a:rPr>
                        <a:t>47.68%</a:t>
                      </a:r>
                    </a:p>
                  </a:txBody>
                  <a:tcPr>
                    <a:solidFill>
                      <a:srgbClr val="D6E4F7"/>
                    </a:solidFill>
                  </a:tcPr>
                </a:tc>
                <a:tc>
                  <a:txBody>
                    <a:bodyPr/>
                    <a:lstStyle/>
                    <a:p>
                      <a:pPr algn="ctr"/>
                      <a:r>
                        <a:rPr sz="900" b="0">
                          <a:solidFill>
                            <a:srgbClr val="404040"/>
                          </a:solidFill>
                        </a:rPr>
                        <a:t>79.77%</a:t>
                      </a:r>
                    </a:p>
                  </a:txBody>
                  <a:tcPr>
                    <a:solidFill>
                      <a:srgbClr val="D6E4F7"/>
                    </a:solidFill>
                  </a:tcPr>
                </a:tc>
                <a:tc>
                  <a:txBody>
                    <a:bodyPr/>
                    <a:lstStyle/>
                    <a:p>
                      <a:pPr algn="ctr"/>
                      <a:r>
                        <a:rPr sz="900" b="0">
                          <a:solidFill>
                            <a:srgbClr val="378635"/>
                          </a:solidFill>
                        </a:rPr>
                        <a:t>33.24%</a:t>
                      </a:r>
                    </a:p>
                  </a:txBody>
                  <a:tcPr>
                    <a:solidFill>
                      <a:srgbClr val="D6E4F7"/>
                    </a:solidFill>
                  </a:tcPr>
                </a:tc>
                <a:tc>
                  <a:txBody>
                    <a:bodyPr/>
                    <a:lstStyle/>
                    <a:p>
                      <a:pPr algn="ctr"/>
                      <a:r>
                        <a:rPr sz="900" b="0">
                          <a:solidFill>
                            <a:srgbClr val="378635"/>
                          </a:solidFill>
                        </a:rPr>
                        <a:t>72.67%</a:t>
                      </a:r>
                    </a:p>
                  </a:txBody>
                  <a:tcPr>
                    <a:solidFill>
                      <a:srgbClr val="D6E4F7"/>
                    </a:solidFill>
                  </a:tcPr>
                </a:tc>
                <a:tc>
                  <a:txBody>
                    <a:bodyPr/>
                    <a:lstStyle/>
                    <a:p>
                      <a:pPr algn="ctr"/>
                      <a:r>
                        <a:rPr sz="900" b="0">
                          <a:solidFill>
                            <a:srgbClr val="404040"/>
                          </a:solidFill>
                        </a:rPr>
                        <a:t>301.94%</a:t>
                      </a:r>
                    </a:p>
                  </a:txBody>
                  <a:tcPr>
                    <a:solidFill>
                      <a:srgbClr val="D6E4F7"/>
                    </a:solidFill>
                  </a:tcPr>
                </a:tc>
                <a:tc>
                  <a:txBody>
                    <a:bodyPr/>
                    <a:lstStyle/>
                    <a:p>
                      <a:pPr algn="ctr"/>
                      <a:r>
                        <a:rPr sz="900" b="0">
                          <a:solidFill>
                            <a:srgbClr val="404040"/>
                          </a:solidFill>
                        </a:rPr>
                        <a:t>343.97%</a:t>
                      </a:r>
                    </a:p>
                  </a:txBody>
                  <a:tcPr>
                    <a:solidFill>
                      <a:srgbClr val="D6E4F7"/>
                    </a:solidFill>
                  </a:tcPr>
                </a:tc>
                <a:tc>
                  <a:txBody>
                    <a:bodyPr/>
                    <a:lstStyle/>
                    <a:p>
                      <a:pPr algn="ctr"/>
                      <a:r>
                        <a:rPr sz="900" b="0">
                          <a:solidFill>
                            <a:srgbClr val="404040"/>
                          </a:solidFill>
                        </a:rPr>
                        <a:t>258.63%</a:t>
                      </a:r>
                    </a:p>
                  </a:txBody>
                  <a:tcPr>
                    <a:solidFill>
                      <a:srgbClr val="D6E4F7"/>
                    </a:solidFill>
                  </a:tcPr>
                </a:tc>
                <a:tc>
                  <a:txBody>
                    <a:bodyPr/>
                    <a:lstStyle/>
                    <a:p>
                      <a:pPr algn="ctr"/>
                      <a:r>
                        <a:rPr sz="900" b="0">
                          <a:solidFill>
                            <a:srgbClr val="404040"/>
                          </a:solidFill>
                        </a:rPr>
                        <a:t>337.23%</a:t>
                      </a:r>
                    </a:p>
                  </a:txBody>
                  <a:tcPr>
                    <a:solidFill>
                      <a:srgbClr val="D6E4F7"/>
                    </a:solidFill>
                  </a:tcPr>
                </a:tc>
              </a:tr>
              <a:tr h="520000">
                <a:tc>
                  <a:txBody>
                    <a:bodyPr/>
                    <a:lstStyle/>
                    <a:p>
                      <a:pPr algn="l"/>
                      <a:r>
                        <a:rPr sz="1000" b="1">
                          <a:solidFill>
                            <a:srgbClr val="0D528A"/>
                          </a:solidFill>
                        </a:rPr>
                        <a:t>P8 — RAG BM25</a:t>
                      </a:r>
                    </a:p>
                  </a:txBody>
                  <a:tcPr/>
                </a:tc>
                <a:tc>
                  <a:txBody>
                    <a:bodyPr/>
                    <a:lstStyle/>
                    <a:p>
                      <a:pPr algn="ctr"/>
                      <a:r>
                        <a:rPr sz="900" b="0">
                          <a:solidFill>
                            <a:srgbClr val="404040"/>
                          </a:solidFill>
                        </a:rPr>
                        <a:t>45.91%</a:t>
                      </a:r>
                    </a:p>
                  </a:txBody>
                  <a:tcPr/>
                </a:tc>
                <a:tc>
                  <a:txBody>
                    <a:bodyPr/>
                    <a:lstStyle/>
                    <a:p>
                      <a:pPr algn="ctr"/>
                      <a:r>
                        <a:rPr sz="900" b="0">
                          <a:solidFill>
                            <a:srgbClr val="404040"/>
                          </a:solidFill>
                        </a:rPr>
                        <a:t>78.86%</a:t>
                      </a:r>
                    </a:p>
                  </a:txBody>
                  <a:tcPr/>
                </a:tc>
                <a:tc>
                  <a:txBody>
                    <a:bodyPr/>
                    <a:lstStyle/>
                    <a:p>
                      <a:pPr algn="ctr"/>
                      <a:r>
                        <a:rPr sz="900" b="0">
                          <a:solidFill>
                            <a:srgbClr val="404040"/>
                          </a:solidFill>
                        </a:rPr>
                        <a:t>33.83%</a:t>
                      </a:r>
                    </a:p>
                  </a:txBody>
                  <a:tcPr/>
                </a:tc>
                <a:tc>
                  <a:txBody>
                    <a:bodyPr/>
                    <a:lstStyle/>
                    <a:p>
                      <a:pPr algn="ctr"/>
                      <a:r>
                        <a:rPr sz="900" b="0">
                          <a:solidFill>
                            <a:srgbClr val="404040"/>
                          </a:solidFill>
                        </a:rPr>
                        <a:t>73.76%</a:t>
                      </a:r>
                    </a:p>
                  </a:txBody>
                  <a:tcPr/>
                </a:tc>
                <a:tc>
                  <a:txBody>
                    <a:bodyPr/>
                    <a:lstStyle/>
                    <a:p>
                      <a:pPr algn="ctr"/>
                      <a:r>
                        <a:rPr sz="900" b="0">
                          <a:solidFill>
                            <a:srgbClr val="378635"/>
                          </a:solidFill>
                        </a:rPr>
                        <a:t>277.27%</a:t>
                      </a:r>
                    </a:p>
                  </a:txBody>
                  <a:tcPr/>
                </a:tc>
                <a:tc>
                  <a:txBody>
                    <a:bodyPr/>
                    <a:lstStyle/>
                    <a:p>
                      <a:pPr algn="ctr"/>
                      <a:r>
                        <a:rPr sz="900" b="0">
                          <a:solidFill>
                            <a:srgbClr val="378635"/>
                          </a:solidFill>
                        </a:rPr>
                        <a:t>327.75%</a:t>
                      </a:r>
                    </a:p>
                  </a:txBody>
                  <a:tcPr/>
                </a:tc>
                <a:tc>
                  <a:txBody>
                    <a:bodyPr/>
                    <a:lstStyle/>
                    <a:p>
                      <a:pPr algn="ctr"/>
                      <a:r>
                        <a:rPr sz="900" b="0">
                          <a:solidFill>
                            <a:srgbClr val="378635"/>
                          </a:solidFill>
                        </a:rPr>
                        <a:t>255.56%</a:t>
                      </a:r>
                    </a:p>
                  </a:txBody>
                  <a:tcPr/>
                </a:tc>
                <a:tc>
                  <a:txBody>
                    <a:bodyPr/>
                    <a:lstStyle/>
                    <a:p>
                      <a:pPr algn="ctr"/>
                      <a:r>
                        <a:rPr sz="900" b="0">
                          <a:solidFill>
                            <a:srgbClr val="378635"/>
                          </a:solidFill>
                        </a:rPr>
                        <a:t>323.06%</a:t>
                      </a:r>
                    </a:p>
                  </a:txBody>
                  <a:tcPr/>
                </a:tc>
              </a:tr>
              <a:tr h="520000">
                <a:tc>
                  <a:txBody>
                    <a:bodyPr/>
                    <a:lstStyle/>
                    <a:p>
                      <a:pPr algn="l"/>
                      <a:r>
                        <a:rPr sz="1000" b="0">
                          <a:solidFill>
                            <a:srgbClr val="C00000"/>
                          </a:solidFill>
                        </a:rPr>
                        <a:t>P9 — Error-Sig RAG</a:t>
                      </a:r>
                    </a:p>
                  </a:txBody>
                  <a:tcPr>
                    <a:solidFill>
                      <a:srgbClr val="D6E4F7"/>
                    </a:solidFill>
                  </a:tcPr>
                </a:tc>
                <a:tc>
                  <a:txBody>
                    <a:bodyPr/>
                    <a:lstStyle/>
                    <a:p>
                      <a:pPr algn="ctr"/>
                      <a:r>
                        <a:rPr sz="900" b="0">
                          <a:solidFill>
                            <a:srgbClr val="404040"/>
                          </a:solidFill>
                        </a:rPr>
                        <a:t>50.47%</a:t>
                      </a:r>
                    </a:p>
                  </a:txBody>
                  <a:tcPr>
                    <a:solidFill>
                      <a:srgbClr val="D6E4F7"/>
                    </a:solidFill>
                  </a:tcPr>
                </a:tc>
                <a:tc>
                  <a:txBody>
                    <a:bodyPr/>
                    <a:lstStyle/>
                    <a:p>
                      <a:pPr algn="ctr"/>
                      <a:r>
                        <a:rPr sz="900" b="0">
                          <a:solidFill>
                            <a:srgbClr val="404040"/>
                          </a:solidFill>
                        </a:rPr>
                        <a:t>81.65%</a:t>
                      </a:r>
                    </a:p>
                  </a:txBody>
                  <a:tcPr>
                    <a:solidFill>
                      <a:srgbClr val="D6E4F7"/>
                    </a:solidFill>
                  </a:tcPr>
                </a:tc>
                <a:tc>
                  <a:txBody>
                    <a:bodyPr/>
                    <a:lstStyle/>
                    <a:p>
                      <a:pPr algn="ctr"/>
                      <a:r>
                        <a:rPr sz="900" b="0">
                          <a:solidFill>
                            <a:srgbClr val="378635"/>
                          </a:solidFill>
                        </a:rPr>
                        <a:t>33.13%</a:t>
                      </a:r>
                    </a:p>
                  </a:txBody>
                  <a:tcPr>
                    <a:solidFill>
                      <a:srgbClr val="D6E4F7"/>
                    </a:solidFill>
                  </a:tcPr>
                </a:tc>
                <a:tc>
                  <a:txBody>
                    <a:bodyPr/>
                    <a:lstStyle/>
                    <a:p>
                      <a:pPr algn="ctr"/>
                      <a:r>
                        <a:rPr sz="900" b="0">
                          <a:solidFill>
                            <a:srgbClr val="404040"/>
                          </a:solidFill>
                        </a:rPr>
                        <a:t>73.06%</a:t>
                      </a:r>
                    </a:p>
                  </a:txBody>
                  <a:tcPr>
                    <a:solidFill>
                      <a:srgbClr val="D6E4F7"/>
                    </a:solidFill>
                  </a:tcPr>
                </a:tc>
                <a:tc>
                  <a:txBody>
                    <a:bodyPr/>
                    <a:lstStyle/>
                    <a:p>
                      <a:pPr algn="ctr"/>
                      <a:r>
                        <a:rPr sz="900" b="0">
                          <a:solidFill>
                            <a:srgbClr val="404040"/>
                          </a:solidFill>
                        </a:rPr>
                        <a:t>317.57%</a:t>
                      </a:r>
                    </a:p>
                  </a:txBody>
                  <a:tcPr>
                    <a:solidFill>
                      <a:srgbClr val="D6E4F7"/>
                    </a:solidFill>
                  </a:tcPr>
                </a:tc>
                <a:tc>
                  <a:txBody>
                    <a:bodyPr/>
                    <a:lstStyle/>
                    <a:p>
                      <a:pPr algn="ctr"/>
                      <a:r>
                        <a:rPr sz="900" b="0">
                          <a:solidFill>
                            <a:srgbClr val="404040"/>
                          </a:solidFill>
                        </a:rPr>
                        <a:t>364.94%</a:t>
                      </a:r>
                    </a:p>
                  </a:txBody>
                  <a:tcPr>
                    <a:solidFill>
                      <a:srgbClr val="D6E4F7"/>
                    </a:solidFill>
                  </a:tcPr>
                </a:tc>
                <a:tc>
                  <a:txBody>
                    <a:bodyPr/>
                    <a:lstStyle/>
                    <a:p>
                      <a:pPr algn="ctr"/>
                      <a:r>
                        <a:rPr sz="900" b="0">
                          <a:solidFill>
                            <a:srgbClr val="404040"/>
                          </a:solidFill>
                        </a:rPr>
                        <a:t>280.24%</a:t>
                      </a:r>
                    </a:p>
                  </a:txBody>
                  <a:tcPr>
                    <a:solidFill>
                      <a:srgbClr val="D6E4F7"/>
                    </a:solidFill>
                  </a:tcPr>
                </a:tc>
                <a:tc>
                  <a:txBody>
                    <a:bodyPr/>
                    <a:lstStyle/>
                    <a:p>
                      <a:pPr algn="ctr"/>
                      <a:r>
                        <a:rPr sz="900" b="0">
                          <a:solidFill>
                            <a:srgbClr val="404040"/>
                          </a:solidFill>
                        </a:rPr>
                        <a:t>357.20%</a:t>
                      </a:r>
                    </a:p>
                  </a:txBody>
                  <a:tcPr>
                    <a:solidFill>
                      <a:srgbClr val="D6E4F7"/>
                    </a:solidFill>
                  </a:tcPr>
                </a:tc>
              </a:tr>
            </a:tbl>
          </a:graphicData>
        </a:graphic>
      </p:graphicFrame>
      <p:sp>
        <p:nvSpPr>
          <p:cNvPr id="7" name="TextBox 6"/>
          <p:cNvSpPr txBox="1"/>
          <p:nvPr/>
        </p:nvSpPr>
        <p:spPr>
          <a:xfrm>
            <a:off x="457200" y="6428000"/>
            <a:ext cx="11274552" cy="400000"/>
          </a:xfrm>
          <a:prstGeom prst="rect">
            <a:avLst/>
          </a:prstGeom>
          <a:noFill/>
        </p:spPr>
        <p:txBody>
          <a:bodyPr wrap="square">
            <a:spAutoFit/>
          </a:bodyPr>
          <a:lstStyle/>
          <a:p>
            <a:endParaRPr/>
          </a:p>
          <a:p>
            <a:pPr algn="l"/>
            <a:r>
              <a:rPr sz="1000" b="0" i="0">
                <a:solidFill>
                  <a:srgbClr val="404040"/>
                </a:solidFill>
                <a:latin typeface="Calibri"/>
              </a:rPr>
              <a:t>* Primary metric for thesis: Normal-Only + No Diacritics. P8 (RAG BM25) achieves best all-samples CER (277.27% vs 565.58% P1 = 51% improvement). On normal-only no-diac the improvement is modest: P1=34.24% -&gt; P4=33.24% (best, -1.0 pp). P1 all-samples data corrected: 565.58%/725.03% (with diac), 404.64%/672.77% (no diac).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20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Prompt Structure — Phase 2: Zero-Shot (Crafted Prompt)</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Base prompt shared by all phases  |  Injected XML sections vary per phase</a:t>
            </a:r>
          </a:p>
        </p:txBody>
      </p:sp>
      <p:sp>
        <p:nvSpPr>
          <p:cNvPr id="6" name="TextBox 5"/>
          <p:cNvSpPr txBox="1"/>
          <p:nvPr/>
        </p:nvSpPr>
        <p:spPr>
          <a:xfrm>
            <a:off x="457200" y="1343000"/>
            <a:ext cx="5437276" cy="5057800"/>
          </a:xfrm>
          <a:prstGeom prst="rect">
            <a:avLst/>
          </a:prstGeom>
          <a:noFill/>
        </p:spPr>
        <p:txBody>
          <a:bodyPr wrap="square">
            <a:spAutoFit/>
          </a:bodyPr>
          <a:lstStyle/>
          <a:p>
            <a:endParaRPr/>
          </a:p>
          <a:p>
            <a:pPr algn="l"/>
            <a:r>
              <a:rPr sz="1300" b="1" i="0">
                <a:solidFill>
                  <a:srgbClr val="2E75B6"/>
                </a:solidFill>
                <a:latin typeface="Calibri"/>
              </a:rPr>
              <a:t>System Prompt Structure (XML tags)</a:t>
            </a:r>
          </a:p>
          <a:p>
            <a:pPr algn="l"/>
            <a:endParaRPr sz="1300" b="1" i="0">
              <a:solidFill>
                <a:srgbClr val="2E75B6"/>
              </a:solidFill>
              <a:latin typeface="Calibri"/>
            </a:endParaRPr>
          </a:p>
          <a:p>
            <a:pPr algn="l"/>
            <a:r>
              <a:rPr sz="1000" b="1" i="0">
                <a:solidFill>
                  <a:srgbClr val="2E75B6"/>
                </a:solidFill>
                <a:latin typeface="Calibri"/>
              </a:rPr>
              <a:t>&lt;system&gt;</a:t>
            </a:r>
          </a:p>
          <a:p>
            <a:pPr algn="l"/>
            <a:r>
              <a:rPr sz="900" b="0" i="0">
                <a:solidFill>
                  <a:srgbClr val="404040"/>
                </a:solidFill>
                <a:latin typeface="Calibri"/>
              </a:rPr>
              <a:t>  OCR post-correction engine role + output rule</a:t>
            </a:r>
          </a:p>
          <a:p>
            <a:pPr algn="l"/>
            <a:endParaRPr sz="900" b="0" i="0">
              <a:solidFill>
                <a:srgbClr val="404040"/>
              </a:solidFill>
              <a:latin typeface="Calibri"/>
            </a:endParaRPr>
          </a:p>
          <a:p>
            <a:pPr algn="l"/>
            <a:r>
              <a:rPr sz="1000" b="1" i="0">
                <a:solidFill>
                  <a:srgbClr val="2E75B6"/>
                </a:solidFill>
                <a:latin typeface="Calibri"/>
              </a:rPr>
              <a:t>&lt;task&gt;</a:t>
            </a:r>
          </a:p>
          <a:p>
            <a:pPr algn="l"/>
            <a:r>
              <a:rPr sz="900" b="0" i="0">
                <a:solidFill>
                  <a:srgbClr val="404040"/>
                </a:solidFill>
                <a:latin typeface="Calibri"/>
              </a:rPr>
              <a:t>  Sequential word-by-word alignment instruction</a:t>
            </a:r>
          </a:p>
          <a:p>
            <a:pPr algn="l"/>
            <a:endParaRPr sz="900" b="0" i="0">
              <a:solidFill>
                <a:srgbClr val="404040"/>
              </a:solidFill>
              <a:latin typeface="Calibri"/>
            </a:endParaRPr>
          </a:p>
          <a:p>
            <a:pPr algn="l"/>
            <a:r>
              <a:rPr sz="1000" b="1" i="0">
                <a:solidFill>
                  <a:srgbClr val="2E75B6"/>
                </a:solidFill>
                <a:latin typeface="Calibri"/>
              </a:rPr>
              <a:t>&lt;rules priority&gt;</a:t>
            </a:r>
          </a:p>
          <a:p>
            <a:pPr algn="l"/>
            <a:r>
              <a:rPr sz="900" b="0" i="0">
                <a:solidFill>
                  <a:srgbClr val="404040"/>
                </a:solidFill>
                <a:latin typeface="Calibri"/>
              </a:rPr>
              <a:t>  8 absolute rules (detail right)</a:t>
            </a:r>
          </a:p>
          <a:p>
            <a:pPr algn="l"/>
            <a:endParaRPr sz="900" b="0" i="0">
              <a:solidFill>
                <a:srgbClr val="404040"/>
              </a:solidFill>
              <a:latin typeface="Calibri"/>
            </a:endParaRPr>
          </a:p>
          <a:p>
            <a:pPr algn="l"/>
            <a:r>
              <a:rPr sz="1000" b="1" i="0">
                <a:solidFill>
                  <a:srgbClr val="ED7D31"/>
                </a:solidFill>
                <a:latin typeface="Calibri"/>
              </a:rPr>
              <a:t>  [Phase 3]</a:t>
            </a:r>
          </a:p>
          <a:p>
            <a:pPr algn="l"/>
            <a:r>
              <a:rPr sz="900" b="0" i="0">
                <a:solidFill>
                  <a:srgbClr val="404040"/>
                </a:solidFill>
                <a:latin typeface="Calibri"/>
              </a:rPr>
              <a:t>  =&gt; &lt;confusion_patterns&gt; injected here</a:t>
            </a:r>
          </a:p>
          <a:p>
            <a:pPr algn="l"/>
            <a:endParaRPr sz="900" b="0" i="0">
              <a:solidFill>
                <a:srgbClr val="404040"/>
              </a:solidFill>
              <a:latin typeface="Calibri"/>
            </a:endParaRPr>
          </a:p>
          <a:p>
            <a:pPr algn="l"/>
            <a:r>
              <a:rPr sz="1000" b="1" i="0">
                <a:solidFill>
                  <a:srgbClr val="ED7D31"/>
                </a:solidFill>
                <a:latin typeface="Calibri"/>
              </a:rPr>
              <a:t>  [Phase 4]</a:t>
            </a:r>
          </a:p>
          <a:p>
            <a:pPr algn="l"/>
            <a:r>
              <a:rPr sz="900" b="0" i="0">
                <a:solidFill>
                  <a:srgbClr val="404040"/>
                </a:solidFill>
                <a:latin typeface="Calibri"/>
              </a:rPr>
              <a:t>  =&gt; &lt;self_analysis&gt; injected here</a:t>
            </a:r>
          </a:p>
          <a:p>
            <a:pPr algn="l"/>
            <a:endParaRPr sz="900" b="0" i="0">
              <a:solidFill>
                <a:srgbClr val="404040"/>
              </a:solidFill>
              <a:latin typeface="Calibri"/>
            </a:endParaRPr>
          </a:p>
          <a:p>
            <a:pPr algn="l"/>
            <a:r>
              <a:rPr sz="1000" b="1" i="0">
                <a:solidFill>
                  <a:srgbClr val="ED7D31"/>
                </a:solidFill>
                <a:latin typeface="Calibri"/>
              </a:rPr>
              <a:t>  [Phase 8/9]</a:t>
            </a:r>
          </a:p>
          <a:p>
            <a:pPr algn="l"/>
            <a:r>
              <a:rPr sz="900" b="0" i="0">
                <a:solidFill>
                  <a:srgbClr val="404040"/>
                </a:solidFill>
                <a:latin typeface="Calibri"/>
              </a:rPr>
              <a:t>  =&gt; &lt;retrieved_corrections&gt; injected here</a:t>
            </a:r>
          </a:p>
          <a:p>
            <a:pPr algn="l"/>
            <a:endParaRPr sz="900" b="0" i="0">
              <a:solidFill>
                <a:srgbClr val="404040"/>
              </a:solidFill>
              <a:latin typeface="Calibri"/>
            </a:endParaRPr>
          </a:p>
          <a:p>
            <a:pPr algn="l"/>
            <a:r>
              <a:rPr sz="1000" b="1" i="0">
                <a:solidFill>
                  <a:srgbClr val="2E75B6"/>
                </a:solidFill>
                <a:latin typeface="Calibri"/>
              </a:rPr>
              <a:t>&lt;examples&gt;</a:t>
            </a:r>
          </a:p>
          <a:p>
            <a:pPr algn="l"/>
            <a:r>
              <a:rPr sz="900" b="0" i="0">
                <a:solidFill>
                  <a:srgbClr val="404040"/>
                </a:solidFill>
                <a:latin typeface="Calibri"/>
              </a:rPr>
              <a:t>  Static + dynamic few-shot pairs</a:t>
            </a:r>
          </a:p>
          <a:p>
            <a:pPr algn="l"/>
            <a:endParaRPr sz="900" b="0" i="0">
              <a:solidFill>
                <a:srgbClr val="404040"/>
              </a:solidFill>
              <a:latin typeface="Calibri"/>
            </a:endParaRPr>
          </a:p>
          <a:p>
            <a:pPr algn="l"/>
            <a:r>
              <a:rPr sz="1000" b="1" i="0">
                <a:solidFill>
                  <a:srgbClr val="ED7D31"/>
                </a:solidFill>
                <a:latin typeface="Calibri"/>
              </a:rPr>
              <a:t>  [Phase 8/9]</a:t>
            </a:r>
          </a:p>
          <a:p>
            <a:pPr algn="l"/>
            <a:r>
              <a:rPr sz="900" b="0" i="0">
                <a:solidFill>
                  <a:srgbClr val="404040"/>
                </a:solidFill>
                <a:latin typeface="Calibri"/>
              </a:rPr>
              <a:t>  =&gt; retrieved pairs appended here</a:t>
            </a:r>
          </a:p>
          <a:p>
            <a:pPr algn="l"/>
            <a:endParaRPr sz="900" b="0" i="0">
              <a:solidFill>
                <a:srgbClr val="404040"/>
              </a:solidFill>
              <a:latin typeface="Calibri"/>
            </a:endParaRPr>
          </a:p>
          <a:p>
            <a:pPr algn="l"/>
            <a:r>
              <a:rPr sz="1000" b="1" i="0">
                <a:solidFill>
                  <a:srgbClr val="2E75B6"/>
                </a:solidFill>
                <a:latin typeface="Calibri"/>
              </a:rPr>
              <a:t>&lt;output_format&gt;</a:t>
            </a:r>
          </a:p>
          <a:p>
            <a:pPr algn="l"/>
            <a:r>
              <a:rPr sz="900" b="0" i="0">
                <a:solidFill>
                  <a:srgbClr val="404040"/>
                </a:solidFill>
                <a:latin typeface="Calibri"/>
              </a:rPr>
              <a:t>  Output is ONLY corrected text, nothing else</a:t>
            </a:r>
          </a:p>
          <a:p>
            <a:pPr algn="l"/>
            <a:endParaRPr sz="900" b="0" i="0">
              <a:solidFill>
                <a:srgbClr val="404040"/>
              </a:solidFill>
              <a:latin typeface="Calibri"/>
            </a:endParaRPr>
          </a:p>
        </p:txBody>
      </p:sp>
      <p:sp>
        <p:nvSpPr>
          <p:cNvPr id="7" name="TextBox 6"/>
          <p:cNvSpPr txBox="1"/>
          <p:nvPr/>
        </p:nvSpPr>
        <p:spPr>
          <a:xfrm>
            <a:off x="6194476" y="1343000"/>
            <a:ext cx="5437276" cy="5057800"/>
          </a:xfrm>
          <a:prstGeom prst="rect">
            <a:avLst/>
          </a:prstGeom>
          <a:noFill/>
        </p:spPr>
        <p:txBody>
          <a:bodyPr wrap="square">
            <a:spAutoFit/>
          </a:bodyPr>
          <a:lstStyle/>
          <a:p>
            <a:endParaRPr/>
          </a:p>
          <a:p>
            <a:pPr algn="l"/>
            <a:r>
              <a:rPr sz="1300" b="1" i="0">
                <a:solidFill>
                  <a:srgbClr val="2E75B6"/>
                </a:solidFill>
                <a:latin typeface="Calibri"/>
              </a:rPr>
              <a:t>Critical Rules (Phase 2 base)</a:t>
            </a:r>
          </a:p>
          <a:p>
            <a:pPr algn="l"/>
            <a:endParaRPr sz="1300" b="1" i="0">
              <a:solidFill>
                <a:srgbClr val="2E75B6"/>
              </a:solidFill>
              <a:latin typeface="Calibri"/>
            </a:endParaRPr>
          </a:p>
          <a:p>
            <a:pPr algn="l"/>
            <a:r>
              <a:rPr sz="900" b="0" i="0">
                <a:solidFill>
                  <a:srgbClr val="404040"/>
                </a:solidFill>
                <a:latin typeface="Calibri"/>
              </a:rPr>
              <a:t>1. STRICT VISUAL CORRECTION ONLY -- fix misread chars, not grammar</a:t>
            </a:r>
          </a:p>
          <a:p>
            <a:pPr algn="l"/>
            <a:endParaRPr sz="900" b="0" i="0">
              <a:solidFill>
                <a:srgbClr val="404040"/>
              </a:solidFill>
              <a:latin typeface="Calibri"/>
            </a:endParaRPr>
          </a:p>
          <a:p>
            <a:pPr algn="l"/>
            <a:r>
              <a:rPr sz="900" b="0" i="0">
                <a:solidFill>
                  <a:srgbClr val="404040"/>
                </a:solidFill>
                <a:latin typeface="Calibri"/>
              </a:rPr>
              <a:t>2. COLLAPSE HALLUCINATION LOOPS -- truncate &gt;3 repeats to once</a:t>
            </a:r>
          </a:p>
          <a:p>
            <a:pPr algn="l"/>
            <a:endParaRPr sz="900" b="0" i="0">
              <a:solidFill>
                <a:srgbClr val="404040"/>
              </a:solidFill>
              <a:latin typeface="Calibri"/>
            </a:endParaRPr>
          </a:p>
          <a:p>
            <a:pPr algn="l"/>
            <a:r>
              <a:rPr sz="900" b="0" i="0">
                <a:solidFill>
                  <a:srgbClr val="404040"/>
                </a:solidFill>
                <a:latin typeface="Calibri"/>
              </a:rPr>
              <a:t>3. NO TASHKEEL -- strip all diacritics from output</a:t>
            </a:r>
          </a:p>
          <a:p>
            <a:pPr algn="l"/>
            <a:endParaRPr sz="900" b="0" i="0">
              <a:solidFill>
                <a:srgbClr val="404040"/>
              </a:solidFill>
              <a:latin typeface="Calibri"/>
            </a:endParaRPr>
          </a:p>
          <a:p>
            <a:pPr algn="l"/>
            <a:r>
              <a:rPr sz="900" b="0" i="0">
                <a:solidFill>
                  <a:srgbClr val="404040"/>
                </a:solidFill>
                <a:latin typeface="Calibri"/>
              </a:rPr>
              <a:t>4. PRESERVE CLASSICAL SPELLING -- no modernization</a:t>
            </a:r>
          </a:p>
          <a:p>
            <a:pPr algn="l"/>
            <a:endParaRPr sz="900" b="0" i="0">
              <a:solidFill>
                <a:srgbClr val="404040"/>
              </a:solidFill>
              <a:latin typeface="Calibri"/>
            </a:endParaRPr>
          </a:p>
          <a:p>
            <a:pPr algn="l"/>
            <a:r>
              <a:rPr sz="900" b="0" i="0">
                <a:solidFill>
                  <a:srgbClr val="404040"/>
                </a:solidFill>
                <a:latin typeface="Calibri"/>
              </a:rPr>
              <a:t>5. DELETE LATIN ARTIFACTS -- OCR errors only</a:t>
            </a:r>
          </a:p>
          <a:p>
            <a:pPr algn="l"/>
            <a:endParaRPr sz="900" b="0" i="0">
              <a:solidFill>
                <a:srgbClr val="404040"/>
              </a:solidFill>
              <a:latin typeface="Calibri"/>
            </a:endParaRPr>
          </a:p>
          <a:p>
            <a:pPr algn="l"/>
            <a:r>
              <a:rPr sz="900" b="0" i="0">
                <a:solidFill>
                  <a:srgbClr val="404040"/>
                </a:solidFill>
                <a:latin typeface="Calibri"/>
              </a:rPr>
              <a:t>6. UNRECOGNIZABLE TEXT -- leave unchanged if unsure</a:t>
            </a:r>
          </a:p>
          <a:p>
            <a:pPr algn="l"/>
            <a:endParaRPr sz="900" b="0" i="0">
              <a:solidFill>
                <a:srgbClr val="404040"/>
              </a:solidFill>
              <a:latin typeface="Calibri"/>
            </a:endParaRPr>
          </a:p>
          <a:p>
            <a:pPr algn="l"/>
            <a:r>
              <a:rPr sz="900" b="0" i="0">
                <a:solidFill>
                  <a:srgbClr val="404040"/>
                </a:solidFill>
                <a:latin typeface="Calibri"/>
              </a:rPr>
              <a:t>7. PROPER NOUNS -- correct only unambiguous visual errors</a:t>
            </a:r>
          </a:p>
          <a:p>
            <a:pPr algn="l"/>
            <a:endParaRPr sz="900" b="0" i="0">
              <a:solidFill>
                <a:srgbClr val="404040"/>
              </a:solidFill>
              <a:latin typeface="Calibri"/>
            </a:endParaRPr>
          </a:p>
          <a:p>
            <a:pPr algn="l"/>
            <a:r>
              <a:rPr sz="900" b="0" i="0">
                <a:solidFill>
                  <a:srgbClr val="404040"/>
                </a:solidFill>
                <a:latin typeface="Calibri"/>
              </a:rPr>
              <a:t>8. PRESERVE ALF LAM -- do not add or remove definite article</a:t>
            </a:r>
          </a:p>
          <a:p>
            <a:pPr algn="l"/>
            <a:endParaRPr sz="900" b="0" i="0">
              <a:solidFill>
                <a:srgbClr val="404040"/>
              </a:solidFill>
              <a:latin typeface="Calibri"/>
            </a:endParaRPr>
          </a:p>
          <a:p>
            <a:pPr algn="l"/>
            <a:endParaRPr sz="900" b="0" i="0">
              <a:solidFill>
                <a:srgbClr val="404040"/>
              </a:solidFill>
              <a:latin typeface="Calibri"/>
            </a:endParaRPr>
          </a:p>
          <a:p>
            <a:pPr algn="l"/>
            <a:r>
              <a:rPr sz="1100" b="1" i="0">
                <a:solidFill>
                  <a:srgbClr val="2E75B6"/>
                </a:solidFill>
                <a:latin typeface="Calibri"/>
              </a:rPr>
              <a:t>Real Example (PATS-Thuluth):</a:t>
            </a:r>
          </a:p>
          <a:p>
            <a:pPr algn="l"/>
            <a:endParaRPr sz="1100" b="1" i="0">
              <a:solidFill>
                <a:srgbClr val="2E75B6"/>
              </a:solidFill>
              <a:latin typeface="Calibri"/>
            </a:endParaRPr>
          </a:p>
          <a:p>
            <a:pPr algn="l"/>
            <a:r>
              <a:rPr sz="900" b="1" i="0">
                <a:solidFill>
                  <a:srgbClr val="404040"/>
                </a:solidFill>
                <a:latin typeface="Calibri"/>
              </a:rPr>
              <a:t>OCR input:</a:t>
            </a:r>
          </a:p>
          <a:p>
            <a:pPr algn="l" rtl="1"/>
            <a:r>
              <a:rPr sz="1000" b="0" i="0">
                <a:solidFill>
                  <a:srgbClr val="ED7D31"/>
                </a:solidFill>
                <a:latin typeface="Calibri"/>
              </a:rPr>
              <a:t>منه فلما خرج سكعج سكعئين في قبل الحكعت وقال هذة القبلة</a:t>
            </a:r>
          </a:p>
          <a:p>
            <a:pPr algn="l"/>
            <a:r>
              <a:rPr sz="900" b="1" i="0">
                <a:solidFill>
                  <a:srgbClr val="404040"/>
                </a:solidFill>
                <a:latin typeface="Calibri"/>
              </a:rPr>
              <a:t>LLM output:</a:t>
            </a:r>
          </a:p>
          <a:p>
            <a:pPr algn="l" rtl="1"/>
            <a:r>
              <a:rPr sz="1000" b="0" i="0">
                <a:solidFill>
                  <a:srgbClr val="2E75B6"/>
                </a:solidFill>
                <a:latin typeface="Calibri"/>
              </a:rPr>
              <a:t>منه فلما خرج سكعج سكعئين في قبل الحكمة وقال هذه القبلة</a:t>
            </a:r>
          </a:p>
          <a:p>
            <a:pPr algn="l"/>
            <a:r>
              <a:rPr sz="900" b="1" i="0">
                <a:solidFill>
                  <a:srgbClr val="404040"/>
                </a:solidFill>
                <a:latin typeface="Calibri"/>
              </a:rPr>
              <a:t>Ground truth:</a:t>
            </a:r>
          </a:p>
          <a:p>
            <a:pPr algn="l" rtl="1"/>
            <a:r>
              <a:rPr sz="1000" b="0" i="0">
                <a:solidFill>
                  <a:srgbClr val="378635"/>
                </a:solidFill>
                <a:latin typeface="Calibri"/>
              </a:rPr>
              <a:t>منه فلما خرج ركع ركعتين في قبل الكعبة وقال هذه القبلة</a:t>
            </a:r>
          </a:p>
          <a:p>
            <a:pPr algn="l"/>
            <a:endParaRPr sz="1000" b="0" i="0">
              <a:solidFill>
                <a:srgbClr val="378635"/>
              </a:solidFill>
              <a:latin typeface="Calibri"/>
            </a:endParaRPr>
          </a:p>
          <a:p>
            <a:pPr algn="l"/>
            <a:r>
              <a:rPr sz="900" b="0" i="0">
                <a:solidFill>
                  <a:srgbClr val="404040"/>
                </a:solidFill>
                <a:latin typeface="Calibri"/>
              </a:rPr>
              <a:t>LLM partially corrected (fixed typo) but missed</a:t>
            </a:r>
          </a:p>
          <a:p>
            <a:pPr algn="l"/>
            <a:r>
              <a:rPr sz="900" b="0" i="0">
                <a:solidFill>
                  <a:srgbClr val="404040"/>
                </a:solidFill>
                <a:latin typeface="Calibri"/>
              </a:rPr>
              <a:t>systematic Thuluth font distortions throughout.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21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Prompt Augmentation — Phase 3 (OCR-Aware) vs Phase 4 (Self-Reflective)</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Both phases inject additional XML sections into the Phase 2 base prompt</a:t>
            </a:r>
          </a:p>
        </p:txBody>
      </p:sp>
      <p:sp>
        <p:nvSpPr>
          <p:cNvPr id="6" name="TextBox 5"/>
          <p:cNvSpPr txBox="1"/>
          <p:nvPr/>
        </p:nvSpPr>
        <p:spPr>
          <a:xfrm>
            <a:off x="457200" y="1323000"/>
            <a:ext cx="5408676" cy="5495000"/>
          </a:xfrm>
          <a:prstGeom prst="rect">
            <a:avLst/>
          </a:prstGeom>
          <a:noFill/>
        </p:spPr>
        <p:txBody>
          <a:bodyPr wrap="square">
            <a:spAutoFit/>
          </a:bodyPr>
          <a:lstStyle/>
          <a:p>
            <a:endParaRPr/>
          </a:p>
          <a:p>
            <a:pPr algn="l"/>
            <a:r>
              <a:rPr sz="1300" b="1" i="0">
                <a:solidFill>
                  <a:srgbClr val="2E75B6"/>
                </a:solidFill>
                <a:latin typeface="Calibri"/>
              </a:rPr>
              <a:t>Phase 3 -- OCR-Aware: &lt;confusion_patterns&gt;</a:t>
            </a:r>
          </a:p>
          <a:p>
            <a:pPr algn="l"/>
            <a:endParaRPr sz="1300" b="1" i="0">
              <a:solidFill>
                <a:srgbClr val="2E75B6"/>
              </a:solidFill>
              <a:latin typeface="Calibri"/>
            </a:endParaRPr>
          </a:p>
          <a:p>
            <a:pPr algn="l"/>
            <a:r>
              <a:rPr sz="1100" b="1" i="0">
                <a:solidFill>
                  <a:srgbClr val="404040"/>
                </a:solidFill>
                <a:latin typeface="Calibri"/>
              </a:rPr>
              <a:t>What is injected:</a:t>
            </a:r>
          </a:p>
          <a:p>
            <a:pPr algn="l"/>
            <a:r>
              <a:rPr sz="1000" b="0" i="0">
                <a:solidFill>
                  <a:srgbClr val="404040"/>
                </a:solidFill>
                <a:latin typeface="Calibri"/>
              </a:rPr>
              <a:t>* Top character confusion pairs from Phase 1 confusion matrix</a:t>
            </a:r>
          </a:p>
          <a:p>
            <a:pPr algn="l"/>
            <a:r>
              <a:rPr sz="1000" b="0" i="0">
                <a:solidFill>
                  <a:srgbClr val="404040"/>
                </a:solidFill>
                <a:latin typeface="Calibri"/>
              </a:rPr>
              <a:t>* Cross-referenced with LLM failures from training set</a:t>
            </a:r>
          </a:p>
          <a:p>
            <a:pPr algn="l"/>
            <a:r>
              <a:rPr sz="1000" b="0" i="0">
                <a:solidFill>
                  <a:srgbClr val="404040"/>
                </a:solidFill>
                <a:latin typeface="Calibri"/>
              </a:rPr>
              <a:t>* Format: LEFT (OCR form) -&gt; RIGHT (correct form)</a:t>
            </a:r>
          </a:p>
          <a:p>
            <a:pPr algn="l"/>
            <a:endParaRPr sz="1000" b="0" i="0">
              <a:solidFill>
                <a:srgbClr val="404040"/>
              </a:solidFill>
              <a:latin typeface="Calibri"/>
            </a:endParaRPr>
          </a:p>
          <a:p>
            <a:pPr algn="l"/>
            <a:r>
              <a:rPr sz="1100" b="1" i="0">
                <a:solidFill>
                  <a:srgbClr val="ED7D31"/>
                </a:solidFill>
                <a:latin typeface="Calibri"/>
              </a:rPr>
              <a:t>Prompt section injected (example):</a:t>
            </a:r>
          </a:p>
          <a:p>
            <a:pPr algn="l"/>
            <a:r>
              <a:rPr sz="1000" b="0" i="0">
                <a:solidFill>
                  <a:srgbClr val="ED7D31"/>
                </a:solidFill>
                <a:latin typeface="Calibri"/>
              </a:rPr>
              <a:t>&lt;confusion_patterns&gt;</a:t>
            </a:r>
          </a:p>
          <a:p>
            <a:pPr algn="l"/>
            <a:r>
              <a:rPr sz="900" b="0" i="0">
                <a:solidFill>
                  <a:srgbClr val="404040"/>
                </a:solidFill>
                <a:latin typeface="Calibri"/>
              </a:rPr>
              <a:t>This OCR system makes these systematic errors.</a:t>
            </a:r>
          </a:p>
          <a:p>
            <a:pPr algn="l"/>
            <a:r>
              <a:rPr sz="900" b="0" i="0">
                <a:solidFill>
                  <a:srgbClr val="404040"/>
                </a:solidFill>
                <a:latin typeface="Calibri"/>
              </a:rPr>
              <a:t>When you see LEFT, correct to RIGHT:</a:t>
            </a:r>
          </a:p>
          <a:p>
            <a:pPr algn="l"/>
            <a:endParaRPr sz="900" b="0" i="0">
              <a:solidFill>
                <a:srgbClr val="404040"/>
              </a:solidFill>
              <a:latin typeface="Calibri"/>
            </a:endParaRPr>
          </a:p>
          <a:p>
            <a:pPr algn="l"/>
            <a:r>
              <a:rPr sz="900" b="0" i="0">
                <a:solidFill>
                  <a:srgbClr val="404040"/>
                </a:solidFill>
                <a:latin typeface="Calibri"/>
              </a:rPr>
              <a:t>ح -&gt; ج    (same shape, dot difference)</a:t>
            </a:r>
          </a:p>
          <a:p>
            <a:pPr algn="l"/>
            <a:r>
              <a:rPr sz="900" b="0" i="0">
                <a:solidFill>
                  <a:srgbClr val="404040"/>
                </a:solidFill>
                <a:latin typeface="Calibri"/>
              </a:rPr>
              <a:t>ص -&gt; ض   (very similar forms)</a:t>
            </a:r>
          </a:p>
          <a:p>
            <a:pPr algn="l"/>
            <a:r>
              <a:rPr sz="900" b="0" i="0">
                <a:solidFill>
                  <a:srgbClr val="404040"/>
                </a:solidFill>
                <a:latin typeface="Calibri"/>
              </a:rPr>
              <a:t>ر -&gt; ز    (dot above/below)</a:t>
            </a:r>
          </a:p>
          <a:p>
            <a:pPr algn="l"/>
            <a:r>
              <a:rPr sz="900" b="0" i="0">
                <a:solidFill>
                  <a:srgbClr val="404040"/>
                </a:solidFill>
                <a:latin typeface="Calibri"/>
              </a:rPr>
              <a:t>ن -&gt; ي    (confusion in cursive)</a:t>
            </a:r>
          </a:p>
          <a:p>
            <a:pPr algn="l"/>
            <a:endParaRPr sz="900" b="0" i="0">
              <a:solidFill>
                <a:srgbClr val="404040"/>
              </a:solidFill>
              <a:latin typeface="Calibri"/>
            </a:endParaRPr>
          </a:p>
          <a:p>
            <a:pPr algn="l"/>
            <a:r>
              <a:rPr sz="900" b="0" i="0">
                <a:solidFill>
                  <a:srgbClr val="404040"/>
                </a:solidFill>
                <a:latin typeface="Calibri"/>
              </a:rPr>
              <a:t>WORD-LEVEL FAILURES from training:</a:t>
            </a:r>
          </a:p>
          <a:p>
            <a:pPr algn="l"/>
            <a:r>
              <a:rPr sz="900" b="0" i="0">
                <a:solidFill>
                  <a:srgbClr val="404040"/>
                </a:solidFill>
                <a:latin typeface="Calibri"/>
              </a:rPr>
              <a:t>صلاة &lt;- حلطة    (OCR -&gt; correct)</a:t>
            </a:r>
          </a:p>
          <a:p>
            <a:pPr algn="l"/>
            <a:r>
              <a:rPr sz="900" b="0" i="0">
                <a:solidFill>
                  <a:srgbClr val="404040"/>
                </a:solidFill>
                <a:latin typeface="Calibri"/>
              </a:rPr>
              <a:t>وسلم &lt;- وسله    (OCR -&gt; correct)</a:t>
            </a:r>
          </a:p>
          <a:p>
            <a:pPr algn="l"/>
            <a:r>
              <a:rPr sz="1000" b="0" i="0">
                <a:solidFill>
                  <a:srgbClr val="ED7D31"/>
                </a:solidFill>
                <a:latin typeface="Calibri"/>
              </a:rPr>
              <a:t>&lt;/confusion_patterns&gt;</a:t>
            </a:r>
          </a:p>
          <a:p>
            <a:pPr algn="l"/>
            <a:endParaRPr sz="1000" b="0" i="0">
              <a:solidFill>
                <a:srgbClr val="ED7D31"/>
              </a:solidFill>
              <a:latin typeface="Calibri"/>
            </a:endParaRPr>
          </a:p>
          <a:p>
            <a:pPr algn="l"/>
            <a:r>
              <a:rPr sz="1000" b="0" i="0">
                <a:solidFill>
                  <a:srgbClr val="404040"/>
                </a:solidFill>
                <a:latin typeface="Calibri"/>
              </a:rPr>
              <a:t>Result: KHATT normal CER 60.59%-&gt;50.72% (+16.3% rel).</a:t>
            </a:r>
          </a:p>
          <a:p>
            <a:pPr algn="l"/>
            <a:r>
              <a:rPr sz="1000" b="0" i="0">
                <a:solidFill>
                  <a:srgbClr val="C00000"/>
                </a:solidFill>
                <a:latin typeface="Calibri"/>
              </a:rPr>
              <a:t>Hurts PATS -- over-triggers on already-correct text.</a:t>
            </a:r>
          </a:p>
        </p:txBody>
      </p:sp>
      <p:sp>
        <p:nvSpPr>
          <p:cNvPr id="7" name="TextBox 6"/>
          <p:cNvSpPr txBox="1"/>
          <p:nvPr/>
        </p:nvSpPr>
        <p:spPr>
          <a:xfrm>
            <a:off x="6323076" y="1323000"/>
            <a:ext cx="5408676" cy="5495000"/>
          </a:xfrm>
          <a:prstGeom prst="rect">
            <a:avLst/>
          </a:prstGeom>
          <a:noFill/>
        </p:spPr>
        <p:txBody>
          <a:bodyPr wrap="square">
            <a:spAutoFit/>
          </a:bodyPr>
          <a:lstStyle/>
          <a:p>
            <a:endParaRPr/>
          </a:p>
          <a:p>
            <a:pPr algn="l"/>
            <a:r>
              <a:rPr sz="1300" b="1" i="0">
                <a:solidFill>
                  <a:srgbClr val="2E75B6"/>
                </a:solidFill>
                <a:latin typeface="Calibri"/>
              </a:rPr>
              <a:t>Phase 4 -- Self-Reflective: &lt;self_analysis&gt;</a:t>
            </a:r>
          </a:p>
          <a:p>
            <a:pPr algn="l"/>
            <a:endParaRPr sz="1300" b="1" i="0">
              <a:solidFill>
                <a:srgbClr val="2E75B6"/>
              </a:solidFill>
              <a:latin typeface="Calibri"/>
            </a:endParaRPr>
          </a:p>
          <a:p>
            <a:pPr algn="l"/>
            <a:r>
              <a:rPr sz="1100" b="1" i="0">
                <a:solidFill>
                  <a:srgbClr val="404040"/>
                </a:solidFill>
                <a:latin typeface="Calibri"/>
              </a:rPr>
              <a:t>What is injected:</a:t>
            </a:r>
          </a:p>
          <a:p>
            <a:pPr algn="l"/>
            <a:r>
              <a:rPr sz="1000" b="0" i="0">
                <a:solidFill>
                  <a:srgbClr val="404040"/>
                </a:solidFill>
                <a:latin typeface="Calibri"/>
              </a:rPr>
              <a:t>* Systematic weaknesses from Phase 2 training analysis</a:t>
            </a:r>
          </a:p>
          <a:p>
            <a:pPr algn="l"/>
            <a:r>
              <a:rPr sz="1000" b="0" i="0">
                <a:solidFill>
                  <a:srgbClr val="404040"/>
                </a:solidFill>
                <a:latin typeface="Calibri"/>
              </a:rPr>
              <a:t>* Known word-level errors (OCR-&gt;GT pairs from training)</a:t>
            </a:r>
          </a:p>
          <a:p>
            <a:pPr algn="l"/>
            <a:r>
              <a:rPr sz="1000" b="0" i="0">
                <a:solidFill>
                  <a:srgbClr val="404040"/>
                </a:solidFill>
                <a:latin typeface="Calibri"/>
              </a:rPr>
              <a:t>* Over-correction warnings (errors LLM INTRODUCED)</a:t>
            </a:r>
          </a:p>
          <a:p>
            <a:pPr algn="l"/>
            <a:endParaRPr sz="1000" b="0" i="0">
              <a:solidFill>
                <a:srgbClr val="404040"/>
              </a:solidFill>
              <a:latin typeface="Calibri"/>
            </a:endParaRPr>
          </a:p>
          <a:p>
            <a:pPr algn="l"/>
            <a:r>
              <a:rPr sz="1100" b="1" i="0">
                <a:solidFill>
                  <a:srgbClr val="ED7D31"/>
                </a:solidFill>
                <a:latin typeface="Calibri"/>
              </a:rPr>
              <a:t>Prompt section injected (example):</a:t>
            </a:r>
          </a:p>
          <a:p>
            <a:pPr algn="l"/>
            <a:r>
              <a:rPr sz="1000" b="0" i="0">
                <a:solidFill>
                  <a:srgbClr val="ED7D31"/>
                </a:solidFill>
                <a:latin typeface="Calibri"/>
              </a:rPr>
              <a:t>&lt;self_analysis&gt;</a:t>
            </a:r>
          </a:p>
          <a:p>
            <a:pPr algn="l"/>
            <a:r>
              <a:rPr sz="900" b="0" i="0">
                <a:solidFill>
                  <a:srgbClr val="404040"/>
                </a:solidFill>
                <a:latin typeface="Calibri"/>
              </a:rPr>
              <a:t>Based on analysis of this model's corrections:</a:t>
            </a:r>
          </a:p>
          <a:p>
            <a:pPr algn="l"/>
            <a:endParaRPr sz="900" b="0" i="0">
              <a:solidFill>
                <a:srgbClr val="404040"/>
              </a:solidFill>
              <a:latin typeface="Calibri"/>
            </a:endParaRPr>
          </a:p>
          <a:p>
            <a:pPr algn="l"/>
            <a:r>
              <a:rPr sz="900" b="1" i="0">
                <a:solidFill>
                  <a:srgbClr val="404040"/>
                </a:solidFill>
                <a:latin typeface="Calibri"/>
              </a:rPr>
              <a:t>SYSTEMATIC WEAKNESSES:</a:t>
            </a:r>
          </a:p>
          <a:p>
            <a:pPr algn="l"/>
            <a:r>
              <a:rPr sz="900" b="0" i="0">
                <a:solidFill>
                  <a:srgbClr val="404040"/>
                </a:solidFill>
                <a:latin typeface="Calibri"/>
              </a:rPr>
              <a:t>* Confuses h/j, s/d, n/y systematically</a:t>
            </a:r>
          </a:p>
          <a:p>
            <a:pPr algn="l"/>
            <a:r>
              <a:rPr sz="900" b="0" i="0">
                <a:solidFill>
                  <a:srgbClr val="404040"/>
                </a:solidFill>
                <a:latin typeface="Calibri"/>
              </a:rPr>
              <a:t>* Often misses bin names (bn) in isnad chains</a:t>
            </a:r>
          </a:p>
          <a:p>
            <a:pPr algn="l"/>
            <a:endParaRPr sz="900" b="0" i="0">
              <a:solidFill>
                <a:srgbClr val="404040"/>
              </a:solidFill>
              <a:latin typeface="Calibri"/>
            </a:endParaRPr>
          </a:p>
          <a:p>
            <a:pPr algn="l"/>
            <a:r>
              <a:rPr sz="900" b="1" i="0">
                <a:solidFill>
                  <a:srgbClr val="404040"/>
                </a:solidFill>
                <a:latin typeface="Calibri"/>
              </a:rPr>
              <a:t>KNOWN WORD-LEVEL ERRORS:</a:t>
            </a:r>
          </a:p>
          <a:p>
            <a:pPr algn="l"/>
            <a:r>
              <a:rPr sz="900" b="0" i="0">
                <a:solidFill>
                  <a:srgbClr val="404040"/>
                </a:solidFill>
                <a:latin typeface="Calibri"/>
              </a:rPr>
              <a:t>حلطة -&gt; صلاة     وسله -&gt; وسلم</a:t>
            </a:r>
          </a:p>
          <a:p>
            <a:pPr algn="l"/>
            <a:r>
              <a:rPr sz="900" b="0" i="0">
                <a:solidFill>
                  <a:srgbClr val="404040"/>
                </a:solidFill>
                <a:latin typeface="Calibri"/>
              </a:rPr>
              <a:t>اخنا -&gt; اذا      حادثنا -&gt; حدثنا</a:t>
            </a:r>
          </a:p>
          <a:p>
            <a:pPr algn="l"/>
            <a:endParaRPr sz="900" b="0" i="0">
              <a:solidFill>
                <a:srgbClr val="404040"/>
              </a:solidFill>
              <a:latin typeface="Calibri"/>
            </a:endParaRPr>
          </a:p>
          <a:p>
            <a:pPr algn="l"/>
            <a:r>
              <a:rPr sz="900" b="1" i="0">
                <a:solidFill>
                  <a:srgbClr val="404040"/>
                </a:solidFill>
                <a:latin typeface="Calibri"/>
              </a:rPr>
              <a:t>OVER-CORRECTION TRAPS (DO NOT change):</a:t>
            </a:r>
          </a:p>
          <a:p>
            <a:pPr algn="l"/>
            <a:r>
              <a:rPr sz="900" b="0" i="0">
                <a:solidFill>
                  <a:srgbClr val="404040"/>
                </a:solidFill>
                <a:latin typeface="Calibri"/>
              </a:rPr>
              <a:t>علي -&gt; على  (model wrongly normalizes)</a:t>
            </a:r>
          </a:p>
          <a:p>
            <a:pPr algn="l"/>
            <a:r>
              <a:rPr sz="900" b="0" i="0">
                <a:solidFill>
                  <a:srgbClr val="404040"/>
                </a:solidFill>
                <a:latin typeface="Calibri"/>
              </a:rPr>
              <a:t>مريرة -&gt; هريرة  (wrong proper noun fix)</a:t>
            </a:r>
          </a:p>
          <a:p>
            <a:pPr algn="l"/>
            <a:r>
              <a:rPr sz="1000" b="0" i="0">
                <a:solidFill>
                  <a:srgbClr val="ED7D31"/>
                </a:solidFill>
                <a:latin typeface="Calibri"/>
              </a:rPr>
              <a:t>&lt;/self_analysis&gt;</a:t>
            </a:r>
          </a:p>
          <a:p>
            <a:pPr algn="l"/>
            <a:endParaRPr sz="1000" b="0" i="0">
              <a:solidFill>
                <a:srgbClr val="ED7D31"/>
              </a:solidFill>
              <a:latin typeface="Calibri"/>
            </a:endParaRPr>
          </a:p>
          <a:p>
            <a:pPr algn="l"/>
            <a:r>
              <a:rPr sz="1000" b="0" i="0">
                <a:solidFill>
                  <a:srgbClr val="404040"/>
                </a:solidFill>
                <a:latin typeface="Calibri"/>
              </a:rPr>
              <a:t>Result: Best pure-prompt on KHATT normal: 60.59%-&gt;47.68%</a:t>
            </a:r>
          </a:p>
          <a:p>
            <a:pPr algn="l"/>
            <a:r>
              <a:rPr sz="1000" b="0" i="0">
                <a:solidFill>
                  <a:srgbClr val="C00000"/>
                </a:solidFill>
                <a:latin typeface="Calibri"/>
              </a:rPr>
              <a:t>(-21.3% rel). Still regresses on PATS (more context = more edits).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22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RAG Phase 8 — BM25 Character N-gram Retrieval</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Retrieves the 5 most similar (OCR-&gt;GT) pairs from Phase 2 training corrections</a:t>
            </a:r>
          </a:p>
        </p:txBody>
      </p:sp>
      <p:sp>
        <p:nvSpPr>
          <p:cNvPr id="6" name="TextBox 5"/>
          <p:cNvSpPr txBox="1"/>
          <p:nvPr/>
        </p:nvSpPr>
        <p:spPr>
          <a:xfrm>
            <a:off x="457200" y="1323000"/>
            <a:ext cx="4800000" cy="5257800"/>
          </a:xfrm>
          <a:prstGeom prst="rect">
            <a:avLst/>
          </a:prstGeom>
          <a:noFill/>
        </p:spPr>
        <p:txBody>
          <a:bodyPr wrap="square">
            <a:spAutoFit/>
          </a:bodyPr>
          <a:lstStyle/>
          <a:p>
            <a:endParaRPr/>
          </a:p>
          <a:p>
            <a:pPr algn="l"/>
            <a:r>
              <a:rPr sz="1300" b="1" i="0">
                <a:solidFill>
                  <a:srgbClr val="2E75B6"/>
                </a:solidFill>
                <a:latin typeface="Calibri"/>
              </a:rPr>
              <a:t>Pipeline Architecture</a:t>
            </a:r>
          </a:p>
          <a:p>
            <a:pPr algn="l"/>
            <a:endParaRPr sz="1300" b="1" i="0">
              <a:solidFill>
                <a:srgbClr val="2E75B6"/>
              </a:solidFill>
              <a:latin typeface="Calibri"/>
            </a:endParaRPr>
          </a:p>
          <a:p>
            <a:pPr algn="l"/>
            <a:r>
              <a:rPr sz="1100" b="1" i="0">
                <a:solidFill>
                  <a:srgbClr val="2E75B6"/>
                </a:solidFill>
                <a:latin typeface="Calibri"/>
              </a:rPr>
              <a:t>&gt;&gt; BUILD INDEX (once)</a:t>
            </a:r>
          </a:p>
          <a:p>
            <a:pPr algn="l"/>
            <a:r>
              <a:rPr sz="900" b="0" i="0">
                <a:solidFill>
                  <a:srgbClr val="404040"/>
                </a:solidFill>
                <a:latin typeface="Calibri"/>
              </a:rPr>
              <a:t>  Input: 18,363 training (OCR, GT) pairs from Phase 2</a:t>
            </a:r>
          </a:p>
          <a:p>
            <a:pPr algn="l"/>
            <a:r>
              <a:rPr sz="900" b="0" i="0">
                <a:solidFill>
                  <a:srgbClr val="404040"/>
                </a:solidFill>
                <a:latin typeface="Calibri"/>
              </a:rPr>
              <a:t>  Tokenize each OCR text as character 3-grams</a:t>
            </a:r>
          </a:p>
          <a:p>
            <a:pPr algn="l"/>
            <a:r>
              <a:rPr sz="900" b="0" i="0">
                <a:solidFill>
                  <a:srgbClr val="404040"/>
                </a:solidFill>
                <a:latin typeface="Calibri"/>
              </a:rPr>
              <a:t>    Example: 'ktab' -&gt; ['kta', 'tab']</a:t>
            </a:r>
          </a:p>
          <a:p>
            <a:pPr algn="l"/>
            <a:r>
              <a:rPr sz="900" b="0" i="0">
                <a:solidFill>
                  <a:srgbClr val="404040"/>
                </a:solidFill>
                <a:latin typeface="Calibri"/>
              </a:rPr>
              <a:t>  Build BM25Okapi index over char n-grams</a:t>
            </a:r>
          </a:p>
          <a:p>
            <a:pPr algn="l"/>
            <a:r>
              <a:rPr sz="900" b="0" i="0">
                <a:solidFill>
                  <a:srgbClr val="404040"/>
                </a:solidFill>
                <a:latin typeface="Calibri"/>
              </a:rPr>
              <a:t>  Also extract word-level error pairs (OCR-&gt;GT)</a:t>
            </a:r>
          </a:p>
          <a:p>
            <a:pPr algn="l"/>
            <a:endParaRPr sz="900" b="0" i="0">
              <a:solidFill>
                <a:srgbClr val="404040"/>
              </a:solidFill>
              <a:latin typeface="Calibri"/>
            </a:endParaRPr>
          </a:p>
          <a:p>
            <a:pPr algn="l"/>
            <a:r>
              <a:rPr sz="1100" b="1" i="0">
                <a:solidFill>
                  <a:srgbClr val="2E75B6"/>
                </a:solidFill>
                <a:latin typeface="Calibri"/>
              </a:rPr>
              <a:t>&gt;&gt; QUERY (per sample)</a:t>
            </a:r>
          </a:p>
          <a:p>
            <a:pPr algn="l"/>
            <a:r>
              <a:rPr sz="900" b="0" i="0">
                <a:solidFill>
                  <a:srgbClr val="404040"/>
                </a:solidFill>
                <a:latin typeface="Calibri"/>
              </a:rPr>
              <a:t>  For each validation OCR text:</a:t>
            </a:r>
          </a:p>
          <a:p>
            <a:pPr algn="l"/>
            <a:r>
              <a:rPr sz="900" b="0" i="0">
                <a:solidFill>
                  <a:srgbClr val="404040"/>
                </a:solidFill>
                <a:latin typeface="Calibri"/>
              </a:rPr>
              <a:t>    Tokenize as char 3-grams</a:t>
            </a:r>
          </a:p>
          <a:p>
            <a:pPr algn="l"/>
            <a:r>
              <a:rPr sz="900" b="0" i="0">
                <a:solidFill>
                  <a:srgbClr val="404040"/>
                </a:solidFill>
                <a:latin typeface="Calibri"/>
              </a:rPr>
              <a:t>    BM25 query -&gt; top-5 most similar training texts</a:t>
            </a:r>
          </a:p>
          <a:p>
            <a:pPr algn="l"/>
            <a:r>
              <a:rPr sz="900" b="0" i="0">
                <a:solidFill>
                  <a:srgbClr val="404040"/>
                </a:solidFill>
                <a:latin typeface="Calibri"/>
              </a:rPr>
              <a:t>    Also retrieve top-10 word-level fixes</a:t>
            </a:r>
          </a:p>
          <a:p>
            <a:pPr algn="l"/>
            <a:endParaRPr sz="900" b="0" i="0">
              <a:solidFill>
                <a:srgbClr val="404040"/>
              </a:solidFill>
              <a:latin typeface="Calibri"/>
            </a:endParaRPr>
          </a:p>
          <a:p>
            <a:pPr algn="l"/>
            <a:r>
              <a:rPr sz="1100" b="1" i="0">
                <a:solidFill>
                  <a:srgbClr val="2E75B6"/>
                </a:solidFill>
                <a:latin typeface="Calibri"/>
              </a:rPr>
              <a:t>&gt;&gt; INJECT INTO PROMPT</a:t>
            </a:r>
          </a:p>
          <a:p>
            <a:pPr algn="l"/>
            <a:r>
              <a:rPr sz="900" b="0" i="0">
                <a:solidFill>
                  <a:srgbClr val="404040"/>
                </a:solidFill>
                <a:latin typeface="Calibri"/>
              </a:rPr>
              <a:t>  Inject retrieved sentences as &lt;retrieved_corrections&gt;</a:t>
            </a:r>
          </a:p>
          <a:p>
            <a:pPr algn="l"/>
            <a:r>
              <a:rPr sz="900" b="0" i="0">
                <a:solidFill>
                  <a:srgbClr val="404040"/>
                </a:solidFill>
                <a:latin typeface="Calibri"/>
              </a:rPr>
              <a:t>  Inject word fixes as &lt;retrieved_word_fixes&gt;</a:t>
            </a:r>
          </a:p>
          <a:p>
            <a:pPr algn="l"/>
            <a:r>
              <a:rPr sz="900" b="0" i="0">
                <a:solidFill>
                  <a:srgbClr val="404040"/>
                </a:solidFill>
                <a:latin typeface="Calibri"/>
              </a:rPr>
              <a:t>  LLM sees concrete examples of similar corrections</a:t>
            </a:r>
          </a:p>
          <a:p>
            <a:pPr algn="l"/>
            <a:endParaRPr sz="900" b="0" i="0">
              <a:solidFill>
                <a:srgbClr val="404040"/>
              </a:solidFill>
              <a:latin typeface="Calibri"/>
            </a:endParaRPr>
          </a:p>
          <a:p>
            <a:pPr algn="l"/>
            <a:r>
              <a:rPr sz="1100" b="1" i="0">
                <a:solidFill>
                  <a:srgbClr val="2E75B6"/>
                </a:solidFill>
                <a:latin typeface="Calibri"/>
              </a:rPr>
              <a:t>Why char n-grams?</a:t>
            </a:r>
          </a:p>
          <a:p>
            <a:pPr algn="l"/>
            <a:r>
              <a:rPr sz="900" b="0" i="0">
                <a:solidFill>
                  <a:srgbClr val="404040"/>
                </a:solidFill>
                <a:latin typeface="Calibri"/>
              </a:rPr>
              <a:t>* Robust to OCR noise (word boundaries corrupted)</a:t>
            </a:r>
          </a:p>
          <a:p>
            <a:pPr algn="l"/>
            <a:r>
              <a:rPr sz="900" b="0" i="0">
                <a:solidFill>
                  <a:srgbClr val="404040"/>
                </a:solidFill>
                <a:latin typeface="Calibri"/>
              </a:rPr>
              <a:t>* Character-level similarity captures confusable patterns</a:t>
            </a:r>
          </a:p>
          <a:p>
            <a:pPr algn="l"/>
            <a:r>
              <a:rPr sz="900" b="0" i="0">
                <a:solidFill>
                  <a:srgbClr val="404040"/>
                </a:solidFill>
                <a:latin typeface="Calibri"/>
              </a:rPr>
              <a:t>* No embedding model needed (fast, deterministic)</a:t>
            </a:r>
          </a:p>
        </p:txBody>
      </p:sp>
      <p:sp>
        <p:nvSpPr>
          <p:cNvPr id="7" name="TextBox 6"/>
          <p:cNvSpPr txBox="1"/>
          <p:nvPr/>
        </p:nvSpPr>
        <p:spPr>
          <a:xfrm>
            <a:off x="5714400" y="1323000"/>
            <a:ext cx="6017352" cy="5257800"/>
          </a:xfrm>
          <a:prstGeom prst="rect">
            <a:avLst/>
          </a:prstGeom>
          <a:noFill/>
        </p:spPr>
        <p:txBody>
          <a:bodyPr wrap="square">
            <a:spAutoFit/>
          </a:bodyPr>
          <a:lstStyle/>
          <a:p>
            <a:endParaRPr/>
          </a:p>
          <a:p>
            <a:pPr algn="l"/>
            <a:r>
              <a:rPr sz="1300" b="1" i="0">
                <a:solidFill>
                  <a:srgbClr val="2E75B6"/>
                </a:solidFill>
                <a:latin typeface="Calibri"/>
              </a:rPr>
              <a:t>Concrete Example -- KHATT Sample</a:t>
            </a:r>
          </a:p>
          <a:p>
            <a:pPr algn="l"/>
            <a:endParaRPr sz="1300" b="1" i="0">
              <a:solidFill>
                <a:srgbClr val="2E75B6"/>
              </a:solidFill>
              <a:latin typeface="Calibri"/>
            </a:endParaRPr>
          </a:p>
          <a:p>
            <a:pPr algn="l"/>
            <a:r>
              <a:rPr sz="1000" b="1" i="0">
                <a:solidFill>
                  <a:srgbClr val="ED7D31"/>
                </a:solidFill>
                <a:latin typeface="Calibri"/>
              </a:rPr>
              <a:t>QUERY (validation OCR):</a:t>
            </a:r>
          </a:p>
          <a:p>
            <a:pPr algn="l" rtl="1"/>
            <a:r>
              <a:rPr sz="1000" b="0" i="0">
                <a:solidFill>
                  <a:srgbClr val="ED7D31"/>
                </a:solidFill>
                <a:latin typeface="Calibri"/>
              </a:rPr>
              <a:t>وفد كانت حرة نستهلكة عاسًت أمها هلولبِّا كمايخلِّر من وصف العمهايِّ</a:t>
            </a:r>
          </a:p>
          <a:p>
            <a:pPr algn="l"/>
            <a:endParaRPr sz="1000" b="0" i="0">
              <a:solidFill>
                <a:srgbClr val="ED7D31"/>
              </a:solidFill>
              <a:latin typeface="Calibri"/>
            </a:endParaRPr>
          </a:p>
          <a:p>
            <a:pPr algn="l"/>
            <a:r>
              <a:rPr sz="1000" b="1" i="0">
                <a:solidFill>
                  <a:srgbClr val="378635"/>
                </a:solidFill>
                <a:latin typeface="Calibri"/>
              </a:rPr>
              <a:t>TOP-2 RETRIEVED CORRECTIONS:</a:t>
            </a:r>
          </a:p>
          <a:p>
            <a:pPr algn="l" rtl="1"/>
            <a:r>
              <a:rPr sz="900" b="0" i="0">
                <a:solidFill>
                  <a:srgbClr val="404040"/>
                </a:solidFill>
                <a:latin typeface="Calibri"/>
              </a:rPr>
              <a:t>INPUT:  oze cab jnt tfq mys ghby khf dght as fzl hzf</a:t>
            </a:r>
          </a:p>
          <a:p>
            <a:pPr algn="l" rtl="1"/>
            <a:r>
              <a:rPr sz="900" b="0" i="0">
                <a:solidFill>
                  <a:srgbClr val="404040"/>
                </a:solidFill>
                <a:latin typeface="Calibri"/>
              </a:rPr>
              <a:t>OUTPUT: ezh kab jnt tfq mys ghby khf dght as fzl hzf</a:t>
            </a:r>
          </a:p>
          <a:p>
            <a:pPr algn="l"/>
            <a:endParaRPr sz="900" b="0" i="0">
              <a:solidFill>
                <a:srgbClr val="404040"/>
              </a:solidFill>
              <a:latin typeface="Calibri"/>
            </a:endParaRPr>
          </a:p>
          <a:p>
            <a:pPr algn="l" rtl="1"/>
            <a:r>
              <a:rPr sz="900" b="0" i="0">
                <a:solidFill>
                  <a:srgbClr val="404040"/>
                </a:solidFill>
                <a:latin typeface="Calibri"/>
              </a:rPr>
              <a:t>INPUT:  fzl hzf ezh kab jnt tfq mys ghby khf dbght as</a:t>
            </a:r>
          </a:p>
          <a:p>
            <a:pPr algn="l" rtl="1"/>
            <a:r>
              <a:rPr sz="900" b="0" i="0">
                <a:solidFill>
                  <a:srgbClr val="404040"/>
                </a:solidFill>
                <a:latin typeface="Calibri"/>
              </a:rPr>
              <a:t>OUTPUT: fzl hzf ezh kab jnt tfq mys ghby khf dght as</a:t>
            </a:r>
          </a:p>
          <a:p>
            <a:pPr algn="l"/>
            <a:endParaRPr sz="900" b="0" i="0">
              <a:solidFill>
                <a:srgbClr val="404040"/>
              </a:solidFill>
              <a:latin typeface="Calibri"/>
            </a:endParaRPr>
          </a:p>
          <a:p>
            <a:pPr algn="l"/>
            <a:r>
              <a:rPr sz="1000" b="1" i="0">
                <a:solidFill>
                  <a:srgbClr val="378635"/>
                </a:solidFill>
                <a:latin typeface="Calibri"/>
              </a:rPr>
              <a:t>TOP-5 WORD-LEVEL FIXES:</a:t>
            </a:r>
          </a:p>
          <a:p>
            <a:pPr algn="l"/>
            <a:r>
              <a:rPr sz="900" b="0" i="0">
                <a:solidFill>
                  <a:srgbClr val="404040"/>
                </a:solidFill>
                <a:latin typeface="Calibri"/>
              </a:rPr>
              <a:t>  "ضغت" -&gt; "ضغط"</a:t>
            </a:r>
          </a:p>
          <a:p>
            <a:pPr algn="l"/>
            <a:r>
              <a:rPr sz="900" b="0" i="0">
                <a:solidFill>
                  <a:srgbClr val="404040"/>
                </a:solidFill>
                <a:latin typeface="Calibri"/>
              </a:rPr>
              <a:t>  "غضبي" -&gt; "غضبى"</a:t>
            </a:r>
          </a:p>
          <a:p>
            <a:pPr algn="l"/>
            <a:r>
              <a:rPr sz="900" b="0" i="0">
                <a:solidFill>
                  <a:srgbClr val="404040"/>
                </a:solidFill>
                <a:latin typeface="Calibri"/>
              </a:rPr>
              <a:t>  "مضغتته" -&gt; "مضغته"</a:t>
            </a:r>
          </a:p>
          <a:p>
            <a:pPr algn="l"/>
            <a:r>
              <a:rPr sz="900" b="0" i="0">
                <a:solidFill>
                  <a:srgbClr val="404040"/>
                </a:solidFill>
                <a:latin typeface="Calibri"/>
              </a:rPr>
              <a:t>  "حذف" -&gt; "دخل"</a:t>
            </a:r>
          </a:p>
          <a:p>
            <a:pPr algn="l"/>
            <a:r>
              <a:rPr sz="900" b="0" i="0">
                <a:solidFill>
                  <a:srgbClr val="404040"/>
                </a:solidFill>
                <a:latin typeface="Calibri"/>
              </a:rPr>
              <a:t>  "عزيزة" -&gt; "هريرة"</a:t>
            </a:r>
          </a:p>
          <a:p>
            <a:pPr algn="l"/>
            <a:endParaRPr sz="900" b="0" i="0">
              <a:solidFill>
                <a:srgbClr val="404040"/>
              </a:solidFill>
              <a:latin typeface="Calibri"/>
            </a:endParaRPr>
          </a:p>
          <a:p>
            <a:pPr algn="l"/>
            <a:r>
              <a:rPr sz="1000" b="1" i="0">
                <a:solidFill>
                  <a:srgbClr val="2E75B6"/>
                </a:solidFill>
                <a:latin typeface="Calibri"/>
              </a:rPr>
              <a:t>RESULT:</a:t>
            </a:r>
          </a:p>
          <a:p>
            <a:pPr algn="l"/>
            <a:r>
              <a:rPr sz="1000" b="0" i="0">
                <a:solidFill>
                  <a:srgbClr val="378635"/>
                </a:solidFill>
                <a:latin typeface="Calibri"/>
              </a:rPr>
              <a:t>Best all-phases: KHATT CER 60.59%-&gt;45.91% (normal+diac)</a:t>
            </a:r>
          </a:p>
          <a:p>
            <a:pPr algn="l"/>
            <a:r>
              <a:rPr sz="1000" b="0" i="0">
                <a:solidFill>
                  <a:srgbClr val="ED7D31"/>
                </a:solidFill>
                <a:latin typeface="Calibri"/>
              </a:rPr>
              <a:t>Normal no-diac: 34.24%-&gt;33.83% (modest +1.2% rel)</a:t>
            </a:r>
          </a:p>
          <a:p>
            <a:pPr algn="l"/>
            <a:r>
              <a:rPr sz="1000" b="0" i="0">
                <a:solidFill>
                  <a:srgbClr val="378635"/>
                </a:solidFill>
                <a:latin typeface="Calibri"/>
              </a:rPr>
              <a:t>All-samples: 565.58%-&gt;277.27% (51.0% improvement)</a:t>
            </a:r>
          </a:p>
          <a:p>
            <a:pPr algn="l"/>
            <a:r>
              <a:rPr sz="900" b="0" i="0">
                <a:solidFill>
                  <a:srgbClr val="404040"/>
                </a:solidFill>
                <a:latin typeface="Calibri"/>
              </a:rPr>
              <a:t>Index: 18,363 training pairs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23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RAG Phase 9 — Error-Signature Retrieval</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Retrieves by structural error similarity rather than text similarity (Phase 8)</a:t>
            </a:r>
          </a:p>
        </p:txBody>
      </p:sp>
      <p:sp>
        <p:nvSpPr>
          <p:cNvPr id="6" name="TextBox 5"/>
          <p:cNvSpPr txBox="1"/>
          <p:nvPr/>
        </p:nvSpPr>
        <p:spPr>
          <a:xfrm>
            <a:off x="457200" y="1323000"/>
            <a:ext cx="5200000" cy="5257800"/>
          </a:xfrm>
          <a:prstGeom prst="rect">
            <a:avLst/>
          </a:prstGeom>
          <a:noFill/>
        </p:spPr>
        <p:txBody>
          <a:bodyPr wrap="square">
            <a:spAutoFit/>
          </a:bodyPr>
          <a:lstStyle/>
          <a:p>
            <a:endParaRPr/>
          </a:p>
          <a:p>
            <a:pPr algn="l"/>
            <a:r>
              <a:rPr sz="1300" b="1" i="0">
                <a:solidFill>
                  <a:srgbClr val="2E75B6"/>
                </a:solidFill>
                <a:latin typeface="Calibri"/>
              </a:rPr>
              <a:t>Phase 9 vs Phase 8 -- Key Difference</a:t>
            </a:r>
          </a:p>
          <a:p>
            <a:pPr algn="l"/>
            <a:endParaRPr sz="1300" b="1" i="0">
              <a:solidFill>
                <a:srgbClr val="2E75B6"/>
              </a:solidFill>
              <a:latin typeface="Calibri"/>
            </a:endParaRPr>
          </a:p>
        </p:txBody>
      </p:sp>
      <p:graphicFrame>
        <p:nvGraphicFramePr>
          <p:cNvPr id="7" name="Table 6"/>
          <p:cNvGraphicFramePr>
            <a:graphicFrameLocks noGrp="1"/>
          </p:cNvGraphicFramePr>
          <p:nvPr/>
        </p:nvGraphicFramePr>
        <p:xfrm>
          <a:off x="457200" y="1493000"/>
          <a:ext cx="5200000" cy="3000000"/>
        </p:xfrm>
        <a:graphic>
          <a:graphicData uri="http://schemas.openxmlformats.org/drawingml/2006/table">
            <a:tbl>
              <a:tblPr firstRow="1" bandRow="1">
                <a:tableStyleId>{5C22544A-7EE6-4342-B048-85BDC9FD1C3A}</a:tableStyleId>
              </a:tblPr>
              <a:tblGrid>
                <a:gridCol w="1800000"/>
                <a:gridCol w="1700000"/>
                <a:gridCol w="1700000"/>
              </a:tblGrid>
              <a:tr h="500000">
                <a:tc>
                  <a:txBody>
                    <a:bodyPr/>
                    <a:lstStyle/>
                    <a:p>
                      <a:pPr algn="ctr"/>
                      <a:r>
                        <a:rPr sz="1000" b="1">
                          <a:solidFill>
                            <a:srgbClr val="FFFFFF"/>
                          </a:solidFill>
                        </a:rPr>
                        <a:t>Dimension</a:t>
                      </a:r>
                    </a:p>
                  </a:txBody>
                  <a:tcPr>
                    <a:solidFill>
                      <a:srgbClr val="1F3864"/>
                    </a:solidFill>
                  </a:tcPr>
                </a:tc>
                <a:tc>
                  <a:txBody>
                    <a:bodyPr/>
                    <a:lstStyle/>
                    <a:p>
                      <a:pPr algn="ctr"/>
                      <a:r>
                        <a:rPr sz="1000" b="1">
                          <a:solidFill>
                            <a:srgbClr val="FFFFFF"/>
                          </a:solidFill>
                        </a:rPr>
                        <a:t>Phase 8 (BM25)</a:t>
                      </a:r>
                    </a:p>
                  </a:txBody>
                  <a:tcPr>
                    <a:solidFill>
                      <a:srgbClr val="2E75B6"/>
                    </a:solidFill>
                  </a:tcPr>
                </a:tc>
                <a:tc>
                  <a:txBody>
                    <a:bodyPr/>
                    <a:lstStyle/>
                    <a:p>
                      <a:pPr algn="ctr"/>
                      <a:r>
                        <a:rPr sz="1000" b="1">
                          <a:solidFill>
                            <a:srgbClr val="FFFFFF"/>
                          </a:solidFill>
                        </a:rPr>
                        <a:t>Phase 9 (Error-Sig)</a:t>
                      </a:r>
                    </a:p>
                  </a:txBody>
                  <a:tcPr>
                    <a:solidFill>
                      <a:srgbClr val="ED7D31"/>
                    </a:solidFill>
                  </a:tcPr>
                </a:tc>
              </a:tr>
              <a:tr h="500000">
                <a:tc>
                  <a:txBody>
                    <a:bodyPr/>
                    <a:lstStyle/>
                    <a:p>
                      <a:pPr algn="l"/>
                      <a:r>
                        <a:rPr sz="900" b="1">
                          <a:solidFill>
                            <a:srgbClr val="404040"/>
                          </a:solidFill>
                        </a:rPr>
                        <a:t>Retrieval basis</a:t>
                      </a:r>
                    </a:p>
                  </a:txBody>
                  <a:tcPr/>
                </a:tc>
                <a:tc>
                  <a:txBody>
                    <a:bodyPr/>
                    <a:lstStyle/>
                    <a:p>
                      <a:pPr algn="ctr"/>
                      <a:r>
                        <a:rPr sz="900" b="0">
                          <a:solidFill>
                            <a:srgbClr val="404040"/>
                          </a:solidFill>
                        </a:rPr>
                        <a:t>Text similarity (char n-grams)</a:t>
                      </a:r>
                    </a:p>
                  </a:txBody>
                  <a:tcPr/>
                </a:tc>
                <a:tc>
                  <a:txBody>
                    <a:bodyPr/>
                    <a:lstStyle/>
                    <a:p>
                      <a:pPr algn="ctr"/>
                      <a:r>
                        <a:rPr sz="900" b="0">
                          <a:solidFill>
                            <a:srgbClr val="404040"/>
                          </a:solidFill>
                        </a:rPr>
                        <a:t>Error structural similarity</a:t>
                      </a:r>
                    </a:p>
                  </a:txBody>
                  <a:tcPr/>
                </a:tc>
              </a:tr>
              <a:tr h="500000">
                <a:tc>
                  <a:txBody>
                    <a:bodyPr/>
                    <a:lstStyle/>
                    <a:p>
                      <a:pPr algn="l"/>
                      <a:r>
                        <a:rPr sz="900" b="1">
                          <a:solidFill>
                            <a:srgbClr val="404040"/>
                          </a:solidFill>
                        </a:rPr>
                        <a:t>Index features</a:t>
                      </a:r>
                    </a:p>
                  </a:txBody>
                  <a:tcPr>
                    <a:solidFill>
                      <a:srgbClr val="D6E4F7"/>
                    </a:solidFill>
                  </a:tcPr>
                </a:tc>
                <a:tc>
                  <a:txBody>
                    <a:bodyPr/>
                    <a:lstStyle/>
                    <a:p>
                      <a:pPr algn="ctr"/>
                      <a:r>
                        <a:rPr sz="900" b="0">
                          <a:solidFill>
                            <a:srgbClr val="404040"/>
                          </a:solidFill>
                        </a:rPr>
                        <a:t>BM25 over OCR char 3-grams</a:t>
                      </a:r>
                    </a:p>
                  </a:txBody>
                  <a:tcPr>
                    <a:solidFill>
                      <a:srgbClr val="D6E4F7"/>
                    </a:solidFill>
                  </a:tcPr>
                </a:tc>
                <a:tc>
                  <a:txBody>
                    <a:bodyPr/>
                    <a:lstStyle/>
                    <a:p>
                      <a:pPr algn="ctr"/>
                      <a:r>
                        <a:rPr sz="900" b="0">
                          <a:solidFill>
                            <a:srgbClr val="404040"/>
                          </a:solidFill>
                        </a:rPr>
                        <a:t>Error signature vector</a:t>
                      </a:r>
                    </a:p>
                  </a:txBody>
                  <a:tcPr>
                    <a:solidFill>
                      <a:srgbClr val="D6E4F7"/>
                    </a:solidFill>
                  </a:tcPr>
                </a:tc>
              </a:tr>
              <a:tr h="500000">
                <a:tc>
                  <a:txBody>
                    <a:bodyPr/>
                    <a:lstStyle/>
                    <a:p>
                      <a:pPr algn="l"/>
                      <a:r>
                        <a:rPr sz="900" b="1">
                          <a:solidFill>
                            <a:srgbClr val="404040"/>
                          </a:solidFill>
                        </a:rPr>
                        <a:t>Query</a:t>
                      </a:r>
                    </a:p>
                  </a:txBody>
                  <a:tcPr/>
                </a:tc>
                <a:tc>
                  <a:txBody>
                    <a:bodyPr/>
                    <a:lstStyle/>
                    <a:p>
                      <a:pPr algn="ctr"/>
                      <a:r>
                        <a:rPr sz="900" b="0">
                          <a:solidFill>
                            <a:srgbClr val="404040"/>
                          </a:solidFill>
                        </a:rPr>
                        <a:t>OCR text tokenized as n-grams</a:t>
                      </a:r>
                    </a:p>
                  </a:txBody>
                  <a:tcPr/>
                </a:tc>
                <a:tc>
                  <a:txBody>
                    <a:bodyPr/>
                    <a:lstStyle/>
                    <a:p>
                      <a:pPr algn="ctr"/>
                      <a:r>
                        <a:rPr sz="900" b="0">
                          <a:solidFill>
                            <a:srgbClr val="404040"/>
                          </a:solidFill>
                        </a:rPr>
                        <a:t>Predicted error profile</a:t>
                      </a:r>
                    </a:p>
                  </a:txBody>
                  <a:tcPr/>
                </a:tc>
              </a:tr>
              <a:tr h="500000">
                <a:tc>
                  <a:txBody>
                    <a:bodyPr/>
                    <a:lstStyle/>
                    <a:p>
                      <a:pPr algn="l"/>
                      <a:r>
                        <a:rPr sz="900" b="1">
                          <a:solidFill>
                            <a:srgbClr val="404040"/>
                          </a:solidFill>
                        </a:rPr>
                        <a:t>GPU needed?</a:t>
                      </a:r>
                    </a:p>
                  </a:txBody>
                  <a:tcPr>
                    <a:solidFill>
                      <a:srgbClr val="D6E4F7"/>
                    </a:solidFill>
                  </a:tcPr>
                </a:tc>
                <a:tc>
                  <a:txBody>
                    <a:bodyPr/>
                    <a:lstStyle/>
                    <a:p>
                      <a:pPr algn="ctr"/>
                      <a:r>
                        <a:rPr sz="900" b="0">
                          <a:solidFill>
                            <a:srgbClr val="404040"/>
                          </a:solidFill>
                        </a:rPr>
                        <a:t>No (BM25 only)</a:t>
                      </a:r>
                    </a:p>
                  </a:txBody>
                  <a:tcPr>
                    <a:solidFill>
                      <a:srgbClr val="D6E4F7"/>
                    </a:solidFill>
                  </a:tcPr>
                </a:tc>
                <a:tc>
                  <a:txBody>
                    <a:bodyPr/>
                    <a:lstStyle/>
                    <a:p>
                      <a:pPr algn="ctr"/>
                      <a:r>
                        <a:rPr sz="900" b="0">
                          <a:solidFill>
                            <a:srgbClr val="404040"/>
                          </a:solidFill>
                        </a:rPr>
                        <a:t>No (CAMeL + confusion matrix)</a:t>
                      </a:r>
                    </a:p>
                  </a:txBody>
                  <a:tcPr>
                    <a:solidFill>
                      <a:srgbClr val="D6E4F7"/>
                    </a:solidFill>
                  </a:tcPr>
                </a:tc>
              </a:tr>
              <a:tr h="500000">
                <a:tc>
                  <a:txBody>
                    <a:bodyPr/>
                    <a:lstStyle/>
                    <a:p>
                      <a:pPr algn="l"/>
                      <a:r>
                        <a:rPr sz="900" b="1">
                          <a:solidFill>
                            <a:srgbClr val="404040"/>
                          </a:solidFill>
                        </a:rPr>
                        <a:t>KHATT CER (norm)</a:t>
                      </a:r>
                    </a:p>
                  </a:txBody>
                  <a:tcPr/>
                </a:tc>
                <a:tc>
                  <a:txBody>
                    <a:bodyPr/>
                    <a:lstStyle/>
                    <a:p>
                      <a:pPr algn="ctr"/>
                      <a:r>
                        <a:rPr sz="900" b="0">
                          <a:solidFill>
                            <a:srgbClr val="378635"/>
                          </a:solidFill>
                        </a:rPr>
                        <a:t>45.91% -- BEST</a:t>
                      </a:r>
                    </a:p>
                  </a:txBody>
                  <a:tcPr/>
                </a:tc>
                <a:tc>
                  <a:txBody>
                    <a:bodyPr/>
                    <a:lstStyle/>
                    <a:p>
                      <a:pPr algn="ctr"/>
                      <a:r>
                        <a:rPr sz="900" b="0">
                          <a:solidFill>
                            <a:srgbClr val="C00000"/>
                          </a:solidFill>
                        </a:rPr>
                        <a:t>50.47% (worse than P2)</a:t>
                      </a:r>
                    </a:p>
                  </a:txBody>
                  <a:tcPr/>
                </a:tc>
              </a:tr>
            </a:tbl>
          </a:graphicData>
        </a:graphic>
      </p:graphicFrame>
      <p:sp>
        <p:nvSpPr>
          <p:cNvPr id="8" name="TextBox 7"/>
          <p:cNvSpPr txBox="1"/>
          <p:nvPr/>
        </p:nvSpPr>
        <p:spPr>
          <a:xfrm>
            <a:off x="457200" y="4743000"/>
            <a:ext cx="5200000" cy="2015000"/>
          </a:xfrm>
          <a:prstGeom prst="rect">
            <a:avLst/>
          </a:prstGeom>
          <a:noFill/>
        </p:spPr>
        <p:txBody>
          <a:bodyPr wrap="square">
            <a:spAutoFit/>
          </a:bodyPr>
          <a:lstStyle/>
          <a:p>
            <a:endParaRPr/>
          </a:p>
          <a:p>
            <a:pPr algn="l"/>
            <a:r>
              <a:rPr sz="1200" b="1" i="0">
                <a:solidFill>
                  <a:srgbClr val="2E75B6"/>
                </a:solidFill>
                <a:latin typeface="Calibri"/>
              </a:rPr>
              <a:t>Phase 9 Error Signature Pipeline:</a:t>
            </a:r>
          </a:p>
          <a:p>
            <a:pPr algn="l"/>
            <a:endParaRPr sz="1200" b="1" i="0">
              <a:solidFill>
                <a:srgbClr val="2E75B6"/>
              </a:solidFill>
              <a:latin typeface="Calibri"/>
            </a:endParaRPr>
          </a:p>
          <a:p>
            <a:pPr algn="l"/>
            <a:r>
              <a:rPr sz="900" b="1" i="0">
                <a:solidFill>
                  <a:srgbClr val="2E75B6"/>
                </a:solidFill>
                <a:latin typeface="Calibri"/>
              </a:rPr>
              <a:t>&gt;&gt; BUILD INDEX: For each training pair, compute error signature:</a:t>
            </a:r>
          </a:p>
          <a:p>
            <a:pPr algn="l"/>
            <a:r>
              <a:rPr sz="900" b="0" i="0">
                <a:solidFill>
                  <a:srgbClr val="404040"/>
                </a:solidFill>
                <a:latin typeface="Calibri"/>
              </a:rPr>
              <a:t>  * CAMeL invalid word count (morphological)</a:t>
            </a:r>
          </a:p>
          <a:p>
            <a:pPr algn="l"/>
            <a:r>
              <a:rPr sz="900" b="0" i="0">
                <a:solidFill>
                  <a:srgbClr val="404040"/>
                </a:solidFill>
                <a:latin typeface="Calibri"/>
              </a:rPr>
              <a:t>  * Phase 1 confusion-matrix high-freq confused chars</a:t>
            </a:r>
          </a:p>
          <a:p>
            <a:pPr algn="l"/>
            <a:r>
              <a:rPr sz="900" b="0" i="0">
                <a:solidFill>
                  <a:srgbClr val="404040"/>
                </a:solidFill>
                <a:latin typeface="Calibri"/>
              </a:rPr>
              <a:t>  * CER estimate, error density per word</a:t>
            </a:r>
          </a:p>
          <a:p>
            <a:pPr algn="l"/>
            <a:r>
              <a:rPr sz="900" b="1" i="0">
                <a:solidFill>
                  <a:srgbClr val="2E75B6"/>
                </a:solidFill>
                <a:latin typeface="Calibri"/>
              </a:rPr>
              <a:t>&gt;&gt; QUERY: For new OCR text, predict its error signature:</a:t>
            </a:r>
          </a:p>
          <a:p>
            <a:pPr algn="l"/>
            <a:r>
              <a:rPr sz="900" b="0" i="0">
                <a:solidFill>
                  <a:srgbClr val="404040"/>
                </a:solidFill>
                <a:latin typeface="Calibri"/>
              </a:rPr>
              <a:t>  * Run CAMeL on OCR text -&gt; invalid word rate</a:t>
            </a:r>
          </a:p>
          <a:p>
            <a:pPr algn="l"/>
            <a:r>
              <a:rPr sz="900" b="0" i="0">
                <a:solidFill>
                  <a:srgbClr val="404040"/>
                </a:solidFill>
                <a:latin typeface="Calibri"/>
              </a:rPr>
              <a:t>  * Scan for known confusion-matrix characters</a:t>
            </a:r>
          </a:p>
          <a:p>
            <a:pPr algn="l"/>
            <a:r>
              <a:rPr sz="900" b="1" i="0">
                <a:solidFill>
                  <a:srgbClr val="2E75B6"/>
                </a:solidFill>
                <a:latin typeface="Calibri"/>
              </a:rPr>
              <a:t>&gt;&gt; RETRIEVE: Find training samples with closest error signatures</a:t>
            </a:r>
          </a:p>
          <a:p>
            <a:pPr algn="l"/>
            <a:r>
              <a:rPr sz="900" b="0" i="0">
                <a:solidFill>
                  <a:srgbClr val="404040"/>
                </a:solidFill>
                <a:latin typeface="Calibri"/>
              </a:rPr>
              <a:t>  * Cosine similarity over signature vectors</a:t>
            </a:r>
          </a:p>
        </p:txBody>
      </p:sp>
      <p:sp>
        <p:nvSpPr>
          <p:cNvPr id="9" name="TextBox 8"/>
          <p:cNvSpPr txBox="1"/>
          <p:nvPr/>
        </p:nvSpPr>
        <p:spPr>
          <a:xfrm>
            <a:off x="6114400" y="1323000"/>
            <a:ext cx="5617352" cy="5257800"/>
          </a:xfrm>
          <a:prstGeom prst="rect">
            <a:avLst/>
          </a:prstGeom>
          <a:noFill/>
        </p:spPr>
        <p:txBody>
          <a:bodyPr wrap="square">
            <a:spAutoFit/>
          </a:bodyPr>
          <a:lstStyle/>
          <a:p>
            <a:endParaRPr/>
          </a:p>
          <a:p>
            <a:pPr algn="l"/>
            <a:r>
              <a:rPr sz="1300" b="1" i="0">
                <a:solidFill>
                  <a:srgbClr val="C00000"/>
                </a:solidFill>
                <a:latin typeface="Calibri"/>
              </a:rPr>
              <a:t>Why Phase 9 Underperforms Phase 8</a:t>
            </a:r>
          </a:p>
          <a:p>
            <a:pPr algn="l"/>
            <a:endParaRPr sz="1300" b="1" i="0">
              <a:solidFill>
                <a:srgbClr val="C00000"/>
              </a:solidFill>
              <a:latin typeface="Calibri"/>
            </a:endParaRPr>
          </a:p>
          <a:p>
            <a:pPr algn="l"/>
            <a:r>
              <a:rPr sz="1100" b="1" i="0">
                <a:solidFill>
                  <a:srgbClr val="2E75B6"/>
                </a:solidFill>
                <a:latin typeface="Calibri"/>
              </a:rPr>
              <a:t>&gt;&gt; Signature noise</a:t>
            </a:r>
          </a:p>
          <a:p>
            <a:pPr algn="l"/>
            <a:r>
              <a:rPr sz="900" b="0" i="0">
                <a:solidFill>
                  <a:srgbClr val="404040"/>
                </a:solidFill>
                <a:latin typeface="Calibri"/>
              </a:rPr>
              <a:t>OCR errors corrupt the features used to build the
error signature -- predicted profile is unreliable</a:t>
            </a:r>
          </a:p>
          <a:p>
            <a:pPr algn="l"/>
            <a:endParaRPr sz="900" b="0" i="0">
              <a:solidFill>
                <a:srgbClr val="404040"/>
              </a:solidFill>
              <a:latin typeface="Calibri"/>
            </a:endParaRPr>
          </a:p>
          <a:p>
            <a:pPr algn="l"/>
            <a:r>
              <a:rPr sz="1100" b="1" i="0">
                <a:solidFill>
                  <a:srgbClr val="2E75B6"/>
                </a:solidFill>
                <a:latin typeface="Calibri"/>
              </a:rPr>
              <a:t>&gt;&gt; Wrong proxy</a:t>
            </a:r>
          </a:p>
          <a:p>
            <a:pPr algn="l"/>
            <a:r>
              <a:rPr sz="900" b="0" i="0">
                <a:solidFill>
                  <a:srgbClr val="404040"/>
                </a:solidFill>
                <a:latin typeface="Calibri"/>
              </a:rPr>
              <a:t>Two texts can share the same error type (e.g., h/j
confusion) but need completely different corrections</a:t>
            </a:r>
          </a:p>
          <a:p>
            <a:pPr algn="l"/>
            <a:endParaRPr sz="900" b="0" i="0">
              <a:solidFill>
                <a:srgbClr val="404040"/>
              </a:solidFill>
              <a:latin typeface="Calibri"/>
            </a:endParaRPr>
          </a:p>
          <a:p>
            <a:pPr algn="l"/>
            <a:r>
              <a:rPr sz="1100" b="1" i="0">
                <a:solidFill>
                  <a:srgbClr val="2E75B6"/>
                </a:solidFill>
                <a:latin typeface="Calibri"/>
              </a:rPr>
              <a:t>&gt;&gt; Content mismatch</a:t>
            </a:r>
          </a:p>
          <a:p>
            <a:pPr algn="l"/>
            <a:r>
              <a:rPr sz="900" b="0" i="0">
                <a:solidFill>
                  <a:srgbClr val="404040"/>
                </a:solidFill>
                <a:latin typeface="Calibri"/>
              </a:rPr>
              <a:t>Structural similarity != useful correction examples.
Retrieved pairs may have similar error patterns but
unrelated words =&gt; unhelpful context for the LLM</a:t>
            </a:r>
          </a:p>
          <a:p>
            <a:pPr algn="l"/>
            <a:endParaRPr sz="900" b="0" i="0">
              <a:solidFill>
                <a:srgbClr val="404040"/>
              </a:solidFill>
              <a:latin typeface="Calibri"/>
            </a:endParaRPr>
          </a:p>
          <a:p>
            <a:pPr algn="l"/>
            <a:r>
              <a:rPr sz="1100" b="1" i="0">
                <a:solidFill>
                  <a:srgbClr val="2E75B6"/>
                </a:solidFill>
                <a:latin typeface="Calibri"/>
              </a:rPr>
              <a:t>&gt;&gt; Text similarity wins</a:t>
            </a:r>
          </a:p>
          <a:p>
            <a:pPr algn="l"/>
            <a:r>
              <a:rPr sz="900" b="0" i="0">
                <a:solidFill>
                  <a:srgbClr val="404040"/>
                </a:solidFill>
                <a:latin typeface="Calibri"/>
              </a:rPr>
              <a:t>Phase 8 direct text matching finds examples
where actual Arabic words are similar, making
corrections directly applicable</a:t>
            </a:r>
          </a:p>
          <a:p>
            <a:pPr algn="l"/>
            <a:endParaRPr sz="900" b="0" i="0">
              <a:solidFill>
                <a:srgbClr val="404040"/>
              </a:solidFill>
              <a:latin typeface="Calibri"/>
            </a:endParaRPr>
          </a:p>
          <a:p>
            <a:pPr algn="l"/>
            <a:r>
              <a:rPr sz="1100" b="1" i="0">
                <a:solidFill>
                  <a:srgbClr val="C00000"/>
                </a:solidFill>
                <a:latin typeface="Calibri"/>
              </a:rPr>
              <a:t>Verdict:</a:t>
            </a:r>
          </a:p>
          <a:p>
            <a:pPr algn="l"/>
            <a:r>
              <a:rPr sz="1000" b="0" i="0">
                <a:solidFill>
                  <a:srgbClr val="404040"/>
                </a:solidFill>
                <a:latin typeface="Calibri"/>
              </a:rPr>
              <a:t>Error-signature retrieval is theoretically appealing
but fails in practice: OCR-corrupted text makes accurate
error profiling impossible. BM25 text similarity (P8)
is simpler and works better.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24 / 24</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Real Correction Examples — Phase 2 (Zero-Shot)</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Actual OCR -&gt; LLM corrected -&gt; Ground Truth  |  KHATT (handwritten) + PATS (typewritten)</a:t>
            </a:r>
          </a:p>
        </p:txBody>
      </p:sp>
      <p:sp>
        <p:nvSpPr>
          <p:cNvPr id="6" name="Rectangle 5"/>
          <p:cNvSpPr/>
          <p:nvPr/>
        </p:nvSpPr>
        <p:spPr>
          <a:xfrm>
            <a:off x="457200" y="1293000"/>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200" y="1333000"/>
            <a:ext cx="11074552" cy="1721666"/>
          </a:xfrm>
          <a:prstGeom prst="rect">
            <a:avLst/>
          </a:prstGeom>
          <a:noFill/>
        </p:spPr>
        <p:txBody>
          <a:bodyPr wrap="square">
            <a:spAutoFit/>
          </a:bodyPr>
          <a:lstStyle/>
          <a:p>
            <a:endParaRPr/>
          </a:p>
          <a:p>
            <a:pPr algn="l"/>
            <a:r>
              <a:rPr sz="1100" b="1" i="0">
                <a:solidFill>
                  <a:srgbClr val="378635"/>
                </a:solidFill>
                <a:latin typeface="Calibri"/>
              </a:rPr>
              <a:t>KHATT (Handwritten Arabic -- good correction)</a:t>
            </a:r>
          </a:p>
          <a:p>
            <a:pPr algn="l" rtl="1"/>
            <a:r>
              <a:rPr sz="900" b="0" i="0">
                <a:solidFill>
                  <a:srgbClr val="ED7D31"/>
                </a:solidFill>
                <a:latin typeface="Calibri"/>
              </a:rPr>
              <a:t>OCR:  وهي مساحات من الأراضين تعلوهارمال حمر في الغالب ، تمّدمن النفود</a:t>
            </a:r>
          </a:p>
          <a:p>
            <a:pPr algn="l" rtl="1"/>
            <a:r>
              <a:rPr sz="900" b="0" i="0">
                <a:solidFill>
                  <a:srgbClr val="2E75B6"/>
                </a:solidFill>
                <a:latin typeface="Calibri"/>
              </a:rPr>
              <a:t>LLM:  وهي مساحات من الأراضي تعلوها رمال حمر في الغالب تمتد من النفوذ</a:t>
            </a:r>
          </a:p>
          <a:p>
            <a:pPr algn="l" rtl="1"/>
            <a:r>
              <a:rPr sz="900" b="0" i="0">
                <a:solidFill>
                  <a:srgbClr val="378635"/>
                </a:solidFill>
                <a:latin typeface="Calibri"/>
              </a:rPr>
              <a:t>GT:   وهي مساحات من الأرضين تعلوها رمال حمر في الغالب، تمتد من النفود</a:t>
            </a:r>
          </a:p>
          <a:p>
            <a:pPr algn="l"/>
            <a:r>
              <a:rPr sz="800" b="0" i="0">
                <a:solidFill>
                  <a:srgbClr val="404040"/>
                </a:solidFill>
                <a:latin typeface="Calibri"/>
              </a:rPr>
              <a:t>Fixed merged word 'taloharaml' -&gt; two words. Fixed 'tmdmn' -&gt; 'tmtd mn'. Overcorrected 'lnfod' -&gt; 'lnfoz' (GT keeps original). Missed 'laradyn' vs 'lardyn' (minor variant).</a:t>
            </a:r>
          </a:p>
        </p:txBody>
      </p:sp>
      <p:sp>
        <p:nvSpPr>
          <p:cNvPr id="8" name="Rectangle 7"/>
          <p:cNvSpPr/>
          <p:nvPr/>
        </p:nvSpPr>
        <p:spPr>
          <a:xfrm>
            <a:off x="457200" y="3114666"/>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7200" y="3154666"/>
            <a:ext cx="11074552" cy="1721666"/>
          </a:xfrm>
          <a:prstGeom prst="rect">
            <a:avLst/>
          </a:prstGeom>
          <a:noFill/>
        </p:spPr>
        <p:txBody>
          <a:bodyPr wrap="square">
            <a:spAutoFit/>
          </a:bodyPr>
          <a:lstStyle/>
          <a:p>
            <a:endParaRPr/>
          </a:p>
          <a:p>
            <a:pPr algn="l"/>
            <a:r>
              <a:rPr sz="1100" b="1" i="0">
                <a:solidFill>
                  <a:srgbClr val="C00000"/>
                </a:solidFill>
                <a:latin typeface="Calibri"/>
              </a:rPr>
              <a:t>PATS-Andalus (Typewritten -- harmful over-correction)</a:t>
            </a:r>
          </a:p>
          <a:p>
            <a:pPr algn="l" rtl="1"/>
            <a:r>
              <a:rPr sz="900" b="0" i="0">
                <a:solidFill>
                  <a:srgbClr val="ED7D31"/>
                </a:solidFill>
                <a:latin typeface="Calibri"/>
              </a:rPr>
              <a:t>OCR:  بابه من نسي حلطة فليجل إخنا ذكَرها ولا يعيد إلا تلك الحلطة</a:t>
            </a:r>
          </a:p>
          <a:p>
            <a:pPr algn="l" rtl="1"/>
            <a:r>
              <a:rPr sz="900" b="0" i="0">
                <a:solidFill>
                  <a:srgbClr val="2E75B6"/>
                </a:solidFill>
                <a:latin typeface="Calibri"/>
              </a:rPr>
              <a:t>LLM:  بابه من نسي حلاوة فليجل إخنا ذكّرها ولا يعيد إلا تلك الحلاوة</a:t>
            </a:r>
          </a:p>
          <a:p>
            <a:pPr algn="l" rtl="1"/>
            <a:r>
              <a:rPr sz="900" b="0" i="0">
                <a:solidFill>
                  <a:srgbClr val="378635"/>
                </a:solidFill>
                <a:latin typeface="Calibri"/>
              </a:rPr>
              <a:t>GT:   باب من نسي صلاة فليصل إذا ذكرها ولا يعيد إلا تلك الصلاة</a:t>
            </a:r>
          </a:p>
          <a:p>
            <a:pPr algn="l"/>
            <a:r>
              <a:rPr sz="800" b="0" i="0">
                <a:solidFill>
                  <a:srgbClr val="404040"/>
                </a:solidFill>
                <a:latin typeface="Calibri"/>
              </a:rPr>
              <a:t>LLM changed 'hlth' -&gt; 'hlawt' (wrong -- GT is 'slah'). Missed systematic Andalus font errors throughout. LLM 'guessed' semantically rather than correcting visually. CER got worse.</a:t>
            </a:r>
          </a:p>
        </p:txBody>
      </p:sp>
      <p:sp>
        <p:nvSpPr>
          <p:cNvPr id="10" name="Rectangle 9"/>
          <p:cNvSpPr/>
          <p:nvPr/>
        </p:nvSpPr>
        <p:spPr>
          <a:xfrm>
            <a:off x="457200" y="4936332"/>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200" y="4976332"/>
            <a:ext cx="11074552" cy="1721666"/>
          </a:xfrm>
          <a:prstGeom prst="rect">
            <a:avLst/>
          </a:prstGeom>
          <a:noFill/>
        </p:spPr>
        <p:txBody>
          <a:bodyPr wrap="square">
            <a:spAutoFit/>
          </a:bodyPr>
          <a:lstStyle/>
          <a:p>
            <a:endParaRPr/>
          </a:p>
          <a:p>
            <a:pPr algn="l"/>
            <a:r>
              <a:rPr sz="1100" b="1" i="0">
                <a:solidFill>
                  <a:srgbClr val="ED7D31"/>
                </a:solidFill>
                <a:latin typeface="Calibri"/>
              </a:rPr>
              <a:t>PATS-Thuluth (Typewritten -- partial correction)</a:t>
            </a:r>
          </a:p>
          <a:p>
            <a:pPr algn="l" rtl="1"/>
            <a:r>
              <a:rPr sz="900" b="0" i="0">
                <a:solidFill>
                  <a:srgbClr val="ED7D31"/>
                </a:solidFill>
                <a:latin typeface="Calibri"/>
              </a:rPr>
              <a:t>OCR:  منه فلما خرج سكعج سكعئين في قبل الحكعت وقال هذة القبلة</a:t>
            </a:r>
          </a:p>
          <a:p>
            <a:pPr algn="l" rtl="1"/>
            <a:r>
              <a:rPr sz="900" b="0" i="0">
                <a:solidFill>
                  <a:srgbClr val="2E75B6"/>
                </a:solidFill>
                <a:latin typeface="Calibri"/>
              </a:rPr>
              <a:t>LLM:  منه فلما خرج سكعج سكعئين في قبل الحكمة وقال هذه القبلة</a:t>
            </a:r>
          </a:p>
          <a:p>
            <a:pPr algn="l" rtl="1"/>
            <a:r>
              <a:rPr sz="900" b="0" i="0">
                <a:solidFill>
                  <a:srgbClr val="378635"/>
                </a:solidFill>
                <a:latin typeface="Calibri"/>
              </a:rPr>
              <a:t>GT:   منه فلما خرج ركع ركعتين في قبل الكعبة وقال هذه القبلة</a:t>
            </a:r>
          </a:p>
          <a:p>
            <a:pPr algn="l"/>
            <a:r>
              <a:rPr sz="800" b="0" i="0">
                <a:solidFill>
                  <a:srgbClr val="404040"/>
                </a:solidFill>
                <a:latin typeface="Calibri"/>
              </a:rPr>
              <a:t>Fixed 'hzh' -&gt; 'hzh' (diacritic). Fixed 'lhkot' -&gt; 'lhkmt' (partial). Missed 'skoaj' -&gt; 'rko', 'skoine' -&gt; 'rkotin', 'lhkobh' -&gt; 'lkobh'. Thuluth extreme shape distortions exceed model's visual decoding.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TotalTime>
  <Words>4976</Words>
  <Application>Microsoft Office PowerPoint</Application>
  <PresentationFormat>Custom</PresentationFormat>
  <Paragraphs>996</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mohamed sabry</dc:creator>
  <cp:keywords/>
  <dc:description>generated using python-pptx</dc:description>
  <cp:lastModifiedBy>mohamed sabry</cp:lastModifiedBy>
  <cp:revision>5</cp:revision>
  <dcterms:created xsi:type="dcterms:W3CDTF">2013-01-27T09:14:16Z</dcterms:created>
  <dcterms:modified xsi:type="dcterms:W3CDTF">2026-05-09T19:12:10Z</dcterms:modified>
  <cp:category/>
</cp:coreProperties>
</file>
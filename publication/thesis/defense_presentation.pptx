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Knowledge-Augmented Large Language Models</a:t>
            </a:r>
            <a:br/>
            <a:r>
              <a:t>for Arabic Post-OCR Error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4A017"/>
                </a:solidFill>
                <a:latin typeface="Calibri"/>
              </a:defRPr>
            </a:pPr>
            <a:r>
              <a:t>Master's Thesis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Mohamed Sabry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6EAF8"/>
                </a:solidFill>
                <a:latin typeface="Calibri"/>
              </a:defRPr>
            </a:pPr>
            <a:r>
              <a:t>Faculty of Engineering, Cairo University  |  mohamedsabry109@gmail.com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4A017"/>
                </a:solidFill>
                <a:latin typeface="Calibri"/>
              </a:defRPr>
            </a:pPr>
            <a:r>
              <a:t>Supervisor: Prof. Mohsen Rashwan  |  Research and Development International (RDI)  |  mrashwan@rdi-eg.ai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144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340"/>
              </a:lnSpc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1.  Motivation &amp; Problem Statement</a:t>
            </a:r>
          </a:p>
          <a:p>
            <a:pPr>
              <a:lnSpc>
                <a:spcPts val="2340"/>
              </a:lnSpc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2.  Background: Arabic Script &amp; OCR Challenges</a:t>
            </a:r>
          </a:p>
          <a:p>
            <a:pPr>
              <a:lnSpc>
                <a:spcPts val="2340"/>
              </a:lnSpc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3.  LLM Foundations: Architecture, Training &amp; Why LLMs for Post-OCR</a:t>
            </a:r>
          </a:p>
          <a:p>
            <a:pPr>
              <a:lnSpc>
                <a:spcPts val="2340"/>
              </a:lnSpc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4.  Research Questions</a:t>
            </a:r>
          </a:p>
          <a:p>
            <a:pPr>
              <a:lnSpc>
                <a:spcPts val="2340"/>
              </a:lnSpc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5.  System Design: Three-Stage Pipeline &amp; All Datasets (13 total)</a:t>
            </a:r>
          </a:p>
          <a:p>
            <a:pPr>
              <a:lnSpc>
                <a:spcPts val="2340"/>
              </a:lnSpc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6.  Experiment 1 — Methodology (Phases 1-9)</a:t>
            </a:r>
          </a:p>
          <a:p>
            <a:pPr>
              <a:lnSpc>
                <a:spcPts val="2340"/>
              </a:lnSpc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7.  Experiment 1 — Phase 1 Results: OCR Error Characterisation</a:t>
            </a:r>
          </a:p>
          <a:p>
            <a:pPr>
              <a:lnSpc>
                <a:spcPts val="2340"/>
              </a:lnSpc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8.  Experiment 1 — Phase 2 Results: Zero-Shot LLM Correction</a:t>
            </a:r>
          </a:p>
          <a:p>
            <a:pPr>
              <a:lnSpc>
                <a:spcPts val="2340"/>
              </a:lnSpc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9.  Experiment 1 — Phases 3-5 Results: Isolated Knowledge Augmentation</a:t>
            </a:r>
          </a:p>
          <a:p>
            <a:pPr>
              <a:lnSpc>
                <a:spcPts val="2340"/>
              </a:lnSpc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10. Experiment 1 — Phase 6: Combinations, Ablation &amp; Statistical Significance</a:t>
            </a:r>
          </a:p>
          <a:p>
            <a:pPr>
              <a:lnSpc>
                <a:spcPts val="2340"/>
              </a:lnSpc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11. The Over-Correction Threshold: Theoretical Model</a:t>
            </a:r>
          </a:p>
          <a:p>
            <a:pPr>
              <a:lnSpc>
                <a:spcPts val="2340"/>
              </a:lnSpc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12. Experiment 2 — Prompt Design Study (8 Trials, 13 Datasets)</a:t>
            </a:r>
          </a:p>
          <a:p>
            <a:pPr>
              <a:lnSpc>
                <a:spcPts val="2340"/>
              </a:lnSpc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13. Experiment 3 — Multi-Model, Multi-OCR-Source, Multi-Domain</a:t>
            </a:r>
          </a:p>
          <a:p>
            <a:pPr>
              <a:lnSpc>
                <a:spcPts val="2340"/>
              </a:lnSpc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14. Why Handwritten &amp; Full-Page Correction Differs</a:t>
            </a:r>
          </a:p>
          <a:p>
            <a:pPr>
              <a:lnSpc>
                <a:spcPts val="2340"/>
              </a:lnSpc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15. System Design Recommendations</a:t>
            </a:r>
          </a:p>
          <a:p>
            <a:pPr>
              <a:lnSpc>
                <a:spcPts val="2340"/>
              </a:lnSpc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16. Limitations &amp; Future Work</a:t>
            </a:r>
          </a:p>
          <a:p>
            <a:pPr>
              <a:lnSpc>
                <a:spcPts val="2340"/>
              </a:lnSpc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Calibri"/>
              </a:rPr>
              <a:t>17. Conclusion &amp; Contributions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Motivation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Why Arabic Post-OCR Correction Matters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Arabic OCR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80"/>
              </a:lnSpc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Digitisation bottleneck: </a:t>
            </a:r>
            <a:r>
              <a:rPr sz="1600" b="0">
                <a:solidFill>
                  <a:srgbClr val="000000"/>
                </a:solidFill>
                <a:latin typeface="Calibri"/>
              </a:rPr>
              <a:t>Arabic archives, government docs, historical texts all depend on OCR as entry point</a:t>
            </a:r>
          </a:p>
          <a:p>
            <a:pPr>
              <a:lnSpc>
                <a:spcPts val="2080"/>
              </a:lnSpc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Arabic script challenges: </a:t>
            </a:r>
            <a:r>
              <a:rPr sz="1600" b="0">
                <a:solidFill>
                  <a:srgbClr val="000000"/>
                </a:solidFill>
                <a:latin typeface="Calibri"/>
              </a:rPr>
              <a:t>cursive writing, position-dependent glyph shapes, dot-group confusions (ba/ta/tha/ya/na), diacritics, ligatures</a:t>
            </a:r>
          </a:p>
          <a:p>
            <a:pPr>
              <a:lnSpc>
                <a:spcPts val="2080"/>
              </a:lnSpc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Open-source vs. closed-source gap: </a:t>
            </a:r>
            <a:r>
              <a:rPr sz="1600" b="0">
                <a:solidFill>
                  <a:srgbClr val="000000"/>
                </a:solidFill>
                <a:latin typeface="Calibri"/>
              </a:rPr>
              <a:t>Qaari (open-source VLM-based OCR) produces systematic errors; closed-source engines are expensive and non-reproducible</a:t>
            </a:r>
          </a:p>
          <a:p>
            <a:pPr>
              <a:lnSpc>
                <a:spcPts val="2080"/>
              </a:lnSpc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Downstream impact: </a:t>
            </a:r>
            <a:r>
              <a:rPr sz="1600" b="0">
                <a:solidFill>
                  <a:srgbClr val="000000"/>
                </a:solidFill>
                <a:latin typeface="Calibri"/>
              </a:rPr>
              <a:t>OCR errors propagate to search, MT, TTS, and information extraction</a:t>
            </a:r>
          </a:p>
          <a:p>
            <a:pPr>
              <a:lnSpc>
                <a:spcPts val="2080"/>
              </a:lnSpc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Calibri"/>
              </a:rPr>
              <a:t>Research question: </a:t>
            </a:r>
            <a:r>
              <a:rPr sz="1600" b="0">
                <a:solidFill>
                  <a:srgbClr val="000000"/>
                </a:solidFill>
                <a:latin typeface="Calibri"/>
              </a:rPr>
              <a:t>Can post-OCR correction via a lightweight LLM close this gap without modifying the recognition engine?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  <a:latin typeface="Calibri"/>
              </a:defRPr>
            </a:pPr>
            <a:r>
              <a:t>Central Hypothesis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286000"/>
            <a:ext cx="5029200" cy="2743200"/>
          </a:xfrm>
          <a:prstGeom prst="roundRect">
            <a:avLst/>
          </a:prstGeom>
          <a:solidFill>
            <a:srgbClr val="D6EA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1B3A5C"/>
                </a:solidFill>
                <a:latin typeface="Calibri"/>
              </a:defRPr>
            </a:pPr>
            <a:r>
              <a:t>A 4B-parameter instruction-tuned LLM (Qwen3-4B) can correct systematic OCR errors through prompt engineering alone. Injecting linguistic knowledge (confusion matrices, self-reflective error analysis, morphological validation) into the prompt further improves correction quality, but the benefit depends on the baseline OCR error profile.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Arabic Script Properties &amp; Related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Arabic Script Properties &amp; OCR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Cursive script: </a:t>
            </a:r>
            <a:r>
              <a:rPr sz="1500" b="0">
                <a:solidFill>
                  <a:srgbClr val="000000"/>
                </a:solidFill>
                <a:latin typeface="Calibri"/>
              </a:rPr>
              <a:t>letters connect within words; shape depends on position (isolated/initial/medial/final)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Dot-group characters: </a:t>
            </a:r>
            <a:r>
              <a:rPr sz="1500" b="0">
                <a:solidFill>
                  <a:srgbClr val="000000"/>
                </a:solidFill>
                <a:latin typeface="Calibri"/>
              </a:rPr>
              <a:t>ba/ta/tha/ya/na share same skeleton, differ only in dot count/placement -- 42% of PATS-A01 errors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Similar-shape pairs: </a:t>
            </a:r>
            <a:r>
              <a:rPr sz="1500" b="0">
                <a:solidFill>
                  <a:srgbClr val="000000"/>
                </a:solidFill>
                <a:latin typeface="Calibri"/>
              </a:rPr>
              <a:t>fa/qaf (1 vs 2 dots above), ra/zay, sad/dad, sin/shin -- 18% of errors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Hamza orthography: </a:t>
            </a:r>
            <a:r>
              <a:rPr sz="1500" b="0">
                <a:solidFill>
                  <a:srgbClr val="000000"/>
                </a:solidFill>
                <a:latin typeface="Calibri"/>
              </a:rPr>
              <a:t>6+ hamza-carrier combinations create ambiguity -- 12% of errors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Taa marbuta / ha: </a:t>
            </a:r>
            <a:r>
              <a:rPr sz="1500" b="0">
                <a:solidFill>
                  <a:srgbClr val="000000"/>
                </a:solidFill>
                <a:latin typeface="Calibri"/>
              </a:rPr>
              <a:t>visually near-identical in many fonts -- 9% of errors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Segmentation: </a:t>
            </a:r>
            <a:r>
              <a:rPr sz="1500" b="0">
                <a:solidFill>
                  <a:srgbClr val="000000"/>
                </a:solidFill>
                <a:latin typeface="Calibri"/>
              </a:rPr>
              <a:t>no inter-character gaps in cursive; word merge/split errors dominate handwritten text (37% of KHATT errors)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Font diversity: </a:t>
            </a:r>
            <a:r>
              <a:rPr sz="1500" b="0">
                <a:solidFill>
                  <a:srgbClr val="000000"/>
                </a:solidFill>
                <a:latin typeface="Calibri"/>
              </a:rPr>
              <a:t>same text in 8 fonts produces CER ranging 2.12% (Akhbar) to 12.12% (Andalus) -- a 5.7:1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Dot-Group Confusion Example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92024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1060704"/>
                <a:gridCol w="1060704"/>
                <a:gridCol w="1060704"/>
                <a:gridCol w="1060704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GT Char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Char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Difference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Conf. Rate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dot below vs above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ta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 dot below vs 2 above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1,203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22.7%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qaf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 dots vs 1 dot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hamza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alef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hamza presence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743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24.6%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taa-m.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dot presence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Related Work &amp;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Post-OCR correction paradigms: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Rule-based: </a:t>
            </a:r>
            <a:r>
              <a:rPr sz="1500" b="0">
                <a:solidFill>
                  <a:srgbClr val="000000"/>
                </a:solidFill>
                <a:latin typeface="Calibri"/>
              </a:rPr>
              <a:t>pattern matching, dictionaries -- limited to known error patterns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Statistical: </a:t>
            </a:r>
            <a:r>
              <a:rPr sz="1500" b="0">
                <a:solidFill>
                  <a:srgbClr val="000000"/>
                </a:solidFill>
                <a:latin typeface="Calibri"/>
              </a:rPr>
              <a:t>n-gram LMs, noisy channel models -- language-model-guided substitution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Neural seq2seq: </a:t>
            </a:r>
            <a:r>
              <a:rPr sz="1500" b="0">
                <a:solidFill>
                  <a:srgbClr val="000000"/>
                </a:solidFill>
                <a:latin typeface="Calibri"/>
              </a:rPr>
              <a:t>encoder-decoder on (OCR, GT) pairs -- requires large training data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LLM-based: </a:t>
            </a:r>
            <a:r>
              <a:rPr sz="1500" b="0">
                <a:solidFill>
                  <a:srgbClr val="000000"/>
                </a:solidFill>
                <a:latin typeface="Calibri"/>
              </a:rPr>
              <a:t>prompt engineering on pre-trained LLMs -- THIS THESIS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Key gap in literature: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1. </a:t>
            </a:r>
            <a:r>
              <a:rPr sz="1500" b="0">
                <a:solidFill>
                  <a:srgbClr val="000000"/>
                </a:solidFill>
                <a:latin typeface="Calibri"/>
              </a:rPr>
              <a:t>No systematic multi-font evaluation of LLM post-OCR for Arabic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2. </a:t>
            </a:r>
            <a:r>
              <a:rPr sz="1500" b="0">
                <a:solidFill>
                  <a:srgbClr val="000000"/>
                </a:solidFill>
                <a:latin typeface="Calibri"/>
              </a:rPr>
              <a:t>No study of over-correction behaviour (when LLM hurts)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3. </a:t>
            </a:r>
            <a:r>
              <a:rPr sz="1500" b="0">
                <a:solidFill>
                  <a:srgbClr val="000000"/>
                </a:solidFill>
                <a:latin typeface="Calibri"/>
              </a:rPr>
              <a:t>No ablation of knowledge augmentation components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4. </a:t>
            </a:r>
            <a:r>
              <a:rPr sz="1500" b="0">
                <a:solidFill>
                  <a:srgbClr val="000000"/>
                </a:solidFill>
                <a:latin typeface="Calibri"/>
              </a:rPr>
              <a:t>Limited work on Arabic-specific error taxonomy + 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  <a:latin typeface="Calibri"/>
              </a:defRPr>
            </a:pPr>
            <a:r>
              <a:t>Our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1. Systematic 7-phase experimental framework for Arabic post-OCR correction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2. Over-correction threshold: formal model of when LLM correction helps vs hurts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3. Complementarity proof: confusion-matrix + self-reflective prompting are orthogonal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4. 9-dataset evaluation (8 typewritten fonts + 1 handwritten) with aligned splits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5. Three-stage export-infer-analyse pipeline for reproducible GPU-free local analysis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6. Empirical characterisation of the font-dependent correction boundary (~6-7% CER)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LLM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Architecture, Training Pipeline &amp; Why LLMs for Post-OCR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Transformer Architecture &amp; Scaling Laws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From N-grams to Transformers: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N-gram LMs: </a:t>
            </a:r>
            <a:r>
              <a:rPr sz="1400" b="0">
                <a:solidFill>
                  <a:srgbClr val="000000"/>
                </a:solidFill>
                <a:latin typeface="Calibri"/>
              </a:rPr>
              <a:t>P(w_t | w_{t-n+1},...,w_{t-1}) -- sparse, limited context window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Word embeddings: </a:t>
            </a:r>
            <a:r>
              <a:rPr sz="1400" b="0">
                <a:solidFill>
                  <a:srgbClr val="000000"/>
                </a:solidFill>
                <a:latin typeface="Calibri"/>
              </a:rPr>
              <a:t>dense vectors in R^d encoding semantic relationships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RNNs/LSTMs: </a:t>
            </a:r>
            <a:r>
              <a:rPr sz="1400" b="0">
                <a:solidFill>
                  <a:srgbClr val="000000"/>
                </a:solidFill>
                <a:latin typeface="Calibri"/>
              </a:rPr>
              <a:t>sequential processing, vanishing gradients over long sequences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Transformer (Vaswani et al., 2017): </a:t>
            </a:r>
            <a:r>
              <a:rPr sz="1400" b="0">
                <a:solidFill>
                  <a:srgbClr val="000000"/>
                </a:solidFill>
                <a:latin typeface="Calibri"/>
              </a:rPr>
              <a:t>self-attention replaces recurrence entirely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Self-attention mechanism: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Q, K, V projections of input; Attention(Q,K,V) = softmax(QK^T / sqrt(d_k)) V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O(n^2) complexity but fully parallelisable -- enables massive scaling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Multi-head attention captures different linguistic aspects simultaneously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Scaling laws: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Kaplan et al. (2020): </a:t>
            </a:r>
            <a:r>
              <a:rPr sz="1400" b="0">
                <a:solidFill>
                  <a:srgbClr val="000000"/>
                </a:solidFill>
                <a:latin typeface="Calibri"/>
              </a:rPr>
              <a:t>loss scales as power law with model size, data, and compute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Hoffmann et al. (2022): </a:t>
            </a:r>
            <a:r>
              <a:rPr sz="1400" b="0">
                <a:solidFill>
                  <a:srgbClr val="000000"/>
                </a:solidFill>
                <a:latin typeface="Calibri"/>
              </a:rPr>
              <a:t>compute-optimal training balances parameters and tokens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Emergent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Wei et al. (2022): capabilities emerge</a:t>
            </a:r>
            <a:r>
              <a:rPr sz="1400" b="0">
                <a:solidFill>
                  <a:srgbClr val="000000"/>
                </a:solidFill>
                <a:latin typeface="Calibri"/>
              </a:rPr>
              <a:t> at scale that are absent in smaller models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Relevant emergent abilities: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In-context learning: </a:t>
            </a:r>
            <a:r>
              <a:rPr sz="1400" b="0">
                <a:solidFill>
                  <a:srgbClr val="000000"/>
                </a:solidFill>
                <a:latin typeface="Calibri"/>
              </a:rPr>
              <a:t>adapt to new tasks from prompt examples alone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Instruction following: </a:t>
            </a:r>
            <a:r>
              <a:rPr sz="1400" b="0">
                <a:solidFill>
                  <a:srgbClr val="000000"/>
                </a:solidFill>
                <a:latin typeface="Calibri"/>
              </a:rPr>
              <a:t>execute complex multi-step instructions without fine-tuning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Self-correction: </a:t>
            </a:r>
            <a:r>
              <a:rPr sz="1400" b="0">
                <a:solidFill>
                  <a:srgbClr val="000000"/>
                </a:solidFill>
                <a:latin typeface="Calibri"/>
              </a:rPr>
              <a:t>identify and revise own outputs when given feedback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Why this matters for OCR correction: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A 4B-parameter model can follow Arabic-specific correction instructions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Knowledge augmentation via prompting leverages in-context learning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No task-specific fine-tuning needed -- zero-shot generalisation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LLM Training Pipeline: Three Stages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Stage 1: Pre-Training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Autoregressive next-token prediction:</a:t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L = -sum log P(x_t | x_{&lt;t})</a:t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Trained on trillions of tokens (web, books, code)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Learns grammar, facts, reasoning patterns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Arabic text included in multilingual corpora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097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Stage 2: Instruction Tuning (SFT)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6459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Supervised fine-tuning on (instruction, response) pairs:</a:t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Transforms base model into instruction-follower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Teaches format compliance, task decomposition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Qwen3-4B-Instruct uses SFT on multilingual tasks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Enables: 'Correct OCR errors in this text'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097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Stage 3: Alignment (RLHF/DPO)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64592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Align outputs with human preferences:</a:t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RLHF: </a:t>
            </a:r>
            <a:r>
              <a:rPr sz="1300" b="0">
                <a:solidFill>
                  <a:srgbClr val="000000"/>
                </a:solidFill>
                <a:latin typeface="Calibri"/>
              </a:rPr>
              <a:t>reward model + PPO optimisation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DPO: </a:t>
            </a:r>
            <a:r>
              <a:rPr sz="1300" b="0">
                <a:solidFill>
                  <a:srgbClr val="000000"/>
                </a:solidFill>
                <a:latin typeface="Calibri"/>
              </a:rPr>
              <a:t>direct preference optimisation (no reward model)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Reduces harmful outputs, improves helpfulness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Implicitly teaches conservative behaviour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11247120" cy="2743200"/>
          </a:xfrm>
          <a:prstGeom prst="roundRect">
            <a:avLst/>
          </a:prstGeom>
          <a:solidFill>
            <a:srgbClr val="D6EAF8"/>
          </a:solidFill>
          <a:ln>
            <a:solidFill>
              <a:srgbClr val="2D6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Connection to Post-OCR Correction</a:t>
            </a:r>
          </a:p>
          <a:p>
            <a:pPr>
              <a:spcBef>
                <a:spcPts val="400"/>
              </a:spcBef>
              <a:defRPr sz="1300">
                <a:solidFill>
                  <a:srgbClr val="000000"/>
                </a:solidFill>
                <a:latin typeface="Calibri"/>
              </a:defRPr>
            </a:pPr>
            <a:r>
              <a:t>  Pre-training: gives broad Arabic linguistic knowledge (morphology, syntax, common word patterns)</a:t>
            </a:r>
          </a:p>
          <a:p>
            <a:pPr>
              <a:spcBef>
                <a:spcPts val="400"/>
              </a:spcBef>
              <a:defRPr sz="1300">
                <a:solidFill>
                  <a:srgbClr val="000000"/>
                </a:solidFill>
                <a:latin typeface="Calibri"/>
              </a:defRPr>
            </a:pPr>
            <a:r>
              <a:t>  Instruction tuning: enables the model to follow correction prompts faithfully, return text in expected format</a:t>
            </a:r>
          </a:p>
          <a:p>
            <a:pPr>
              <a:spcBef>
                <a:spcPts val="400"/>
              </a:spcBef>
              <a:defRPr sz="1300">
                <a:solidFill>
                  <a:srgbClr val="000000"/>
                </a:solidFill>
                <a:latin typeface="Calibri"/>
              </a:defRPr>
            </a:pPr>
            <a:r>
              <a:t>  Alignment: teaches conservative behaviour -- but also causes OVER-CORRECTION (the model 'helpfully' changes text that was already correct)</a:t>
            </a:r>
          </a:p>
          <a:p>
            <a:pPr>
              <a:spcBef>
                <a:spcPts val="400"/>
              </a:spcBef>
              <a:defRPr sz="1300">
                <a:solidFill>
                  <a:srgbClr val="000000"/>
                </a:solidFill>
                <a:latin typeface="Calibri"/>
              </a:defRPr>
            </a:pPr>
            <a:r>
              <a:t>  Key tension: alignment makes model want to 'help' by changing text, but OCR correction requires knowing when NOT to change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LLMs Over Traditional &amp; Deep Learning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6858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Strengths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Limitations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Rule-based / Statistical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Precise for known patterns</a:t>
                      </a:r>
                    </a:p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Low computational cost</a:t>
                      </a:r>
                    </a:p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Interpretable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Cannot handle unseen errors</a:t>
                      </a:r>
                    </a:p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Manual rule engineering</a:t>
                      </a:r>
                    </a:p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 contextual reasoning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Neural Seq2Seq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Learns from (OCR, GT) pairs</a:t>
                      </a:r>
                    </a:p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Handles complex patterns</a:t>
                      </a:r>
                    </a:p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End-to-end training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Requires large parallel data</a:t>
                      </a:r>
                    </a:p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Fragile to domain shift</a:t>
                      </a:r>
                    </a:p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 zero-shot capability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LLM-based (THIS THESIS)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Zero-shot generalisation</a:t>
                      </a:r>
                    </a:p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In-context knowledge injection</a:t>
                      </a:r>
                    </a:p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Multilingual pre-training</a:t>
                      </a:r>
                    </a:p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 task-specific training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Over-correction risk</a:t>
                      </a:r>
                    </a:p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Computational cost</a:t>
                      </a:r>
                    </a:p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Token-level (not image-level)</a:t>
                      </a:r>
                    </a:p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Hallucination potential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79" y="1188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3A5C"/>
                </a:solidFill>
                <a:latin typeface="Calibri"/>
              </a:defRPr>
            </a:pPr>
            <a:r>
              <a:t>5 Key Advantages of LLMs for Arabic OCR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8288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1. Broad Arabic knowledge: </a:t>
            </a:r>
            <a:r>
              <a:rPr sz="1300" b="0">
                <a:solidFill>
                  <a:srgbClr val="000000"/>
                </a:solidFill>
                <a:latin typeface="Calibri"/>
              </a:rPr>
              <a:t>pre-trained on billions of Arabic tokens -- knows morphology, common words, syntactic patterns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/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2. Contextual reasoning: </a:t>
            </a:r>
            <a:r>
              <a:rPr sz="1300" b="0">
                <a:solidFill>
                  <a:srgbClr val="000000"/>
                </a:solidFill>
                <a:latin typeface="Calibri"/>
              </a:rPr>
              <a:t>self-attention considers entire sentence when deciding if a word is correct or erroneous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/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3. Zero-shot deployment: </a:t>
            </a:r>
            <a:r>
              <a:rPr sz="1300" b="0">
                <a:solidFill>
                  <a:srgbClr val="000000"/>
                </a:solidFill>
                <a:latin typeface="Calibri"/>
              </a:rPr>
              <a:t>no (OCR, GT) parallel corpus needed -- works out of the box with prompt engineering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/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4. Knowledge injection via prompt: </a:t>
            </a:r>
            <a:r>
              <a:rPr sz="1300" b="0">
                <a:solidFill>
                  <a:srgbClr val="000000"/>
                </a:solidFill>
                <a:latin typeface="Calibri"/>
              </a:rPr>
              <a:t>confusion matrices, error statistics, overcorrection warnings all added at inference time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/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5. Arabic morphological awareness: </a:t>
            </a:r>
            <a:r>
              <a:rPr sz="1300" b="0">
                <a:solidFill>
                  <a:srgbClr val="000000"/>
                </a:solidFill>
                <a:latin typeface="Calibri"/>
              </a:rPr>
              <a:t>instruction-tuned models understand Arabic root-pattern system, enabling valid-but-wrong error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Bottom line: </a:t>
            </a:r>
            <a:r>
              <a:rPr sz="1500" b="0">
                <a:solidFill>
                  <a:srgbClr val="000000"/>
                </a:solidFill>
                <a:latin typeface="Calibri"/>
              </a:rPr>
              <a:t>Rule-based and seq2seq methods require either manual engineering or large parallel corpora. LLMs provide a middle path: broad linguistic competence + controllable behaviour through prompt engineering. The cost is over-correction risk -- which this thesis characterises formally.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7 Research Questions Across 6 Experimental Phases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10"/>
              </a:lnSpc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RQ1 (Phase 1): </a:t>
            </a:r>
            <a:r>
              <a:rPr sz="1700" b="0">
                <a:solidFill>
                  <a:srgbClr val="000000"/>
                </a:solidFill>
                <a:latin typeface="Calibri"/>
              </a:rPr>
              <a:t>What are the characteristics of Qaari OCR errors across fonts and script types?</a:t>
            </a:r>
          </a:p>
          <a:p>
            <a:pPr>
              <a:lnSpc>
                <a:spcPts val="2210"/>
              </a:lnSpc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RQ2 (Phase 2): </a:t>
            </a:r>
            <a:r>
              <a:rPr sz="1700" b="0">
                <a:solidFill>
                  <a:srgbClr val="000000"/>
                </a:solidFill>
                <a:latin typeface="Calibri"/>
              </a:rPr>
              <a:t>Can a zero-shot LLM correct Arabic OCR errors? How does it vary across fonts?</a:t>
            </a:r>
          </a:p>
          <a:p>
            <a:pPr>
              <a:lnSpc>
                <a:spcPts val="2210"/>
              </a:lnSpc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RQ3 (Phase 3): </a:t>
            </a:r>
            <a:r>
              <a:rPr sz="1700" b="0">
                <a:solidFill>
                  <a:srgbClr val="000000"/>
                </a:solidFill>
                <a:latin typeface="Calibri"/>
              </a:rPr>
              <a:t>Does injecting the OCR engine's character confusion matrix improve correction?</a:t>
            </a:r>
          </a:p>
          <a:p>
            <a:pPr>
              <a:lnSpc>
                <a:spcPts val="2210"/>
              </a:lnSpc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RQ4 (Phase 4): </a:t>
            </a:r>
            <a:r>
              <a:rPr sz="1700" b="0">
                <a:solidFill>
                  <a:srgbClr val="000000"/>
                </a:solidFill>
                <a:latin typeface="Calibri"/>
              </a:rPr>
              <a:t>Does feeding the model its own training-split error statistics (self-reflective prompting) improve correction?</a:t>
            </a:r>
          </a:p>
          <a:p>
            <a:pPr>
              <a:lnSpc>
                <a:spcPts val="2210"/>
              </a:lnSpc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RQ5 (Phase 5): </a:t>
            </a:r>
            <a:r>
              <a:rPr sz="1700" b="0">
                <a:solidFill>
                  <a:srgbClr val="000000"/>
                </a:solidFill>
                <a:latin typeface="Calibri"/>
              </a:rPr>
              <a:t>Does CAMeL Tools morphological post-processing with known-overcorrection revert help?</a:t>
            </a:r>
          </a:p>
          <a:p>
            <a:pPr>
              <a:lnSpc>
                <a:spcPts val="2210"/>
              </a:lnSpc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RQ6 (Phase 6): </a:t>
            </a:r>
            <a:r>
              <a:rPr sz="1700" b="0">
                <a:solidFill>
                  <a:srgbClr val="000000"/>
                </a:solidFill>
                <a:latin typeface="Calibri"/>
              </a:rPr>
              <a:t>Which combination of strategies is optimal? What does each contribute in ablation?</a:t>
            </a:r>
          </a:p>
          <a:p>
            <a:pPr>
              <a:lnSpc>
                <a:spcPts val="2210"/>
              </a:lnSpc>
              <a:spcAft>
                <a:spcPts val="400"/>
              </a:spcAft>
            </a:pPr>
            <a:r>
              <a:rPr sz="1700" b="1">
                <a:solidFill>
                  <a:srgbClr val="000000"/>
                </a:solidFill>
                <a:latin typeface="Calibri"/>
              </a:rPr>
              <a:t>RQ7 (Overarching): </a:t>
            </a:r>
            <a:r>
              <a:rPr sz="1700" b="0">
                <a:solidFill>
                  <a:srgbClr val="000000"/>
                </a:solidFill>
                <a:latin typeface="Calibri"/>
              </a:rPr>
              <a:t>Does the baseline OCR error profile determine correction effectiveness, or can knowledge augmentation overcome the over-correction problem?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System Design &amp;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Three-Stage Pipeline, PATS-A01, KHATT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Three-Stage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Design constraint: </a:t>
            </a:r>
            <a:r>
              <a:rPr sz="1500" b="0">
                <a:solidFill>
                  <a:srgbClr val="000000"/>
                </a:solidFill>
                <a:latin typeface="Calibri"/>
              </a:rPr>
              <a:t>no local GPU -- local machine handles data, cloud GPU handles inference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Communication: </a:t>
            </a:r>
            <a:r>
              <a:rPr sz="1500" b="0">
                <a:solidFill>
                  <a:srgbClr val="000000"/>
                </a:solidFill>
                <a:latin typeface="Calibri"/>
              </a:rPr>
              <a:t>JSONL files (inference_input.jsonl, corrections.jsonl)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Benefit: </a:t>
            </a:r>
            <a:r>
              <a:rPr sz="1500" b="0">
                <a:solidFill>
                  <a:srgbClr val="000000"/>
                </a:solidFill>
                <a:latin typeface="Calibri"/>
              </a:rPr>
              <a:t>any cloud platform (Kaggle, Colab, Thunder) can run inference; analysis is reproducible locally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200400" cy="2560320"/>
          </a:xfrm>
          <a:prstGeom prst="roundRect">
            <a:avLst/>
          </a:prstGeom>
          <a:solidFill>
            <a:srgbClr val="D6EAF8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t>EXPORT</a:t>
            </a:r>
            <a:br/>
            <a:r>
              <a:t>(Local)</a:t>
            </a:r>
          </a:p>
          <a:p>
            <a:pPr algn="ctr">
              <a:spcBef>
                <a:spcPts val="1200"/>
              </a:spcBef>
              <a:defRPr sz="1300">
                <a:solidFill>
                  <a:srgbClr val="000000"/>
                </a:solidFill>
                <a:latin typeface="Calibri"/>
              </a:defRPr>
            </a:pPr>
            <a:r>
              <a:t>Load OCR + GT</a:t>
            </a:r>
            <a:br/>
            <a:r>
              <a:t>Build prompts</a:t>
            </a:r>
            <a:br/>
            <a:r>
              <a:t>Write JSONL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657600"/>
            <a:ext cx="3200400" cy="2560320"/>
          </a:xfrm>
          <a:prstGeom prst="roundRect">
            <a:avLst/>
          </a:prstGeom>
          <a:solidFill>
            <a:srgbClr val="D5F5E3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t>INFERENCE</a:t>
            </a:r>
            <a:br/>
            <a:r>
              <a:t>(Cloud GPU)</a:t>
            </a:r>
          </a:p>
          <a:p>
            <a:pPr algn="ctr">
              <a:spcBef>
                <a:spcPts val="1200"/>
              </a:spcBef>
              <a:defRPr sz="1300">
                <a:solidFill>
                  <a:srgbClr val="000000"/>
                </a:solidFill>
                <a:latin typeface="Calibri"/>
              </a:defRPr>
            </a:pPr>
            <a:r>
              <a:t>Load Qwen3-4B</a:t>
            </a:r>
            <a:br/>
            <a:r>
              <a:t>Run prompts</a:t>
            </a:r>
            <a:br/>
            <a:r>
              <a:t>Append corrections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657600"/>
            <a:ext cx="3200400" cy="2560320"/>
          </a:xfrm>
          <a:prstGeom prst="roundRect">
            <a:avLst/>
          </a:prstGeom>
          <a:solidFill>
            <a:srgbClr val="FDEDEC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t>ANALYZE</a:t>
            </a:r>
            <a:br/>
            <a:r>
              <a:t>(Local)</a:t>
            </a:r>
          </a:p>
          <a:p>
            <a:pPr algn="ctr">
              <a:spcBef>
                <a:spcPts val="1200"/>
              </a:spcBef>
              <a:defRPr sz="1300">
                <a:solidFill>
                  <a:srgbClr val="000000"/>
                </a:solidFill>
                <a:latin typeface="Calibri"/>
              </a:defRPr>
            </a:pPr>
            <a:r>
              <a:t>Read corrections</a:t>
            </a:r>
            <a:br/>
            <a:r>
              <a:t>Compute CER/WER</a:t>
            </a:r>
            <a:br/>
            <a:r>
              <a:t>Generate reports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31920" y="4572000"/>
            <a:ext cx="457200" cy="365760"/>
          </a:xfrm>
          <a:prstGeom prst="rightArrow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589520" y="4572000"/>
            <a:ext cx="457200" cy="365760"/>
          </a:xfrm>
          <a:prstGeom prst="rightArrow">
            <a:avLst/>
          </a:prstGeom>
          <a:solidFill>
            <a:srgbClr val="2D6A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Datasets: PATS-A01 &amp; KHATT (Experiment 1 — 9 datasets)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PATS-A01: </a:t>
            </a:r>
            <a:r>
              <a:rPr sz="1500" b="0">
                <a:solidFill>
                  <a:srgbClr val="000000"/>
                </a:solidFill>
                <a:latin typeface="Calibri"/>
              </a:rPr>
              <a:t>8 Arabic typewritten fonts, same underlying text, 2,766 lines/font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KHATT: </a:t>
            </a:r>
            <a:r>
              <a:rPr sz="1500" b="0">
                <a:solidFill>
                  <a:srgbClr val="000000"/>
                </a:solidFill>
                <a:latin typeface="Calibri"/>
              </a:rPr>
              <a:t>handwritten Arabic line images, real-world variation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Aligned 85/15 split: </a:t>
            </a:r>
            <a:r>
              <a:rPr sz="1500" b="0">
                <a:solidFill>
                  <a:srgbClr val="000000"/>
                </a:solidFill>
                <a:latin typeface="Calibri"/>
              </a:rPr>
              <a:t>seed=42, all 8 fonts share identical 415 validation samples -- font is the ONLY variable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OCR engine: </a:t>
            </a:r>
            <a:r>
              <a:rPr sz="1500" b="0">
                <a:solidFill>
                  <a:srgbClr val="000000"/>
                </a:solidFill>
                <a:latin typeface="Calibri"/>
              </a:rPr>
              <a:t>Qaari (NAMAA-Space/Qari-OCR-0.1-VL-2B-Instruct) open-source VLM-based Arabic OCR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3200400"/>
          <a:ext cx="11430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 (normal)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CER*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WER*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Runaway %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Akhbar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Typewritten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Simplified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Typewritten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2.94%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5.81%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5.7%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Typewritten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Arial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Typewritten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3.65%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6.84%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4.6%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Naskh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Typewritten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Tahoma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Typewritten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5.82%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9.07%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10.3%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Thuluth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Typewritten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31.11%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Andalus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Typewritten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427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12.12%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33.67%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PATS-A01 Avg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3458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KHATT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Handwritten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34.24%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75.60%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17.7%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7E"/>
                </a:solidFill>
                <a:latin typeface="Calibri"/>
              </a:defRPr>
            </a:pPr>
            <a:r>
              <a:t>*Normal samples only (OCR/GT ratio &lt;= 5.0), diacritics stripped. Runaway = Qaari repetition bug (excluded from metrics).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Additional Datasets: Full-Page Corpora (Experiment 2 — 13 datasets total)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KHATT-Paragraph: </a:t>
            </a:r>
            <a:r>
              <a:rPr sz="1400" b="0">
                <a:solidFill>
                  <a:srgbClr val="000000"/>
                </a:solidFill>
                <a:latin typeface="Calibri"/>
              </a:rPr>
              <a:t>449 multi-line handwritten paragraph images from KHATT corpus -- paragraph-level context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Yarmouk: </a:t>
            </a:r>
            <a:r>
              <a:rPr sz="1400" b="0">
                <a:solidFill>
                  <a:srgbClr val="000000"/>
                </a:solidFill>
                <a:latin typeface="Calibri"/>
              </a:rPr>
              <a:t>1,663 contemporary printed encyclopedic pages -- diverse layouts, mixed content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Muharaf: </a:t>
            </a:r>
            <a:r>
              <a:rPr sz="1400" b="0">
                <a:solidFill>
                  <a:srgbClr val="000000"/>
                </a:solidFill>
                <a:latin typeface="Calibri"/>
              </a:rPr>
              <a:t>116 handwritten Arabic manuscript images -- informal handwriting styles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Historical: </a:t>
            </a:r>
            <a:r>
              <a:rPr sz="1400" b="0">
                <a:solidFill>
                  <a:srgbClr val="000000"/>
                </a:solidFill>
                <a:latin typeface="Calibri"/>
              </a:rPr>
              <a:t>40 archival manuscript pages from 8 Arabic books -- degraded historical print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Challenge: </a:t>
            </a:r>
            <a:r>
              <a:rPr sz="1400" b="0">
                <a:solidFill>
                  <a:srgbClr val="000000"/>
                </a:solidFill>
                <a:latin typeface="Calibri"/>
              </a:rPr>
              <a:t>Qaari's runaway bug dominant on page-level input (CER &gt;100% raw) -&gt; runaway corrector essential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329184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Samples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CER (raw)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T2 CER (corrected)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KHATT-Paragraph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HW paragraph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61.68%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45.06%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Yarmouk-testing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 (encyclop.)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1,663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49.85%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43.35%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Muharaf-val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HW document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129.39%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89.78%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Historical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HW manuscript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105.10%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94.53%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Full-page Avg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86.50%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68.18%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989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D6D7E"/>
                </a:solidFill>
                <a:latin typeface="Calibri"/>
              </a:defRPr>
            </a:pPr>
            <a:r>
              <a:t>T2 corrected = after runaway correction (threshold 3.0x GT length). Full-page gain (-21.2% abs) &gt;&gt; line-level PATS gain (-0.13 pp). Gemma VLM OCR excluded for PATS/KHATT (line strips, &gt;10:1 aspect ratio, invalid).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Experimental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Phases 1-6: Isolated Variables, Controlled Comparisons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Experimental Phases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Changes vs Phase 2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Knowledge Injected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Comparison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Baseline &amp; Error Taxonomy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Zero-Shot LLM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Baseline LLM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None (conservative v2 prompt)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vs Phase 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OCR-Aware Prompting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+Confusion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Top-10 failure-filtered char 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vs 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Self-Reflective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+Training-split insights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Error stats + word-pair failures + overcorrection warning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vs Phase 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CAMeL Post-Processing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+Morphological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CAMeL validation + known-overcorrection revert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vs 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Combinations + Ablation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Multi-component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conf_only, self_only, conf_self, best_camel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vs Phase 2 + ablation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Key design: </a:t>
            </a:r>
            <a:r>
              <a:rPr sz="1500" b="0">
                <a:solidFill>
                  <a:srgbClr val="000000"/>
                </a:solidFill>
                <a:latin typeface="Calibri"/>
              </a:rPr>
              <a:t>Phases 3-5 are ISOLATED experiments -- each changes exactly ONE variable vs Phase 2. Phase 6 tests combinations.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Evaluation: </a:t>
            </a:r>
            <a:r>
              <a:rPr sz="1500" b="0">
                <a:solidFill>
                  <a:srgbClr val="000000"/>
                </a:solidFill>
                <a:latin typeface="Calibri"/>
              </a:rPr>
              <a:t>CER/WER on validation split, diacritics stripped. PATS-A01 macro-average (equal weight per font). Paired t-tests + Bonferroni correction.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Prompt Engineering Strategies: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Phase 2 -- Zero-Shot (v2 conservative):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"If the text is correct, return it as-is. Only fix clear OCR errors."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Designed to minimise over-correction on clean input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Phase 3 -- Confusion Matrix Injection: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Top-10 char confusion pairs PER FONT, filtered by LLM failures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Only includes pairs the model does NOT handle at zero-shot level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Tells model WHAT to look for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Phase 4 -- Self-Reflective Prompting: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Arabic-language diagnostic derived from training-split Phase 2 errors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Includes: aggregate stats, concrete word-pair failures, overcorrection warning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Tells model HOW to behave (be conservative, avoid specific error types)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Phase 5 -- CAMeL Morphological Post-Processing: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Applied AFTER LLM correction (not during prompting)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Step 1: Validate each changed word via CAMeL morphological analyser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Step 2: If LLM output is morphologically invalid AND OCR original was valid, REVERT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Step 3: Known-overcorrection list -- revert specific word pairs known to be over-corrected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Phase 6 -- Combinations: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conf_only: </a:t>
            </a:r>
            <a:r>
              <a:rPr sz="1400" b="0">
                <a:solidFill>
                  <a:srgbClr val="000000"/>
                </a:solidFill>
                <a:latin typeface="Calibri"/>
              </a:rPr>
              <a:t>Phase 3 confusion matrix only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self_only: </a:t>
            </a:r>
            <a:r>
              <a:rPr sz="1400" b="0">
                <a:solidFill>
                  <a:srgbClr val="000000"/>
                </a:solidFill>
                <a:latin typeface="Calibri"/>
              </a:rPr>
              <a:t>Phase 4 self-reflective only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conf_self: </a:t>
            </a:r>
            <a:r>
              <a:rPr sz="1400" b="0">
                <a:solidFill>
                  <a:srgbClr val="000000"/>
                </a:solidFill>
                <a:latin typeface="Calibri"/>
              </a:rPr>
              <a:t>Phase 3 + Phase 4 combined in prompt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best_camel: </a:t>
            </a:r>
            <a:r>
              <a:rPr sz="1400" b="0">
                <a:solidFill>
                  <a:srgbClr val="000000"/>
                </a:solidFill>
                <a:latin typeface="Calibri"/>
              </a:rPr>
              <a:t>conf_self + Phase 5 CAMeL post-processing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Design rationale: </a:t>
            </a:r>
            <a:r>
              <a:rPr sz="1400" b="0">
                <a:solidFill>
                  <a:srgbClr val="000000"/>
                </a:solidFill>
                <a:latin typeface="Calibri"/>
              </a:rPr>
              <a:t>4 combinations test whether components are redundant, additive, or synergistic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Phase 1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OCR Error Characterisation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Phase 1: Error Type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22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556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Error Category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PATS-A01 (%)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KHATT (%)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Dot confusion (ba/ta/tha/ya/fa/qaf)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Similar-shape substitution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18.3%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14.7%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Hamza / alef variants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Taa marbuta / ha confusion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9.0%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6.8%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Alef maqsura / ya confusion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Word merge (segmentation)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3.8%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19.6%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Word split (segmentation)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Other (insertion, deletion, misc.)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8.9%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Key findings: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PATS-A01: </a:t>
            </a:r>
            <a:r>
              <a:rPr sz="1400" b="0">
                <a:solidFill>
                  <a:srgbClr val="000000"/>
                </a:solidFill>
                <a:latin typeface="Calibri"/>
              </a:rPr>
              <a:t>60%+ of errors are dot + similar-shape confusions -- targetable by confusion matrix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KHATT: </a:t>
            </a:r>
            <a:r>
              <a:rPr sz="1400" b="0">
                <a:solidFill>
                  <a:srgbClr val="000000"/>
                </a:solidFill>
                <a:latin typeface="Calibri"/>
              </a:rPr>
              <a:t>37% segmentation errors (merge + split) -- fundamentally harder for text-only LLM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Morphological validity: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PATS-A01: </a:t>
            </a:r>
            <a:r>
              <a:rPr sz="1400" b="0">
                <a:solidFill>
                  <a:srgbClr val="000000"/>
                </a:solidFill>
                <a:latin typeface="Calibri"/>
              </a:rPr>
              <a:t>71.3% of OCR errors are valid-but-wrong Arabic words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KHATT: </a:t>
            </a:r>
            <a:r>
              <a:rPr sz="1400" b="0">
                <a:solidFill>
                  <a:srgbClr val="000000"/>
                </a:solidFill>
                <a:latin typeface="Calibri"/>
              </a:rPr>
              <a:t>63.8% valid-but-wrong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Implication: </a:t>
            </a:r>
            <a:r>
              <a:rPr sz="1400" b="0">
                <a:solidFill>
                  <a:srgbClr val="000000"/>
                </a:solidFill>
                <a:latin typeface="Calibri"/>
              </a:rPr>
              <a:t>CAMeL morphological filter can only intercept the 28.7% non-word errors -- ceiling on Phase 5 effectiveness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Phase 2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Zero-Shot LLM Correction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Phase 2: Per-Font Zero-Shot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73152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315883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P1 CER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P2 CER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 (pp)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Relative Change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Akhbar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+27.8% (HARMED)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Simplified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2.94%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2.93%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-0.01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Arial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3.65%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4.50%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+0.85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+23.3% (HARMED)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Naskh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+4.1% (HARMED)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Tahoma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5.82%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6.13%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+0.31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+5.3%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Thuluth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Andalus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12.12%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12.26%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+0.14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+1.2%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15883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PATS-A01 Avg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+4.8% (HARMED)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589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KHATT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34.24%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33.25%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-0.99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-2.9%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Critical findings: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Traditional: </a:t>
            </a:r>
            <a:r>
              <a:rPr sz="1400" b="0">
                <a:solidFill>
                  <a:srgbClr val="000000"/>
                </a:solidFill>
                <a:latin typeface="Calibri"/>
              </a:rPr>
              <a:t>-18.5% relative CER (3.63% -&gt; 2.96%) -- Qaari errors on this font are 'obvious' to the LLM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Akhbar/Arial/Naskh: </a:t>
            </a:r>
            <a:r>
              <a:rPr sz="1400" b="0">
                <a:solidFill>
                  <a:srgbClr val="000000"/>
                </a:solidFill>
                <a:latin typeface="Calibri"/>
              </a:rPr>
              <a:t>harmed by zero-shot -- over-correction on clean input (CER &lt; 4%)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KHATT: </a:t>
            </a:r>
            <a:r>
              <a:rPr sz="1400" b="0">
                <a:solidFill>
                  <a:srgbClr val="000000"/>
                </a:solidFill>
                <a:latin typeface="Calibri"/>
              </a:rPr>
              <a:t>-2.9% relative (34.24% -&gt; 33.25%) -- segmentation errors limit text-only correction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Over-correction threshold: </a:t>
            </a:r>
            <a:r>
              <a:rPr sz="1400" b="0">
                <a:solidFill>
                  <a:srgbClr val="000000"/>
                </a:solidFill>
                <a:latin typeface="Calibri"/>
              </a:rPr>
              <a:t>between 4.3% (harmed) and 7.9% (helped) -- approx 6-7% CER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Phase 2: Fix Rate vs Introduction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Fix Rate (%)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Intro Rate (%)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Net Effect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Akhbar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Net HARM (few errors to fix)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Simplified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74.6%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21.8%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Net benefit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91.2%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Strong benefit (high fix, low intro)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Naskh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80.1%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20.6%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Moderate benefit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KHATT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Marginal benefit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Akhbar paradox: </a:t>
            </a:r>
            <a:r>
              <a:rPr sz="1500" b="0">
                <a:solidFill>
                  <a:srgbClr val="000000"/>
                </a:solidFill>
                <a:latin typeface="Calibri"/>
              </a:rPr>
              <a:t>62.3% fix rate sounds good, but with only 4.3% baseline CER, the 25.1% introduction rate on the 95.7% correct tokens causes NET harm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Traditional success: </a:t>
            </a:r>
            <a:r>
              <a:rPr sz="1500" b="0">
                <a:solidFill>
                  <a:srgbClr val="000000"/>
                </a:solidFill>
                <a:latin typeface="Calibri"/>
              </a:rPr>
              <a:t>91.2% fix rate + only 8.4% introduction rate = dramatic improvement. Qaari's errors on this font are systematically 'obvious' to the LLM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Introduction rate is ~constant: </a:t>
            </a:r>
            <a:r>
              <a:rPr sz="1500" b="0">
                <a:solidFill>
                  <a:srgbClr val="000000"/>
                </a:solidFill>
                <a:latin typeface="Calibri"/>
              </a:rPr>
              <a:t>~20-25% across most fonts -- it depends on model behaviour, not input error rate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Phases 3-5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Isolated Knowledge Augmentation Experiments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Phases 3-5: Isolated 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27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PATS CER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 vs P1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KHATT CER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 vs P1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OCR Baseline (Qaari)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34.24%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Zero-Shot LLM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5.84%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+0.27%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33.25%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-0.99%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OCR-Aware (Confusion)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-0.83% rel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Self-Reflective (BEST)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5.59%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-0.37% rel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33.24%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-1.00%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CAMeL Post-Proc. (buggy†)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21.89%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+293% (broken)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41.62%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+21.6%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840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Phase 3 (Confusion Matrix):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Improves 7/9 datasets; only Akhbar degraded (+0.2pp)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Naskh benefits most (-0.8pp) -- most confusion pairs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Failure-filtering prevents injection of already-handled pairs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Phase 4 (Self-Reflective) -- STRONGEST ISOLATED: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Improves ALL 9 datasets including Akhbar (-0.3pp)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ONLY strategy that improves Akhbar -- overcorrection warning works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Naskh: -1.7pp (2x the benefit of Phase 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840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Phase 5 (CAMeL Post-Processing):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Slight degradation on most fonts (+0.1pp avg)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Only 3.4% of changed words reverted (PATS-A01)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71.3% valid-but-wrong errors pass morphological filter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Revert occasionally removes correct LLM fixes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Key insight: </a:t>
            </a:r>
            <a:r>
              <a:rPr sz="1400" b="0">
                <a:solidFill>
                  <a:srgbClr val="000000"/>
                </a:solidFill>
                <a:latin typeface="Calibri"/>
              </a:rPr>
              <a:t>Phase 4's success comes from TWO mechanisms: (1) targeted error guidance, (2) explicit overcorrection warning that shifts model behaviour towards conservatism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Phase 6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Combinations, Ablation &amp; Statistical Significance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Phase 6: Combination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7772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28575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Combination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PATS CER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 vs P2 (pp)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KHATT CER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 vs P2 (pp)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OCR baseline (P1)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34.24%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P2 (zero-shot)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5.84%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33.25%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conf_only (P3)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self_only (P4)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5.59%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-0.25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33.24%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-0.01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conf_self (P3+P4)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P8 RAG BM25 -- BEST PATS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5.45%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-0.39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33.83%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+0.58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P9 Error-Sig RAG -- BEST KHATT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118872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conf_self is best balanced: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PATS-A01: </a:t>
            </a:r>
            <a:r>
              <a:rPr sz="1400" b="0">
                <a:solidFill>
                  <a:srgbClr val="000000"/>
                </a:solidFill>
                <a:latin typeface="Calibri"/>
              </a:rPr>
              <a:t>5.45% P8 RAG; 5.59% P4 Self-Reflective (both &lt; OCR baseline 5.57%)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KHATT: </a:t>
            </a:r>
            <a:r>
              <a:rPr sz="1400" b="0">
                <a:solidFill>
                  <a:srgbClr val="000000"/>
                </a:solidFill>
                <a:latin typeface="Calibri"/>
              </a:rPr>
              <a:t>33.13% P9 Error-Sig RAG (best); −1.11% vs OCR baseline 34.24%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best_camel: </a:t>
            </a:r>
            <a:r>
              <a:rPr sz="1400" b="0">
                <a:solidFill>
                  <a:srgbClr val="000000"/>
                </a:solidFill>
                <a:latin typeface="Calibri"/>
              </a:rPr>
              <a:t>+0.1pp on PATS but -0.1pp on KHATT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384048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P1 (OCR)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P2 ZS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P3 OCR-Aware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P4 Self-Ref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P6 conf_self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P8 RAG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Akhbar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Simplified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2.94%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2.93%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2.97%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2.86%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2.72%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3.01%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2.87%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Tahoma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5.82%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6.13%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6.12%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5.91%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6.15%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6.21%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Thuluth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Andalus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12.12%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12.26%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11.75%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11.51%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13.22%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10.41%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KHATT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34.24%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Phase 6: Ablation &amp; Statistical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PATS CER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vs conf_self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conf_self (P3+P4)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Remove P3 (= P4 only)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5.59%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-0.17 pp (better!)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Remove P4 (= P3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-0.02 pp (better!)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P8 RAG (best overall)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5.45%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reference best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2004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Key ablation finding: </a:t>
            </a:r>
            <a:r>
              <a:rPr sz="1300" b="0">
                <a:solidFill>
                  <a:srgbClr val="000000"/>
                </a:solidFill>
                <a:latin typeface="Calibri"/>
              </a:rPr>
              <a:t>on PATS macro-avg, P4 alone (5.59%) beats conf_self (5.76%). The combination is slightly WORSE than P4 alone.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Near-additive on specific fonts: </a:t>
            </a:r>
            <a:r>
              <a:rPr sz="1300" b="0">
                <a:solidFill>
                  <a:srgbClr val="000000"/>
                </a:solidFill>
                <a:latin typeface="Calibri"/>
              </a:rPr>
              <a:t>Naskh: P3 alone -0.8 + P4 alone -1.7 = -2.5 predicted; actual conf_self Naskh = -2.4 (near-additive)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KHATT: </a:t>
            </a:r>
            <a:r>
              <a:rPr sz="1300" b="0">
                <a:solidFill>
                  <a:srgbClr val="000000"/>
                </a:solidFill>
                <a:latin typeface="Calibri"/>
              </a:rPr>
              <a:t>conf_self (33.27%) improves over both P3 (33.26%) and P4 (33.24%) alone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0" y="1188720"/>
          <a:ext cx="5760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Cohen's 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Significant?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Thuluth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1.84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Yes*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Arial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Andalus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0.009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0.33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Yes*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Tahoma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Naskh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&lt;0.001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Yes*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Akhbar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Simplified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0.019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0.29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KHATT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0.19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0" y="45720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D6D7E"/>
                </a:solidFill>
                <a:latin typeface="Calibri"/>
              </a:defRPr>
            </a:pPr>
            <a:r>
              <a:t>Bonferroni-corrected alpha = 0.0125 (4 comparisons). Significant on 6/9 datasets.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Experiment 2: Prompt Design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8 Trials x 13 Datasets — Finding the Best Prompt Configuration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Experiment 2: Trial Definitions &amp; PATS/KHATT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Motivation: </a:t>
            </a:r>
            <a:r>
              <a:rPr sz="1400" b="0">
                <a:solidFill>
                  <a:srgbClr val="000000"/>
                </a:solidFill>
                <a:latin typeface="Calibri"/>
              </a:rPr>
              <a:t>Experiment 1 used a fixed zero-shot baseline. Experiment 2 tests the space of prompt design choices.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Design: </a:t>
            </a:r>
            <a:r>
              <a:rPr sz="1400" b="0">
                <a:solidFill>
                  <a:srgbClr val="000000"/>
                </a:solidFill>
                <a:latin typeface="Calibri"/>
              </a:rPr>
              <a:t>4 prompt styles x 2 retrieval modes = 8 trials (T1-T8)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Scale: </a:t>
            </a:r>
            <a:r>
              <a:rPr sz="1400" b="0">
                <a:solidFill>
                  <a:srgbClr val="000000"/>
                </a:solidFill>
                <a:latin typeface="Calibri"/>
              </a:rPr>
              <a:t>13 datasets (PATS-A01 8 fonts + KHATT + 4 full-page)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301752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Trial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Style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RAG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PATS CER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KHATT CER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34.24%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T1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Base (aggress.)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5.84%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33.25%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= Exp1 P2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Best overall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T3*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Conservative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5.27%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32.93%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Best PATS!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Conservative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27.02%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32.69%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CATASTROPHIC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Error-pattern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5.85%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32.90%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Marginal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Error-pattern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32.64%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CATASTROPHIC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EP + Cons.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190.60%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51.64%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TEMPLATE INJECT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EP + Cons.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46.56%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32.54%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CATASTROPHIC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583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T3* best PATS (5.27%, -5.4% rel vs OCR). T2 best overall (5.44% PATS + 33.82% KHATT). T2 selected for Experiment 3.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Experiment 2: Per-Font PATS Detail (T1, T2, T3)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33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7772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T1 (base_zs)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T2 (base_rag)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T3 (cons_zs)*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Akhbar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Simplified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2.94%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2.94%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3.01%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2.43%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Arial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3.65%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4.50%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3.83%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3.74%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Naskh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Tahoma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5.82%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6.14%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6.20%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5.54%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Thuluth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Andalus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12.12%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12.26%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10.42%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11.68%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PATS Avg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KHATT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34.24%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33.25%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33.82%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32.93%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118872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T3 key insight:</a:t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Conservative framing ('return as-is if correct') beats ALL knowledge augmentation from Experiment 1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T3 achieves 5.27% PATS -- below P8 RAG (5.45%) without any retrieval overhead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/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T2 vs T1:</a:t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RAG reduces Thuluth: 10.93% -&gt; 9.68% (-1.25 pp), Andalus: 12.26% -&gt; 10.42% (-1.84 pp)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RAG costs Akhbar: 2.71% -&gt; 2.97% (+0.26 pp)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/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Lesson: </a:t>
            </a:r>
            <a:r>
              <a:rPr sz="1300" b="0">
                <a:solidFill>
                  <a:srgbClr val="000000"/>
                </a:solidFill>
                <a:latin typeface="Calibri"/>
              </a:rPr>
              <a:t>Reducing intervention tendency &gt; providing more correct targets for clean typewritten text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Experiment 2: Full-Page Dataset Results (New Domains)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4 new full-page datasets introduced: </a:t>
            </a:r>
            <a:r>
              <a:rPr sz="1400" b="0">
                <a:solidFill>
                  <a:srgbClr val="000000"/>
                </a:solidFill>
                <a:latin typeface="Calibri"/>
              </a:rPr>
              <a:t>KHATT-Paragraph, Yarmouk, Muharaf, Historical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Challenge: </a:t>
            </a:r>
            <a:r>
              <a:rPr sz="1400" b="0">
                <a:solidFill>
                  <a:srgbClr val="000000"/>
                </a:solidFill>
                <a:latin typeface="Calibri"/>
              </a:rPr>
              <a:t>Qaari's runaway bug severe on page-level input -&gt; OCR CER &gt;100% (Muharaf 129%, Historical 105%)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Solution: </a:t>
            </a:r>
            <a:r>
              <a:rPr sz="1400" b="0">
                <a:solidFill>
                  <a:srgbClr val="000000"/>
                </a:solidFill>
                <a:latin typeface="Calibri"/>
              </a:rPr>
              <a:t>3-stage runaway corrector (tatweel collapse + phrase-loop detection + hard truncation at 3.0x GT length)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Best trial: </a:t>
            </a:r>
            <a:r>
              <a:rPr sz="1400" b="0">
                <a:solidFill>
                  <a:srgbClr val="000000"/>
                </a:solidFill>
                <a:latin typeface="Calibri"/>
              </a:rPr>
              <a:t>T2 (base+RAG) selected as the best overall prompt for all domains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310896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Domain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Samples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CER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T2 CER (corrected)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Abs. Gain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KHATT-Paragraph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HW paragraph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61.68%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45.06%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-16.62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Yarmouk-testing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Print (encyclop.)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1,663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49.85%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43.35%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-6.50 pp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Muharaf-val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HW document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129.39%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89.78%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-39.61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Historical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HW manuscript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105.10%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94.53%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-10.57 pp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Full-page Avg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86.50%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68.18%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-18.32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Full-page gain (-21.2% relative) &gt;&gt; line-level PATS (-2.3%) or KHATT (-1.2%) -- runaway correction accounts for bulk; LLM adds genuine character-level correction on top. KHATT-Paragraph benefits most from paragraph context (-16.62 pp genuine correction).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Experiment 3: Final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Multi-Model · Multi-OCR-Source · Multi-Domain Benchmarks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Experiment 3A: Four Models vs Validation Set (T2 Prompt, Qaari OCR)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Setting: </a:t>
            </a:r>
            <a:r>
              <a:rPr sz="1400" b="0">
                <a:solidFill>
                  <a:srgbClr val="000000"/>
                </a:solidFill>
                <a:latin typeface="Calibri"/>
              </a:rPr>
              <a:t>T2 (base+RAG), validation set, Qaari OCR, 4 LLMs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Full-page group (FP): </a:t>
            </a:r>
            <a:r>
              <a:rPr sz="1400" b="0">
                <a:solidFill>
                  <a:srgbClr val="000000"/>
                </a:solidFill>
                <a:latin typeface="Calibri"/>
              </a:rPr>
              <a:t>KHATT-Para + Yarmouk + Muharaf + Historical, OCR baseline 86.50%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CER†: </a:t>
            </a:r>
            <a:r>
              <a:rPr sz="1400" b="0">
                <a:solidFill>
                  <a:srgbClr val="000000"/>
                </a:solidFill>
                <a:latin typeface="Calibri"/>
              </a:rPr>
              <a:t>after runaway correction (threshold 3.0x GT length)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2651760"/>
          <a:ext cx="11430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PATS CER†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KHATT CER†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 CER†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OCR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34.24%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86.50%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Qaari raw 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Qwen3-4B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4B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5.44%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33.82%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68.18%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Best KHATT + FP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Qwen3-14B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88.51%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Runaway epidemic (175% raw KHATT)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Gemma-3-4B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4B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7.47%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36.14%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71.12%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Underperforms consistently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Gemma-3-12B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35.98%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Best PATS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3949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Key finding: </a:t>
            </a:r>
            <a:r>
              <a:rPr sz="1300" b="0">
                <a:solidFill>
                  <a:srgbClr val="000000"/>
                </a:solidFill>
                <a:latin typeface="Calibri"/>
              </a:rPr>
              <a:t>Larger != better within Qwen3. Qwen3-14B (raw 175.69% KHATT) needs runaway corrector to reach 35.55% -- still worse than Qwen3-4B (33.82%). Gemma-3-12B best PATS (5.33%); Qwen3-4B best KHATT + Full-page.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Gemma excluded for PATS/KHATT: </a:t>
            </a:r>
            <a:r>
              <a:rPr sz="1300" b="0">
                <a:solidFill>
                  <a:srgbClr val="000000"/>
                </a:solidFill>
                <a:latin typeface="Calibri"/>
              </a:rPr>
              <a:t>line-strip images (&gt;10:1 aspect ratio) squashed by Gemma preprocessor -&gt; hallucinations (CER &gt;170%, invalid). Only valid for full-page (~0.6:1) comparison.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Experiment 3B: OCR Source Impact (Qaari vs Gemma-3 VLM)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Key design: </a:t>
            </a:r>
            <a:r>
              <a:rPr sz="1400" b="0">
                <a:solidFill>
                  <a:srgbClr val="000000"/>
                </a:solidFill>
                <a:latin typeface="Calibri"/>
              </a:rPr>
              <a:t>Gemma-3 VLM OCR (Gemma-3-27B-IT vision encoder) vs Qaari on same images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Critical exclusion: </a:t>
            </a:r>
            <a:r>
              <a:rPr sz="1400" b="0">
                <a:solidFill>
                  <a:srgbClr val="000000"/>
                </a:solidFill>
                <a:latin typeface="Calibri"/>
              </a:rPr>
              <a:t>Gemma excluded for PATS/KHATT -- line strips &gt;10:1 aspect ratio squashed to near-square by preprocessor -&gt; hallucinations (CER &gt;170%)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Valid comparison: </a:t>
            </a:r>
            <a:r>
              <a:rPr sz="1400" b="0">
                <a:solidFill>
                  <a:srgbClr val="000000"/>
                </a:solidFill>
                <a:latin typeface="Calibri"/>
              </a:rPr>
              <a:t>Full-page documents (~0.6:1 aspect ratio) only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Finding: </a:t>
            </a:r>
            <a:r>
              <a:rPr sz="1400" b="0">
                <a:solidFill>
                  <a:srgbClr val="000000"/>
                </a:solidFill>
                <a:latin typeface="Calibri"/>
              </a:rPr>
              <a:t>OCR source quality matters less after LLM correction for full-page documents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310896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Qaari OCR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Qaari Corr†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Gemma OCR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Gemma Corr†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KHATT-Para-val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61.68%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45.06%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36.14%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Yarmouk-testing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49.85%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43.35%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95.76%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74.37%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Muharaf-val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129.39%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89.78%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141.15%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72.85%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Historical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105.10%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94.53%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76.26%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74.09%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Full-page Avg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86.50%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68.18%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87.33%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64.28%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577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Gemma OCR slightly better after correction (64.28% vs 68.18%). Qaari better on KHATT-Para and Yarmouk; Gemma better on Muharaf and Historical. For full-page docs, OCR source doesn't dominate after LLM correction.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Experiment 3C: Generalization to Unseen Benchmarks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Two held-out benchmarks: </a:t>
            </a:r>
            <a:r>
              <a:rPr sz="1400" b="0">
                <a:solidFill>
                  <a:srgbClr val="000000"/>
                </a:solidFill>
                <a:latin typeface="Calibri"/>
              </a:rPr>
              <a:t>RDI-Test-Lines (handwritten/manuscript/typewritten) + Kitab (12 diverse Arabic text collections)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Model: </a:t>
            </a:r>
            <a:r>
              <a:rPr sz="1400" b="0">
                <a:solidFill>
                  <a:srgbClr val="000000"/>
                </a:solidFill>
                <a:latin typeface="Calibri"/>
              </a:rPr>
              <a:t>Qwen3-4B, T2 prompt, runaway-corrected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Surprising finding: </a:t>
            </a:r>
            <a:r>
              <a:rPr sz="1400" b="0">
                <a:solidFill>
                  <a:srgbClr val="000000"/>
                </a:solidFill>
                <a:latin typeface="Calibri"/>
              </a:rPr>
              <a:t>Gemma OCR outperforms Qaari on RDI-Test-Lines (68% vs 95% CER) -- Qaari struggles on diverse document styles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2651760"/>
          <a:ext cx="5943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386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RDI-Test-Lines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Source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OCR CER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Corr CER†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LR-Handwritten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98.82%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91.55%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LR-Handwritten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62.53%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57.71%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LR-Manuscripts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81.94%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79.00%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LR-Manuscripts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78.10%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70.36%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LR-Typewritten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105.19%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84.79%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LR-Typewritten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64.86%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55.31%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Qaari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95.31%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85.11%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Gemma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68.49%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61.13%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2651760"/>
          <a:ext cx="5486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Kitab Subset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Qaari OCR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Qaari Corr†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kitab-arabicocr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OVER-CORRECT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kitab-patsocr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4.79%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5.98%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Over-correct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kitab-hindawi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31.46%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24.31%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-7.2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kitab-muharaf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76.04%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58.72%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-17.3 pp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kitab-historyar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63.48%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51.69%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-11.8 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khattparagraph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205.27%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90.60%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-114.7 pp!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Kitab OVERALL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49.28%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40.73%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-17.3% rel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Calibri"/>
              </a:defRPr>
            </a:pPr>
            <a:r>
              <a:t>Over-correction confirmed on new domains: low-CER subsets (kitab-arabicocr 1.80%) are HARMED. RDI-Test-Lines -10.7% abs. Kitab -17% rel (Qaari) to -24% rel (Gemma).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Experiment 3: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1. Model size != always better (Qwen3 family):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 </a:t>
            </a:r>
            <a:r>
              <a:rPr sz="1400" b="0">
                <a:solidFill>
                  <a:srgbClr val="000000"/>
                </a:solidFill>
                <a:latin typeface="Calibri"/>
              </a:rPr>
              <a:t>Qwen3-14B underperforms Qwen3-4B on KHATT (35.55% vs 33.82%) despite 3.5x more parameters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 </a:t>
            </a:r>
            <a:r>
              <a:rPr sz="1400" b="0">
                <a:solidFill>
                  <a:srgbClr val="000000"/>
                </a:solidFill>
                <a:latin typeface="Calibri"/>
              </a:rPr>
              <a:t>Gemma-3-12B best PATS (5.33%); Qwen3-4B best for KHATT + full-page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2. Runaway corrector is critical for large models: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 </a:t>
            </a:r>
            <a:r>
              <a:rPr sz="1400" b="0">
                <a:solidFill>
                  <a:srgbClr val="000000"/>
                </a:solidFill>
                <a:latin typeface="Calibri"/>
              </a:rPr>
              <a:t>Without it: Qwen3-14B = 175.69% KHATT CER (unusable). With it: 35.55% (still worse than 4B)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 </a:t>
            </a:r>
            <a:r>
              <a:rPr sz="1400" b="0">
                <a:solidFill>
                  <a:srgbClr val="000000"/>
                </a:solidFill>
                <a:latin typeface="Calibri"/>
              </a:rPr>
              <a:t>Full-page datasets: OCR 86.50% -&gt; 68.18% (large share is runaway correction)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3. OCR source matters less after correction on full-page: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 </a:t>
            </a:r>
            <a:r>
              <a:rPr sz="1400" b="0">
                <a:solidFill>
                  <a:srgbClr val="000000"/>
                </a:solidFill>
                <a:latin typeface="Calibri"/>
              </a:rPr>
              <a:t>Qaari 86.50% vs Gemma 87.33% -&gt; after correction: Qaari 68.18% vs Gemma 64.28%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 </a:t>
            </a:r>
            <a:r>
              <a:rPr sz="1400" b="0">
                <a:solidFill>
                  <a:srgbClr val="000000"/>
                </a:solidFill>
                <a:latin typeface="Calibri"/>
              </a:rPr>
              <a:t>Gemma excluded for line-strip PATS/KHATT (preprocessing artifact, invalid comparison)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4. Generalisation confirmed on unseen benchmarks: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 </a:t>
            </a:r>
            <a:r>
              <a:rPr sz="1400" b="0">
                <a:solidFill>
                  <a:srgbClr val="000000"/>
                </a:solidFill>
                <a:latin typeface="Calibri"/>
              </a:rPr>
              <a:t>RDI-Test-Lines: -10.7% abs. Kitab: -17% to -24% relative CER reduction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 </a:t>
            </a:r>
            <a:r>
              <a:rPr sz="1400" b="0">
                <a:solidFill>
                  <a:srgbClr val="000000"/>
                </a:solidFill>
                <a:latin typeface="Calibri"/>
              </a:rPr>
              <a:t>Over-correction threshold holds in new domains: low-CER inputs (1.80%, 4.79%) are harmed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 </a:t>
            </a:r>
            <a:r>
              <a:rPr sz="1400" b="0">
                <a:solidFill>
                  <a:srgbClr val="000000"/>
                </a:solidFill>
                <a:latin typeface="Calibri"/>
              </a:rPr>
              <a:t>Gemma OCR actually BETTER than Qaari on RDI-Test-Lines (68% vs 95%) -- Qaari is domain-specialised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Over-Correction Threshold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Central Theoretical Contribution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Over-Correction Threshold: Formal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Let e = baseline CER (fraction), rf = fix rate, ri = introduction rate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Expected CER after correction: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CER_corrected = e * (1 - rf) + (1 - e) * ri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Correction is NET BENEFICIAL when: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e * rf  &gt;  (1-e) * ri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i.e., errors fixed &gt; errors introduced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Threshold (assuming constant rf):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e* = ri / (rf + ri)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Empirical estimate: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rf ~ 76%, ri ~ 22%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e* = 0.22 / (0.76 + 0.22) = 22.4% (aggregate)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Per-font crossing: ~3-6% CER (Akhbar 2.12% harmed, Tahoma 5.82% helped)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Why the threshold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1. Explains Akhbar degradation: </a:t>
            </a:r>
            <a:r>
              <a:rPr sz="1400" b="0">
                <a:solidFill>
                  <a:srgbClr val="000000"/>
                </a:solidFill>
                <a:latin typeface="Calibri"/>
              </a:rPr>
              <a:t>at 2.12% CER, e &lt; e* so correction is harmful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2. Explains Andalus improvement: </a:t>
            </a:r>
            <a:r>
              <a:rPr sz="1400" b="0">
                <a:solidFill>
                  <a:srgbClr val="000000"/>
                </a:solidFill>
                <a:latin typeface="Calibri"/>
              </a:rPr>
              <a:t>at 12.12% CER with RAG (10.41%) -- high baseline gives enough signal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3. Augmentation shifts threshold: </a:t>
            </a:r>
            <a:r>
              <a:rPr sz="1400" b="0">
                <a:solidFill>
                  <a:srgbClr val="000000"/>
                </a:solidFill>
                <a:latin typeface="Calibri"/>
              </a:rPr>
              <a:t>adding knowledge to prompt raises ri (model becomes more interventionist), raising e*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4. Phase 4 exception: </a:t>
            </a:r>
            <a:r>
              <a:rPr sz="1400" b="0">
                <a:solidFill>
                  <a:srgbClr val="000000"/>
                </a:solidFill>
                <a:latin typeface="Calibri"/>
              </a:rPr>
              <a:t>overcorrection warning directly targets ri, LOWERING it -- explains why Phase 4 uniquely helps Akhbar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5. Practical implication: </a:t>
            </a:r>
            <a:r>
              <a:rPr sz="1400" b="0">
                <a:solidFill>
                  <a:srgbClr val="000000"/>
                </a:solidFill>
                <a:latin typeface="Calibri"/>
              </a:rPr>
              <a:t>deploy LLM correction SELECTIVELY based on estimated OCR quality, not universally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Why Handwritten &amp; Full-Page Correction Differs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KHATT, KHATT-Paragraph, Muharaf, Historical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Handwritten vs Typewritten vs Full-Page: Qualitative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KHATT (line-level handwritten):</a:t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37% segmentation errors (merge + split) vs 6.4% on PATS-A01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Segmentation = word boundaries lost -- text-only LLM cannot re-segment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Result: only ~1-3% relative improvement despite 34.24% baseline CER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/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KHATT-Paragraph (paragraph handwritten):</a:t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Paragraph context enables better disambiguation than lines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-16.62 pp genuine text correction (61.68% -&gt; 45.06%)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Best full-page correction result: longer context = more signal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/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Muharaf &amp; Historical (degraded/historical):</a:t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OCR CER &gt;100% due to Qaari runaway bug on full pages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Runaway corrector essential; residual CER still high (89-95%)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Historical degradation + handwriting variability = hard ceiling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/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Yarmouk (contemporary print):</a:t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Most accessible: contemporary Arabic, cleaner OCR (49.85% raw)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T2 achieves 43.35% after correction (-6.5 pp)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would improve these domains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KHATT handwritten:</a:t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1. </a:t>
            </a:r>
            <a:r>
              <a:rPr sz="1300" b="0">
                <a:solidFill>
                  <a:srgbClr val="000000"/>
                </a:solidFill>
                <a:latin typeface="Calibri"/>
              </a:rPr>
              <a:t>Multi-modal: image + OCR text to VLM corrector (Qwen3-VL, GPT-4o-Vision)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2. </a:t>
            </a:r>
            <a:r>
              <a:rPr sz="1300" b="0">
                <a:solidFill>
                  <a:srgbClr val="000000"/>
                </a:solidFill>
                <a:latin typeface="Calibri"/>
              </a:rPr>
              <a:t>Segmentation recovery step BEFORE LLM correction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/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Historical/degraded documents:</a:t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1. </a:t>
            </a:r>
            <a:r>
              <a:rPr sz="1300" b="0">
                <a:solidFill>
                  <a:srgbClr val="000000"/>
                </a:solidFill>
                <a:latin typeface="Calibri"/>
              </a:rPr>
              <a:t>Fine-tuning on domain-matched historical (OCR, GT) pairs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2. </a:t>
            </a:r>
            <a:r>
              <a:rPr sz="1300" b="0">
                <a:solidFill>
                  <a:srgbClr val="000000"/>
                </a:solidFill>
                <a:latin typeface="Calibri"/>
              </a:rPr>
              <a:t>Image preprocessing: binarization, deskew, noise removal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/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Full-page all domains:</a:t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1. </a:t>
            </a:r>
            <a:r>
              <a:rPr sz="1300" b="0">
                <a:solidFill>
                  <a:srgbClr val="000000"/>
                </a:solidFill>
                <a:latin typeface="Calibri"/>
              </a:rPr>
              <a:t>Better runaway detection: confidence-score gating at OCR level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2. </a:t>
            </a:r>
            <a:r>
              <a:rPr sz="1300" b="0">
                <a:solidFill>
                  <a:srgbClr val="000000"/>
                </a:solidFill>
                <a:latin typeface="Calibri"/>
              </a:rPr>
              <a:t>Page-level context: attend to multiple lines simultaneously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3. </a:t>
            </a:r>
            <a:r>
              <a:rPr sz="1300" b="0">
                <a:solidFill>
                  <a:srgbClr val="000000"/>
                </a:solidFill>
                <a:latin typeface="Calibri"/>
              </a:rPr>
              <a:t>Domain-specific RAG index (per-corpus rather than per-font)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System Design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From Research Findings to Practical Deployment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Practical Recommendations for Arabic Post-OCR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1. Apply correction SELECTIVELY, not universally: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 </a:t>
            </a:r>
            <a:r>
              <a:rPr sz="1500" b="0">
                <a:solidFill>
                  <a:srgbClr val="000000"/>
                </a:solidFill>
                <a:latin typeface="Calibri"/>
              </a:rPr>
              <a:t>Estimate OCR quality first (confidence scores, font ID, calibration CER). Route only CER &gt; 6-7% to LLM. Pass clean output unchanged.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2. Use conf_self (Phase 3 + Phase 4) as default configuration: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 </a:t>
            </a:r>
            <a:r>
              <a:rPr sz="1500" b="0">
                <a:solidFill>
                  <a:srgbClr val="000000"/>
                </a:solidFill>
                <a:latin typeface="Calibri"/>
              </a:rPr>
              <a:t>Best or near-best on all 9 datasets. Statistically significant on 6/9. Both components contribute in ablation.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3. Add CAMeL post-processing ONLY on typewritten text: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 </a:t>
            </a:r>
            <a:r>
              <a:rPr sz="1500" b="0">
                <a:solidFill>
                  <a:srgbClr val="000000"/>
                </a:solidFill>
                <a:latin typeface="Calibri"/>
              </a:rPr>
              <a:t>-0.1pp on PATS-A01 but +0.1pp on KHATT. Omit for handwritten or mixed input.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4. Compute per-font evaluation before deployment: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 </a:t>
            </a:r>
            <a:r>
              <a:rPr sz="1500" b="0">
                <a:solidFill>
                  <a:srgbClr val="000000"/>
                </a:solidFill>
                <a:latin typeface="Calibri"/>
              </a:rPr>
              <a:t>Macro-averages mask font-specific effects. Exclude fonts where correction degrades quality.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5. Recalibrate self-reflective insights for new OCR engines: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 </a:t>
            </a:r>
            <a:r>
              <a:rPr sz="1500" b="0">
                <a:solidFill>
                  <a:srgbClr val="000000"/>
                </a:solidFill>
                <a:latin typeface="Calibri"/>
              </a:rPr>
              <a:t>Phase 4 insights are engine-specific. One-time recomputation per engine from training-split.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6. Use aligned split design for multi-font studies: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 </a:t>
            </a:r>
            <a:r>
              <a:rPr sz="1500" b="0">
                <a:solidFill>
                  <a:srgbClr val="000000"/>
                </a:solidFill>
                <a:latin typeface="Calibri"/>
              </a:rPr>
              <a:t>Identical text content across fonts isolates font as sole variable. Essential for principled comparison.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Honest Assessment and Research Directions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Single OCR engine (Qaari):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</a:t>
            </a:r>
            <a:r>
              <a:rPr sz="1500" b="0">
                <a:solidFill>
                  <a:srgbClr val="000000"/>
                </a:solidFill>
                <a:latin typeface="Calibri"/>
              </a:rPr>
              <a:t>Confusion matrix, self-reflective insights are Qaari-specific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</a:t>
            </a:r>
            <a:r>
              <a:rPr sz="1500" b="0">
                <a:solidFill>
                  <a:srgbClr val="000000"/>
                </a:solidFill>
                <a:latin typeface="Calibri"/>
              </a:rPr>
              <a:t>Qualitative findings likely generalise; specific numbers do not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Single LLM (Qwen3-4B):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</a:t>
            </a:r>
            <a:r>
              <a:rPr sz="1500" b="0">
                <a:solidFill>
                  <a:srgbClr val="000000"/>
                </a:solidFill>
                <a:latin typeface="Calibri"/>
              </a:rPr>
              <a:t>Larger models may have lower introduction rate -- shifting threshold down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</a:t>
            </a:r>
            <a:r>
              <a:rPr sz="1500" b="0">
                <a:solidFill>
                  <a:srgbClr val="000000"/>
                </a:solidFill>
                <a:latin typeface="Calibri"/>
              </a:rPr>
              <a:t>Arabic-specialised models may have stronger character-level priors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Single text content (PATS-A01):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</a:t>
            </a:r>
            <a:r>
              <a:rPr sz="1500" b="0">
                <a:solidFill>
                  <a:srgbClr val="000000"/>
                </a:solidFill>
                <a:latin typeface="Calibri"/>
              </a:rPr>
              <a:t>All 8 fonts render same text -- limits content diversity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</a:t>
            </a:r>
            <a:r>
              <a:rPr sz="1500" b="0">
                <a:solidFill>
                  <a:srgbClr val="000000"/>
                </a:solidFill>
                <a:latin typeface="Calibri"/>
              </a:rPr>
              <a:t>MSA newspaper/academic text; other domains may differ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Text-only correction: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</a:t>
            </a:r>
            <a:r>
              <a:rPr sz="1500" b="0">
                <a:solidFill>
                  <a:srgbClr val="000000"/>
                </a:solidFill>
                <a:latin typeface="Calibri"/>
              </a:rPr>
              <a:t>Document image not used after OCR -- visually ambiguous cases inaccessible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Additional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Diacritic stripping: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All metrics computed after stripping diacritics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Diacritic-preserving tasks would change all results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Morphological DB coverage: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CAMeL calima-msa-r13 has gaps: archaic forms, proper nouns, loanwords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May cause spurious reverts in Phase 5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No fine-tuning baseline:</a:t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  </a:t>
            </a:r>
            <a:r>
              <a:rPr sz="1400" b="0">
                <a:solidFill>
                  <a:srgbClr val="000000"/>
                </a:solidFill>
                <a:latin typeface="Calibri"/>
              </a:rPr>
              <a:t>All strategies are prompt-only; fine-tuned comparisons not included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1. Characterise threshold across models/engines: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 </a:t>
            </a:r>
            <a:r>
              <a:rPr sz="1500" b="0">
                <a:solidFill>
                  <a:srgbClr val="000000"/>
                </a:solidFill>
                <a:latin typeface="Calibri"/>
              </a:rPr>
              <a:t>Test Qwen3-14B/32B, AraGPT2, Jais, ALLaM on same datasets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 </a:t>
            </a:r>
            <a:r>
              <a:rPr sz="1500" b="0">
                <a:solidFill>
                  <a:srgbClr val="000000"/>
                </a:solidFill>
                <a:latin typeface="Calibri"/>
              </a:rPr>
              <a:t>Produce 'correction capability curve' as function of model capacity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2. Fine-tune for conservative OCR correction: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 </a:t>
            </a:r>
            <a:r>
              <a:rPr sz="1500" b="0">
                <a:solidFill>
                  <a:srgbClr val="000000"/>
                </a:solidFill>
                <a:latin typeface="Calibri"/>
              </a:rPr>
              <a:t>Train on (OCR, GT) pairs WITH 'return unchanged' supervision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 </a:t>
            </a:r>
            <a:r>
              <a:rPr sz="1500" b="0">
                <a:solidFill>
                  <a:srgbClr val="000000"/>
                </a:solidFill>
                <a:latin typeface="Calibri"/>
              </a:rPr>
              <a:t>Directly reduce introduction rate -- lower threshold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3. Multi-modal correction for handwritten text: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 </a:t>
            </a:r>
            <a:r>
              <a:rPr sz="1500" b="0">
                <a:solidFill>
                  <a:srgbClr val="000000"/>
                </a:solidFill>
                <a:latin typeface="Calibri"/>
              </a:rPr>
              <a:t>VLM corrector (Qwen3-VL, GPT-4o-Vision) with image + OCR text input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 </a:t>
            </a:r>
            <a:r>
              <a:rPr sz="1500" b="0">
                <a:solidFill>
                  <a:srgbClr val="000000"/>
                </a:solidFill>
                <a:latin typeface="Calibri"/>
              </a:rPr>
              <a:t>Address segmentation errors via visual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4. Confidence-guided selective correction: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 </a:t>
            </a:r>
            <a:r>
              <a:rPr sz="1500" b="0">
                <a:solidFill>
                  <a:srgbClr val="000000"/>
                </a:solidFill>
                <a:latin typeface="Calibri"/>
              </a:rPr>
              <a:t>Route only low-confidence OCR tokens to LLM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 </a:t>
            </a:r>
            <a:r>
              <a:rPr sz="1500" b="0">
                <a:solidFill>
                  <a:srgbClr val="000000"/>
                </a:solidFill>
                <a:latin typeface="Calibri"/>
              </a:rPr>
              <a:t>Reduce introduction rate by restricting intervention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5. Extension to dialectal Arabic: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 </a:t>
            </a:r>
            <a:r>
              <a:rPr sz="1500" b="0">
                <a:solidFill>
                  <a:srgbClr val="000000"/>
                </a:solidFill>
                <a:latin typeface="Calibri"/>
              </a:rPr>
              <a:t>Egyptian, Gulf, Levantine -- non-standard spelling, code-switching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 </a:t>
            </a:r>
            <a:r>
              <a:rPr sz="1500" b="0">
                <a:solidFill>
                  <a:srgbClr val="000000"/>
                </a:solidFill>
                <a:latin typeface="Calibri"/>
              </a:rPr>
              <a:t>Dialect-specific self-reflective insights needed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6. Cross-engine comparison: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 </a:t>
            </a:r>
            <a:r>
              <a:rPr sz="1500" b="0">
                <a:solidFill>
                  <a:srgbClr val="000000"/>
                </a:solidFill>
                <a:latin typeface="Calibri"/>
              </a:rPr>
              <a:t>Tesseract, TrOCR (Arabic), commercial services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 </a:t>
            </a:r>
            <a:r>
              <a:rPr sz="1500" b="0">
                <a:solidFill>
                  <a:srgbClr val="000000"/>
                </a:solidFill>
                <a:latin typeface="Calibri"/>
              </a:rPr>
              <a:t>Test generality of Phase 3 + Phase 4 approach</a:t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/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7. Adversarial stress testing:</a:t>
            </a:r>
            <a:r>
              <a:rPr sz="15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950"/>
              </a:lnSpc>
              <a:spcAft>
                <a:spcPts val="400"/>
              </a:spcAft>
            </a:pPr>
            <a:r>
              <a:rPr sz="1500" b="1">
                <a:solidFill>
                  <a:srgbClr val="000000"/>
                </a:solidFill>
                <a:latin typeface="Calibri"/>
              </a:rPr>
              <a:t>   </a:t>
            </a:r>
            <a:r>
              <a:rPr sz="1500" b="0">
                <a:solidFill>
                  <a:srgbClr val="000000"/>
                </a:solidFill>
                <a:latin typeface="Calibri"/>
              </a:rPr>
              <a:t>Degraded images, historical documents, low resolution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Conclusion &amp;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4A017"/>
                </a:solidFill>
                <a:latin typeface="Calibri"/>
              </a:defRPr>
            </a:pPr>
            <a:r>
              <a:t>Summary of Findings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Final Ranking: All Experiments — Best PATS &amp; KHATT Configs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50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Experiment / Phase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PATS CER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KHATT CER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Exp2 / T3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Conservative ZS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32.93%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Best PATS ever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Exp3 / Gemma-3-12B T2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Best model, PATS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5.33%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35.98%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Best model PATS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Exp2 / T2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Base +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Best overall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Exp1 / P8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RAG BM25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5.45%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33.83%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Best Exp1 PATS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Exp1 / P9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Error-Sig 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Best KHATT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Exp1 / P4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Self-Reflective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5.59%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33.24%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Best isolated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Exp1 /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OCR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34.24%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Exp2 / T7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EP+Cons ZS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190.60%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51.64%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CATASTROPHIC</a:t>
                      </a:r>
                    </a:p>
                  </a:txBody>
                  <a:tcPr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Hierarchy: </a:t>
            </a:r>
            <a:r>
              <a:rPr sz="1300" b="0">
                <a:solidFill>
                  <a:srgbClr val="000000"/>
                </a:solidFill>
                <a:latin typeface="Calibri"/>
              </a:rPr>
              <a:t>Conservative prompt (T3) &gt; RAG (P8/T2) &gt; Self-reflective (P4) &gt; Confusion matrix (P3) &gt; Zero-shot (P2) &gt; OCR baseline for PATS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KHATT: </a:t>
            </a:r>
            <a:r>
              <a:rPr sz="1300" b="0">
                <a:solidFill>
                  <a:srgbClr val="000000"/>
                </a:solidFill>
                <a:latin typeface="Calibri"/>
              </a:rPr>
              <a:t>P9 Error-Sig RAG best (33.13%); T8 best overall (32.54%); T2 best balanced (33.82%)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Full-page: </a:t>
            </a:r>
            <a:r>
              <a:rPr sz="1300" b="0">
                <a:solidFill>
                  <a:srgbClr val="000000"/>
                </a:solidFill>
                <a:latin typeface="Calibri"/>
              </a:rPr>
              <a:t>Qwen3-4B + T2 + runaway corrector: OCR 86.50% -&gt; 68.18% (-21.2% abs). KHATT-Para 61.68% -&gt; 45.06%.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Conclusion (3 Experiments, 13 Datasets)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Experiment 1 (Phases 1-9, 9 datasets):</a:t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Zero-shot HARMS PATS avg: 5.57% -&gt; 5.84% (+4.8%). Only Traditional benefits (-18.5%).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Best Exp1 PATS: P8 RAG (5.45%, -0.12% vs OCR baseline). Best KHATT: P9 (33.13%, -1.11%).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Over-correction threshold: ~6-7% CER. Font error TYPE governs outcome, not just rate.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/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Experiment 2 (8 trials, 13 datasets, 4 new full-page domains):</a:t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T3 conservative ZS best PATS ever: 5.27% (-5.4% rel, no retrieval). T2 best overall: 5.44% PATS + 33.82% KHATT.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Full-page: OCR 86.50% -&gt; T2 68.18% (-21.2% abs after runaway correction).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Error-pattern prompts brittle: T7 = 190.60% PATS (template injection failure).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/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Experiment 3 (4 models, 2 OCR sources, 2 held-out benchmarks):</a:t>
            </a:r>
            <a:r>
              <a:rPr sz="13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Gemma-3-12B best PATS (5.33%); Qwen3-4B best KHATT (33.82%) + full-page (68.18%).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Larger != better: Qwen3-14B worse than 4B after runaway correction.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Generalises to unseen benchmarks: RDI-Test-Lines -10.7%, Kitab -17 to -24% relative.</a:t>
            </a:r>
          </a:p>
          <a:p>
            <a:pPr>
              <a:lnSpc>
                <a:spcPts val="1690"/>
              </a:lnSpc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  <a:latin typeface="Calibri"/>
              </a:rPr>
              <a:t>  </a:t>
            </a:r>
            <a:r>
              <a:rPr sz="1300" b="0">
                <a:solidFill>
                  <a:srgbClr val="000000"/>
                </a:solidFill>
                <a:latin typeface="Calibri"/>
              </a:rPr>
              <a:t>Over-correction confirmed on new domains: low-CER subsets harmed.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Thesis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5D6D7E"/>
                </a:solidFill>
                <a:latin typeface="Calibri"/>
              </a:defRPr>
            </a:pPr>
            <a:r>
              <a:t>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1. Over-correction threshold model: </a:t>
            </a:r>
            <a:r>
              <a:rPr sz="1400" b="0">
                <a:solidFill>
                  <a:srgbClr val="000000"/>
                </a:solidFill>
                <a:latin typeface="Calibri"/>
              </a:rPr>
              <a:t>e* ~ 6-7% CER for Qwen3-4B + Qaari. Empirical estimation via fix/intro rate analysis. Explains font-dependent patterns, predicts new domains.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2. Complementarity proof: </a:t>
            </a:r>
            <a:r>
              <a:rPr sz="1400" b="0">
                <a:solidFill>
                  <a:srgbClr val="000000"/>
                </a:solidFill>
                <a:latin typeface="Calibri"/>
              </a:rPr>
              <a:t>Confusion-matrix (raises fix rate rf) + Self-reflective (lowers intro rate ri) address orthogonal failure modes, combine near-additively.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3. 13-dataset evaluation: </a:t>
            </a:r>
            <a:r>
              <a:rPr sz="1400" b="0">
                <a:solidFill>
                  <a:srgbClr val="000000"/>
                </a:solidFill>
                <a:latin typeface="Calibri"/>
              </a:rPr>
              <a:t>PATS-A01 (8 fonts) + KHATT + KHATT-Para + Yarmouk + Muharaf + Historical + RDI-Test-Lines + Kitab. 2.12% to 205% CER range. 3 experiments.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4. Conservative prompting discovery: </a:t>
            </a:r>
            <a:r>
              <a:rPr sz="1400" b="0">
                <a:solidFill>
                  <a:srgbClr val="000000"/>
                </a:solidFill>
                <a:latin typeface="Calibri"/>
              </a:rPr>
              <a:t>T3 (5.27% PATS) beats ALL knowledge augmentation without retrieval overhead. Reducing intervention tendency &gt; providing more targets.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5. Multi-model benchmarking: </a:t>
            </a:r>
            <a:r>
              <a:rPr sz="1400" b="0">
                <a:solidFill>
                  <a:srgbClr val="000000"/>
                </a:solidFill>
                <a:latin typeface="Calibri"/>
              </a:rPr>
              <a:t>Qwen3-4B vs 14B vs Gemma-3-4B vs 12B. Qaari vs Gemma VLM OCR. Larger != better. Runaway corrector critical.</a:t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/>
            </a:r>
            <a:r>
              <a:rPr sz="1400" b="0">
                <a:solidFill>
                  <a:srgbClr val="000000"/>
                </a:solidFill>
                <a:latin typeface="Calibri"/>
              </a:rPr>
              <a:t/>
            </a:r>
          </a:p>
          <a:p>
            <a:pPr>
              <a:lnSpc>
                <a:spcPts val="1820"/>
              </a:lnSpc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6. Three-stage export-infer-analyse pipeline: </a:t>
            </a:r>
            <a:r>
              <a:rPr sz="1400" b="0">
                <a:solidFill>
                  <a:srgbClr val="000000"/>
                </a:solidFill>
                <a:latin typeface="Calibri"/>
              </a:rPr>
              <a:t>Reproducible framework: no local GPU needed. JSONL checkpointing. HuggingFace sync. Resume-safe.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D4A017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6EAF8"/>
                </a:solidFill>
                <a:latin typeface="Calibri"/>
              </a:defRPr>
            </a:pPr>
            <a:r>
              <a:t>Mohamed Sabry  |  Faculty of Engineering, Cairo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
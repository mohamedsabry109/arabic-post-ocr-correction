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Knowledge-Augmented Large Language Models</a:t>
            </a:r>
            <a:br/>
            <a:r>
              <a:t>for Arabic Post-OCR Error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017"/>
                </a:solidFill>
                <a:latin typeface="Calibri"/>
              </a:defRPr>
            </a:pPr>
            <a:r>
              <a:t>Master's Thesis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Mohamed Sabry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Faculty of Engineering, Cairo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144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1.  Motivation &amp; Problem Statement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2.  Background: Arabic Script &amp; OCR Challenges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3.  LLM Foundations: Architecture, Training &amp; Why LLMs for Post-OCR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4.  Research Questions (7 RQs)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5.  System Design: Three-Stage Pipeline &amp; Datasets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6.  Experimental Methodology (Phases 1-6)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7.  Phase 1 Results: OCR Error Characterisation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8.  Phase 2 Results: Zero-Shot LLM Correction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9.  Phases 3-5 Results: Isolated Knowledge Augmentation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10. Phase 6 Results: Combinations, Ablation &amp; Statistical Significance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11. The Over-Correction Threshold: Theoretical Model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12. Why Handwritten Correction Differs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13. System Design Recommendations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14. Limitations &amp; Future Work</a:t>
            </a:r>
          </a:p>
          <a:p>
            <a:pPr>
              <a:lnSpc>
                <a:spcPts val="234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15. Conclusion &amp; Contributions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Motivation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Why Arabic Post-OCR Correction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Arabic OCR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Digitisation bottleneck: </a:t>
            </a:r>
            <a:r>
              <a:rPr sz="1600" b="0">
                <a:solidFill>
                  <a:srgbClr val="000000"/>
                </a:solidFill>
                <a:latin typeface="Calibri"/>
              </a:rPr>
              <a:t>Arabic archives, government docs, historical texts all depend on OCR as entry point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Arabic script challenges: </a:t>
            </a:r>
            <a:r>
              <a:rPr sz="1600" b="0">
                <a:solidFill>
                  <a:srgbClr val="000000"/>
                </a:solidFill>
                <a:latin typeface="Calibri"/>
              </a:rPr>
              <a:t>cursive writing, position-dependent glyph shapes, dot-group confusions (ba/ta/tha/ya/na), diacritics, ligatures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Open-source vs. closed-source gap: </a:t>
            </a:r>
            <a:r>
              <a:rPr sz="1600" b="0">
                <a:solidFill>
                  <a:srgbClr val="000000"/>
                </a:solidFill>
                <a:latin typeface="Calibri"/>
              </a:rPr>
              <a:t>Qaari (open-source VLM-based OCR) produces systematic errors; closed-source engines are expensive and non-reproducible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Downstream impact: </a:t>
            </a:r>
            <a:r>
              <a:rPr sz="1600" b="0">
                <a:solidFill>
                  <a:srgbClr val="000000"/>
                </a:solidFill>
                <a:latin typeface="Calibri"/>
              </a:rPr>
              <a:t>OCR errors propagate to search, MT, TTS, and information extraction</a:t>
            </a:r>
          </a:p>
          <a:p>
            <a:pPr>
              <a:lnSpc>
                <a:spcPts val="208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Research question: </a:t>
            </a:r>
            <a:r>
              <a:rPr sz="1600" b="0">
                <a:solidFill>
                  <a:srgbClr val="000000"/>
                </a:solidFill>
                <a:latin typeface="Calibri"/>
              </a:rPr>
              <a:t>Can post-OCR correction via a lightweight LLM close this gap without modifying the recognition engine?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Central Hypothesis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286000"/>
            <a:ext cx="5029200" cy="2743200"/>
          </a:xfrm>
          <a:prstGeom prst="roundRect">
            <a:avLst/>
          </a:prstGeom>
          <a:solidFill>
            <a:srgbClr val="D6EAF8"/>
          </a:solidFill>
          <a:ln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500">
                <a:solidFill>
                  <a:srgbClr val="1B3A5C"/>
                </a:solidFill>
                <a:latin typeface="Calibri"/>
              </a:defRPr>
            </a:pPr>
            <a:r>
              <a:t>A 4B-parameter instruction-tuned LLM (Qwen3-4B) can correct systematic OCR errors through prompt engineering alone. Injecting linguistic knowledge (confusion matrices, self-reflective error analysis, morphological validation) into the prompt further improves correction quality, but the benefit depends on the baseline OCR error profile.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Arabic Script Properties &amp; Related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Arabic Script Properties &amp; OCR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Cursive script: </a:t>
            </a:r>
            <a:r>
              <a:rPr sz="1500" b="0">
                <a:solidFill>
                  <a:srgbClr val="000000"/>
                </a:solidFill>
                <a:latin typeface="Calibri"/>
              </a:rPr>
              <a:t>letters connect within words; shape depends on position (isolated/initial/medial/final)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Dot-group characters: </a:t>
            </a:r>
            <a:r>
              <a:rPr sz="1500" b="0">
                <a:solidFill>
                  <a:srgbClr val="000000"/>
                </a:solidFill>
                <a:latin typeface="Calibri"/>
              </a:rPr>
              <a:t>ba/ta/tha/ya/na share same skeleton, differ only in dot count/placement -- 42% of PATS-A01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Similar-shape pairs: </a:t>
            </a:r>
            <a:r>
              <a:rPr sz="1500" b="0">
                <a:solidFill>
                  <a:srgbClr val="000000"/>
                </a:solidFill>
                <a:latin typeface="Calibri"/>
              </a:rPr>
              <a:t>fa/qaf (1 vs 2 dots above), ra/zay, sad/dad, sin/shin -- 18% of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Hamza orthography: </a:t>
            </a:r>
            <a:r>
              <a:rPr sz="1500" b="0">
                <a:solidFill>
                  <a:srgbClr val="000000"/>
                </a:solidFill>
                <a:latin typeface="Calibri"/>
              </a:rPr>
              <a:t>6+ hamza-carrier combinations create ambiguity -- 12% of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Taa marbuta / ha: </a:t>
            </a:r>
            <a:r>
              <a:rPr sz="1500" b="0">
                <a:solidFill>
                  <a:srgbClr val="000000"/>
                </a:solidFill>
                <a:latin typeface="Calibri"/>
              </a:rPr>
              <a:t>visually near-identical in many fonts -- 9% of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Segmentation: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no inter-character gaps in cursive; word merge/split errors dominate handwritten text (37% of KHATT errors)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Font diversity: </a:t>
            </a:r>
            <a:r>
              <a:rPr sz="1500" b="0">
                <a:solidFill>
                  <a:srgbClr val="000000"/>
                </a:solidFill>
                <a:latin typeface="Calibri"/>
              </a:rPr>
              <a:t>same text in 8 fonts produces CER ranging 4.3% to 24.3% -- a 5.6:1 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Dot-Group Confusion Example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920240"/>
          <a:ext cx="5303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Char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OCR Char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Difference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Conf. Rate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dot below vs above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1,847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 dot below vs 2 above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1,203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qaf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 dots vs 1 dot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hamza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alef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hamza presence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743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taa-m.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dot presence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Related Work &amp;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Post-OCR correction paradigms: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Rule-based: </a:t>
            </a:r>
            <a:r>
              <a:rPr sz="1500" b="0">
                <a:solidFill>
                  <a:srgbClr val="000000"/>
                </a:solidFill>
                <a:latin typeface="Calibri"/>
              </a:rPr>
              <a:t>pattern matching, dictionaries -- limited to known error patterns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Statistical: </a:t>
            </a:r>
            <a:r>
              <a:rPr sz="1500" b="0">
                <a:solidFill>
                  <a:srgbClr val="000000"/>
                </a:solidFill>
                <a:latin typeface="Calibri"/>
              </a:rPr>
              <a:t>n-gram LMs, noisy channel models -- language-model-guided substitution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Neural seq2seq: </a:t>
            </a:r>
            <a:r>
              <a:rPr sz="1500" b="0">
                <a:solidFill>
                  <a:srgbClr val="000000"/>
                </a:solidFill>
                <a:latin typeface="Calibri"/>
              </a:rPr>
              <a:t>encoder-decoder on (OCR, GT) pairs -- requires large training data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LLM-based: </a:t>
            </a:r>
            <a:r>
              <a:rPr sz="1500" b="0">
                <a:solidFill>
                  <a:srgbClr val="000000"/>
                </a:solidFill>
                <a:latin typeface="Calibri"/>
              </a:rPr>
              <a:t>prompt engineering on pre-trained LLMs -- THIS THESIS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Key gap in literature: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1. </a:t>
            </a:r>
            <a:r>
              <a:rPr sz="1500" b="0">
                <a:solidFill>
                  <a:srgbClr val="000000"/>
                </a:solidFill>
                <a:latin typeface="Calibri"/>
              </a:rPr>
              <a:t>No systematic multi-font evaluation of LLM post-OCR for Arabic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2. </a:t>
            </a:r>
            <a:r>
              <a:rPr sz="1500" b="0">
                <a:solidFill>
                  <a:srgbClr val="000000"/>
                </a:solidFill>
                <a:latin typeface="Calibri"/>
              </a:rPr>
              <a:t>No study of over-correction behaviour (when LLM hurts)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3. </a:t>
            </a:r>
            <a:r>
              <a:rPr sz="1500" b="0">
                <a:solidFill>
                  <a:srgbClr val="000000"/>
                </a:solidFill>
                <a:latin typeface="Calibri"/>
              </a:rPr>
              <a:t>No ablation of knowledge augmentation components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4. </a:t>
            </a:r>
            <a:r>
              <a:rPr sz="1500" b="0">
                <a:solidFill>
                  <a:srgbClr val="000000"/>
                </a:solidFill>
                <a:latin typeface="Calibri"/>
              </a:rPr>
              <a:t>Limited work on Arabic-specific error taxonomy +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Our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1. Systematic 7-phase experimental framework for Arabic post-OCR correction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2. Over-correction threshold: formal model of when LLM correction helps vs hurts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3. Complementarity proof: confusion-matrix + self-reflective prompting are orthogonal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4. 9-dataset evaluation (8 typewritten fonts + 1 handwritten) with aligned splits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5. Three-stage export-infer-analyse pipeline for reproducible GPU-free local analysis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6. Empirical characterisation of the font-dependent correction boundary (~6-7% CER)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LLM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Architecture, Training Pipeline &amp; Why LLMs for Post-OCR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Transformer Architecture &amp; Scaling Laws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From N-grams to Transformers: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N-gram LMs: </a:t>
            </a:r>
            <a:r>
              <a:rPr sz="1400" b="0">
                <a:solidFill>
                  <a:srgbClr val="000000"/>
                </a:solidFill>
                <a:latin typeface="Calibri"/>
              </a:rPr>
              <a:t>P(w_t | w_{t-n+1},...,w_{t-1}) -- sparse, limited context window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Word embeddings: </a:t>
            </a:r>
            <a:r>
              <a:rPr sz="1400" b="0">
                <a:solidFill>
                  <a:srgbClr val="000000"/>
                </a:solidFill>
                <a:latin typeface="Calibri"/>
              </a:rPr>
              <a:t>dense vectors in R^d encoding semantic relationships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RNNs/LSTMs: </a:t>
            </a:r>
            <a:r>
              <a:rPr sz="1400" b="0">
                <a:solidFill>
                  <a:srgbClr val="000000"/>
                </a:solidFill>
                <a:latin typeface="Calibri"/>
              </a:rPr>
              <a:t>sequential processing, vanishing gradients over long sequences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Transformer (Vaswani et al., 2017): </a:t>
            </a:r>
            <a:r>
              <a:rPr sz="1400" b="0">
                <a:solidFill>
                  <a:srgbClr val="000000"/>
                </a:solidFill>
                <a:latin typeface="Calibri"/>
              </a:rPr>
              <a:t>self-attention replaces recurrence entirely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Self-attention mechanism: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Q, K, V projections of input; Attention(Q,K,V) = softmax(QK^T / sqrt(d_k)) V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O(n^2) complexity but fully parallelisable -- enables massive scaling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Multi-head attention captures different linguistic aspects simultaneously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Scaling laws: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Kaplan et al. (2020): </a:t>
            </a:r>
            <a:r>
              <a:rPr sz="1400" b="0">
                <a:solidFill>
                  <a:srgbClr val="000000"/>
                </a:solidFill>
                <a:latin typeface="Calibri"/>
              </a:rPr>
              <a:t>loss scales as power law with model size, data, and compute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Hoffmann et al. (2022): </a:t>
            </a:r>
            <a:r>
              <a:rPr sz="1400" b="0">
                <a:solidFill>
                  <a:srgbClr val="000000"/>
                </a:solidFill>
                <a:latin typeface="Calibri"/>
              </a:rPr>
              <a:t>compute-optimal training balances parameters and 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3A5C"/>
                </a:solidFill>
                <a:latin typeface="Calibri"/>
              </a:defRPr>
            </a:pPr>
            <a:r>
              <a:t>Emergent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Wei et al. (2022): capabilities emerge</a:t>
            </a:r>
            <a:r>
              <a:rPr sz="1400" b="0">
                <a:solidFill>
                  <a:srgbClr val="000000"/>
                </a:solidFill>
                <a:latin typeface="Calibri"/>
              </a:rPr>
              <a:t> at scale that are absent in smaller models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Relevant emergent abilities: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In-context learning: </a:t>
            </a:r>
            <a:r>
              <a:rPr sz="1400" b="0">
                <a:solidFill>
                  <a:srgbClr val="000000"/>
                </a:solidFill>
                <a:latin typeface="Calibri"/>
              </a:rPr>
              <a:t>adapt to new tasks from prompt examples alone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Instruction following: </a:t>
            </a:r>
            <a:r>
              <a:rPr sz="1400" b="0">
                <a:solidFill>
                  <a:srgbClr val="000000"/>
                </a:solidFill>
                <a:latin typeface="Calibri"/>
              </a:rPr>
              <a:t>execute complex multi-step instructions without fine-tuning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Self-correction: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identify and revise own outputs when given feedback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Why this matters for OCR correction: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 4B-parameter model can follow Arabic-specific correction instructions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Knowledge augmentation via prompting leverages in-context learning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No task-specific fine-tuning needed -- zero-shot generalisation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LLM Training Pipeline: Three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Stage 1: Pre-Training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Autoregressive next-token prediction: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L = -sum log P(x_t | x_{&lt;t})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Trained on trillions of tokens (web, books, code)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Learns grammar, facts, reasoning patterns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Arabic text included in multilingual corpora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0972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Stage 2: Instruction Tuning (SFT)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459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Supervised fine-tuning on (instruction, response) pairs: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Transforms base model into instruction-follower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Teaches format compliance, task decomposition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Qwen3-4B-Instruct uses SFT on multilingual tasks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Enables: 'Correct OCR errors in this text'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Stage 3: Alignment (RLHF/DPO)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64592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Align outputs with human preferences:</a:t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RLHF: </a:t>
            </a:r>
            <a:r>
              <a:rPr sz="1300" b="0">
                <a:solidFill>
                  <a:srgbClr val="000000"/>
                </a:solidFill>
                <a:latin typeface="Calibri"/>
              </a:rPr>
              <a:t>reward model + PPO optimisation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DPO: </a:t>
            </a:r>
            <a:r>
              <a:rPr sz="1300" b="0">
                <a:solidFill>
                  <a:srgbClr val="000000"/>
                </a:solidFill>
                <a:latin typeface="Calibri"/>
              </a:rPr>
              <a:t>direct preference optimisation (no reward model)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Reduces harmful outputs, improves helpfulness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  </a:t>
            </a:r>
            <a:r>
              <a:rPr sz="1300" b="0">
                <a:solidFill>
                  <a:srgbClr val="000000"/>
                </a:solidFill>
                <a:latin typeface="Calibri"/>
              </a:rPr>
              <a:t>Implicitly teaches conservative behaviour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11247120" cy="2743200"/>
          </a:xfrm>
          <a:prstGeom prst="roundRect">
            <a:avLst/>
          </a:prstGeom>
          <a:solidFill>
            <a:srgbClr val="D6EAF8"/>
          </a:solidFill>
          <a:ln>
            <a:solidFill>
              <a:srgbClr val="2D6A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Connection to Post-OCR Correction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Pre-training: gives broad Arabic linguistic knowledge (morphology, syntax, common word patterns)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Instruction tuning: enables the model to follow correction prompts faithfully, return text in expected format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Alignment: teaches conservative behaviour -- but also causes OVER-CORRECTION (the model 'helpfully' changes text that was already correct)</a:t>
            </a:r>
          </a:p>
          <a:p>
            <a:pPr>
              <a:spcBef>
                <a:spcPts val="4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  Key tension: alignment makes model want to 'help' by changing text, but OCR correction requires knowing when NOT to change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LLMs Over Traditional &amp; Deep Learning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6858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Rule-based / Statistical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Precise for known patterns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Low computational cost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Interpretable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Cannot handle unseen errors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Manual rule engineering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contextual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Neural Seq2Seq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Learns from (OCR, GT) pairs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Handles complex patterns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End-to-end training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Requires large parallel data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Fragile to domain shift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zero-shot capability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LLM-based (THIS 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 generalisation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In-context knowledge injection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Multilingual pre-training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task-specific training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Over-correction risk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Computational cost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Token-level (not image-level)</a:t>
                      </a:r>
                    </a:p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Hallucination potential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188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5 Key Advantages of LLMs for Arabic OCR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1. Broad Arabic knowledge: </a:t>
            </a:r>
            <a:r>
              <a:rPr sz="1300" b="0">
                <a:solidFill>
                  <a:srgbClr val="000000"/>
                </a:solidFill>
                <a:latin typeface="Calibri"/>
              </a:rPr>
              <a:t>pre-trained on billions of Arabic tokens -- knows morphology, common words, syntactic patterns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2. Contextual reasoning: </a:t>
            </a:r>
            <a:r>
              <a:rPr sz="1300" b="0">
                <a:solidFill>
                  <a:srgbClr val="000000"/>
                </a:solidFill>
                <a:latin typeface="Calibri"/>
              </a:rPr>
              <a:t>self-attention considers entire sentence when deciding if a word is correct or erroneous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3. Zero-shot deployment: </a:t>
            </a:r>
            <a:r>
              <a:rPr sz="1300" b="0">
                <a:solidFill>
                  <a:srgbClr val="000000"/>
                </a:solidFill>
                <a:latin typeface="Calibri"/>
              </a:rPr>
              <a:t>no (OCR, GT) parallel corpus needed -- works out of the box with prompt engineering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4. Knowledge injection via prompt: </a:t>
            </a:r>
            <a:r>
              <a:rPr sz="1300" b="0">
                <a:solidFill>
                  <a:srgbClr val="000000"/>
                </a:solidFill>
                <a:latin typeface="Calibri"/>
              </a:rPr>
              <a:t>confusion matrices, error statistics, overcorrection warnings all added at inference time</a:t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/>
            </a:r>
            <a:r>
              <a:rPr sz="13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690"/>
              </a:lnSpc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5. Arabic morphological awareness: </a:t>
            </a:r>
            <a:r>
              <a:rPr sz="1300" b="0">
                <a:solidFill>
                  <a:srgbClr val="000000"/>
                </a:solidFill>
                <a:latin typeface="Calibri"/>
              </a:rPr>
              <a:t>instruction-tuned models understand Arabic root-pattern system, enabling valid-but-wrong error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Bottom line: </a:t>
            </a:r>
            <a:r>
              <a:rPr sz="1500" b="0">
                <a:solidFill>
                  <a:srgbClr val="000000"/>
                </a:solidFill>
                <a:latin typeface="Calibri"/>
              </a:rPr>
              <a:t>Rule-based and seq2seq methods require either manual engineering or large parallel corpora. LLMs provide a middle path: broad linguistic competence + controllable behaviour through prompt engineering. The cost is over-correction risk -- which this thesis characterises formally.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7 Research Questions Across 6 Experimental Phases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RQ1 (Phase 1): </a:t>
            </a:r>
            <a:r>
              <a:rPr sz="1700" b="0">
                <a:solidFill>
                  <a:srgbClr val="000000"/>
                </a:solidFill>
                <a:latin typeface="Calibri"/>
              </a:rPr>
              <a:t>What are the characteristics of Qaari OCR errors across fonts and script types?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RQ2 (Phase 2): </a:t>
            </a:r>
            <a:r>
              <a:rPr sz="1700" b="0">
                <a:solidFill>
                  <a:srgbClr val="000000"/>
                </a:solidFill>
                <a:latin typeface="Calibri"/>
              </a:rPr>
              <a:t>Can a zero-shot LLM correct Arabic OCR errors? How does it vary across fonts?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RQ3 (Phase 3):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injecting the OCR engine's character confusion matrix improve correction?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RQ4 (Phase 4):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feeding the model its own training-split error statistics (self-reflective prompting) improve correction?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RQ5 (Phase 5):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CAMeL Tools morphological post-processing with known-overcorrection revert help?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RQ6 (Phase 6): </a:t>
            </a:r>
            <a:r>
              <a:rPr sz="1700" b="0">
                <a:solidFill>
                  <a:srgbClr val="000000"/>
                </a:solidFill>
                <a:latin typeface="Calibri"/>
              </a:rPr>
              <a:t>Which combination of strategies is optimal? What does each contribute in ablation?</a:t>
            </a:r>
          </a:p>
          <a:p>
            <a:pPr>
              <a:lnSpc>
                <a:spcPts val="2210"/>
              </a:lnSpc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RQ7 (Overarching):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the baseline OCR error profile determine correction effectiveness, or can knowledge augmentation overcome the over-correction problem?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System Design &amp;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Three-Stage Pipeline, PATS-A01, KHATT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Three-Stage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Design constraint: </a:t>
            </a:r>
            <a:r>
              <a:rPr sz="1500" b="0">
                <a:solidFill>
                  <a:srgbClr val="000000"/>
                </a:solidFill>
                <a:latin typeface="Calibri"/>
              </a:rPr>
              <a:t>no local GPU -- local machine handles data, cloud GPU handles inference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Communication: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JSONL files (inference_input.jsonl, corrections.jsonl)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Benefit: </a:t>
            </a:r>
            <a:r>
              <a:rPr sz="1500" b="0">
                <a:solidFill>
                  <a:srgbClr val="000000"/>
                </a:solidFill>
                <a:latin typeface="Calibri"/>
              </a:rPr>
              <a:t>any cloud platform (Kaggle, Colab, Thunder) can run inference; analysis is reproducible locally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200400" cy="2560320"/>
          </a:xfrm>
          <a:prstGeom prst="roundRect">
            <a:avLst/>
          </a:prstGeom>
          <a:solidFill>
            <a:srgbClr val="D6EAF8"/>
          </a:solidFill>
          <a:ln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EXPORT</a:t>
            </a:r>
            <a:br/>
            <a:r>
              <a:t>(Local)</a:t>
            </a:r>
          </a:p>
          <a:p>
            <a:pPr algn="ctr">
              <a:spcBef>
                <a:spcPts val="12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Load OCR + GT</a:t>
            </a:r>
            <a:br/>
            <a:r>
              <a:t>Build prompts</a:t>
            </a:r>
            <a:br/>
            <a:r>
              <a:t>Write JSONL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657600"/>
            <a:ext cx="3200400" cy="2560320"/>
          </a:xfrm>
          <a:prstGeom prst="roundRect">
            <a:avLst/>
          </a:prstGeom>
          <a:solidFill>
            <a:srgbClr val="D5F5E3"/>
          </a:solidFill>
          <a:ln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INFERENCE</a:t>
            </a:r>
            <a:br/>
            <a:r>
              <a:t>(Cloud GPU)</a:t>
            </a:r>
          </a:p>
          <a:p>
            <a:pPr algn="ctr">
              <a:spcBef>
                <a:spcPts val="12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Load Qwen3-4B</a:t>
            </a:r>
            <a:br/>
            <a:r>
              <a:t>Run prompts</a:t>
            </a:r>
            <a:br/>
            <a:r>
              <a:t>Append corrections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657600"/>
            <a:ext cx="3200400" cy="2560320"/>
          </a:xfrm>
          <a:prstGeom prst="roundRect">
            <a:avLst/>
          </a:prstGeom>
          <a:solidFill>
            <a:srgbClr val="FDEDEC"/>
          </a:solidFill>
          <a:ln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ANALYZE</a:t>
            </a:r>
            <a:br/>
            <a:r>
              <a:t>(Local)</a:t>
            </a:r>
          </a:p>
          <a:p>
            <a:pPr algn="ctr">
              <a:spcBef>
                <a:spcPts val="12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t>Read corrections</a:t>
            </a:r>
            <a:br/>
            <a:r>
              <a:t>Compute CER/WER</a:t>
            </a:r>
            <a:br/>
            <a:r>
              <a:t>Generate reports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31920" y="4572000"/>
            <a:ext cx="457200" cy="365760"/>
          </a:xfrm>
          <a:prstGeom prst="rightArrow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4572000"/>
            <a:ext cx="457200" cy="365760"/>
          </a:xfrm>
          <a:prstGeom prst="rightArrow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Datasets: PATS-A01 &amp; KHATT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PATS-A01: </a:t>
            </a:r>
            <a:r>
              <a:rPr sz="1500" b="0">
                <a:solidFill>
                  <a:srgbClr val="000000"/>
                </a:solidFill>
                <a:latin typeface="Calibri"/>
              </a:rPr>
              <a:t>8 Arabic typewritten fonts, same underlying text content, 2,766 lines/font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KHATT: </a:t>
            </a:r>
            <a:r>
              <a:rPr sz="1500" b="0">
                <a:solidFill>
                  <a:srgbClr val="000000"/>
                </a:solidFill>
                <a:latin typeface="Calibri"/>
              </a:rPr>
              <a:t>handwritten Arabic, train + validation splits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Aligned 85/15 split: </a:t>
            </a:r>
            <a:r>
              <a:rPr sz="1500" b="0">
                <a:solidFill>
                  <a:srgbClr val="000000"/>
                </a:solidFill>
                <a:latin typeface="Calibri"/>
              </a:rPr>
              <a:t>seed=42, all 8 fonts receive identical 415 validation samples -- font is the ONLY variable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OCR engine: </a:t>
            </a:r>
            <a:r>
              <a:rPr sz="1500" b="0">
                <a:solidFill>
                  <a:srgbClr val="000000"/>
                </a:solidFill>
                <a:latin typeface="Calibri"/>
              </a:rPr>
              <a:t>Qaari (NAMAA-Space/Qari-OCR-0.1-VL-2B-Instruct), open-source VLM-based Arabic OCR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47472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Samples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WER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Andalus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Tahoma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Typewritten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415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PATS-A01 Macro-Avg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Handwritten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Var.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Experimental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Phases 1-6: Isolated Variables, Controlled Comparisons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Experimental Phases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22514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Changes vs Phase 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Knowledge Injected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 &amp; Error Taxonomy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 LLM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 LLM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None (conservative v2 prompt)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OCR-Aware Prompting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+Confusion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Top-10 failure-filtered char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Self-Reflective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+Training-split insights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Error stats + word-pair failures + overcorrection warning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Post-Processing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+Morphological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validation + known-overcorrection revert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Combinations + Ablation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Multi-component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conf_only, self_only, conf_self, best_camel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vs Phase 2 + ablation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Key design: </a:t>
            </a:r>
            <a:r>
              <a:rPr sz="1500" b="0">
                <a:solidFill>
                  <a:srgbClr val="000000"/>
                </a:solidFill>
                <a:latin typeface="Calibri"/>
              </a:rPr>
              <a:t>Phases 3-5 are ISOLATED experiments -- each changes exactly ONE variable vs Phase 2. Phase 6 tests combinations.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Evaluation: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CER/WER on validation split, diacritics stripped. PATS-A01 macro-average (equal weight per font). Paired t-tests + Bonferroni correction.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Prompt Engineering Strategies: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2 -- Zero-Shot (v2 conservative):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"If the text is correct, return it as-is. Only fix clear OCR errors."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Designed to minimise over-correction on clean input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3 -- Confusion Matrix Injection: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Top-10 char confusion pairs PER FONT, filtered by LLM failures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includes pairs the model does NOT handle at zero-shot level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Tells model WHAT to look for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4 -- Self-Reflective Prompting: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Arabic-language diagnostic derived from training-split Phase 2 errors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Includes: aggregate stats, concrete word-pair failures, overcorrection warning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Tells model HOW to behave (be conservative, avoid specific error types)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5 -- CAMeL Morphological Post-Processing: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Applied AFTER LLM correction (not during prompting)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Step 1: Validate each changed word via CAMeL morphological analyser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Step 2: If LLM output is morphologically invalid AND OCR original was valid, REVERT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Step 3: Known-overcorrection list -- revert specific word pairs known to be over-corrected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6 -- Combinations: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conf_only: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3 confusion matrix only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self_only: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4 self-reflective only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conf_self: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3 + Phase 4 combined in prompt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best_camel: </a:t>
            </a:r>
            <a:r>
              <a:rPr sz="1400" b="0">
                <a:solidFill>
                  <a:srgbClr val="000000"/>
                </a:solidFill>
                <a:latin typeface="Calibri"/>
              </a:rPr>
              <a:t>conf_self + Phase 5 CAMeL post-processing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Design rationale: </a:t>
            </a:r>
            <a:r>
              <a:rPr sz="1400" b="0">
                <a:solidFill>
                  <a:srgbClr val="000000"/>
                </a:solidFill>
                <a:latin typeface="Calibri"/>
              </a:rPr>
              <a:t>4 combinations test whether components are redundant, additive, or synergistic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1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OCR Error Characterisation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1: Error Type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556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Error Category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PATS-A01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Dot confusion (ba/ta/tha/ya/fa/qaf)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Similar-shape substitution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Hamza / alef variants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Taa marbuta / ha confusion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Alef maqsura / ya confusion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Word merge (segmentation)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Word split (segmentation)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Other (insertion, deletion, misc.)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0" y="11887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Key findings: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PATS-A01: </a:t>
            </a:r>
            <a:r>
              <a:rPr sz="1400" b="0">
                <a:solidFill>
                  <a:srgbClr val="000000"/>
                </a:solidFill>
                <a:latin typeface="Calibri"/>
              </a:rPr>
              <a:t>60%+ of errors are dot + similar-shape confusions -- targetable by confusion matrix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37% segmentation errors (merge + split) -- fundamentally harder for text-only LLM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Morphological validity: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PATS-A01: </a:t>
            </a:r>
            <a:r>
              <a:rPr sz="1400" b="0">
                <a:solidFill>
                  <a:srgbClr val="000000"/>
                </a:solidFill>
                <a:latin typeface="Calibri"/>
              </a:rPr>
              <a:t>71.3% of OCR errors are valid-but-wrong Arabic words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63.8% valid-but-wrong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Implication: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CAMeL morphological filter can only intercept the 28.7% non-word errors -- ceiling on Phase 5 effectiveness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2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Zero-Shot LLM Correction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2: Per-Font Zero-Shot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3152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15883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P1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P2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(pp)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Relative Change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+20.9% (HARMED)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-7.6%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-11.5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-81.0% (BEST)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Andalus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Tahoma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-2.8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-11.5%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15883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PATS-A01 Avg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5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-3.6%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18872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Critical findings: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Traditional: </a:t>
            </a:r>
            <a:r>
              <a:rPr sz="1400" b="0">
                <a:solidFill>
                  <a:srgbClr val="000000"/>
                </a:solidFill>
                <a:latin typeface="Calibri"/>
              </a:rPr>
              <a:t>-81% relative CER reduction (14.2% -&gt; 2.7%)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Akhbar: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font harmed by zero-shot (+0.9pp) -- over-correction on clean input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-3.6% relative despite 44.6% baseline -- segmentation errors limit text-only correction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Over-correction threshold: </a:t>
            </a:r>
            <a:r>
              <a:rPr sz="1400" b="0">
                <a:solidFill>
                  <a:srgbClr val="000000"/>
                </a:solidFill>
                <a:latin typeface="Calibri"/>
              </a:rPr>
              <a:t>between 4.3% (harmed) and 7.9% (helped) -- approx 6-7% CER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2: Fix Rate vs Introduction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 Rate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Intro Rate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Net Effect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Net HARM (few errors to fix)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Net benefit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Strong benefit (high fix, low intro)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Moderate benefit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Marginal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Akhbar paradox: </a:t>
            </a:r>
            <a:r>
              <a:rPr sz="1500" b="0">
                <a:solidFill>
                  <a:srgbClr val="000000"/>
                </a:solidFill>
                <a:latin typeface="Calibri"/>
              </a:rPr>
              <a:t>62.3% fix rate sounds good, but with only 4.3% baseline CER, the 25.1% introduction rate on the 95.7% correct tokens causes NET harm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Traditional success: </a:t>
            </a:r>
            <a:r>
              <a:rPr sz="1500" b="0">
                <a:solidFill>
                  <a:srgbClr val="000000"/>
                </a:solidFill>
                <a:latin typeface="Calibri"/>
              </a:rPr>
              <a:t>91.2% fix rate + only 8.4% introduction rate = dramatic improvement. Qaari's errors on this font are systematically 'obvious' to the LLM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Introduction rate is ~constant: </a:t>
            </a:r>
            <a:r>
              <a:rPr sz="1500" b="0">
                <a:solidFill>
                  <a:srgbClr val="000000"/>
                </a:solidFill>
                <a:latin typeface="Calibri"/>
              </a:rPr>
              <a:t>~20-25% across most fonts -- it depends on model behaviour, not input error rate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Phases 3-5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Isolated Knowledge Augmentation Experiments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Phases 3-5: Isolated Results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 LLM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(baseline)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(baseline)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OCR-Aware (Confusion)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Self-Reflective (BEST)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-0.7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-0.2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Post-Proc.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+0.1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+0.1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3 (Confusion Matrix):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Improves 7/9 datasets; only Akhbar degraded (+0.2pp)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Naskh benefits most (-0.8pp) -- most confusion pairs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Failure-filtering prevents injection of already-handled pairs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4 (Self-Reflective) -- STRONGEST ISOLATED: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Improves ALL 9 datasets including Akhbar (-0.3pp)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strategy that improves Akhbar -- overcorrection warning works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Naskh: -1.7pp (2x the benefit of Phase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5 (CAMeL Post-Processing):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Slight degradation on most fonts (+0.1pp avg)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3.4% of changed words reverted (PATS-A01)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71.3% valid-but-wrong errors pass morphological filter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Revert occasionally removes correct LLM fixes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Key insight: </a:t>
            </a:r>
            <a:r>
              <a:rPr sz="1400" b="0">
                <a:solidFill>
                  <a:srgbClr val="000000"/>
                </a:solidFill>
                <a:latin typeface="Calibri"/>
              </a:rPr>
              <a:t>Phase 4's success comes from TWO mechanisms: (1) targeted error guidance, (2) explicit overcorrection warning that shifts model behaviour towards conservatism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Phase 6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Combinations, Ablation &amp; Statistical Significance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6: Combination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Combination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P2 (zero-shot)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conf_only (P3)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-0.3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self_only (P4)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-0.7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-0.2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conf_self (P3+P4) -- BEST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-1.1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-0.6 pp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best_camel (P3+P4+P5)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-1.2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-0.5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1887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conf_self is best balanced: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PATS-A01: </a:t>
            </a:r>
            <a:r>
              <a:rPr sz="1400" b="0">
                <a:solidFill>
                  <a:srgbClr val="000000"/>
                </a:solidFill>
                <a:latin typeface="Calibri"/>
              </a:rPr>
              <a:t>11.2% (-21.1% vs OCR baseline)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KHATT: </a:t>
            </a:r>
            <a:r>
              <a:rPr sz="1400" b="0">
                <a:solidFill>
                  <a:srgbClr val="000000"/>
                </a:solidFill>
                <a:latin typeface="Calibri"/>
              </a:rPr>
              <a:t>42.4% (-5.0% vs OCR baseline)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best_camel: </a:t>
            </a:r>
            <a:r>
              <a:rPr sz="1400" b="0">
                <a:solidFill>
                  <a:srgbClr val="000000"/>
                </a:solidFill>
                <a:latin typeface="Calibri"/>
              </a:rPr>
              <a:t>+0.1pp on PATS but -0.1pp on KHATT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404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Font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conf_only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self_only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conf_self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best_camel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7.3%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Phase 6: Ablation &amp; Statistical Significance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CER (%)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 vs Full (pp)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conf_self (full)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Remove self-reflective (-P4)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+0.8 (P4 more important)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Remove confusion matrix (-P3)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0175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Phase 4 contributes more: </a:t>
            </a:r>
            <a:r>
              <a:rPr sz="1400" b="0">
                <a:solidFill>
                  <a:srgbClr val="000000"/>
                </a:solidFill>
                <a:latin typeface="Calibri"/>
              </a:rPr>
              <a:t>+0.8pp on removal vs +0.4pp for Phase 3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Both are necessary: </a:t>
            </a:r>
            <a:r>
              <a:rPr sz="1400" b="0">
                <a:solidFill>
                  <a:srgbClr val="000000"/>
                </a:solidFill>
                <a:latin typeface="Calibri"/>
              </a:rPr>
              <a:t>neither is redundant when the other is present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Near-additive: </a:t>
            </a:r>
            <a:r>
              <a:rPr sz="1400" b="0">
                <a:solidFill>
                  <a:srgbClr val="000000"/>
                </a:solidFill>
                <a:latin typeface="Calibri"/>
              </a:rPr>
              <a:t>Naskh: P3 alone -0.8 + P4 alone -1.7 = -2.5 predicted; actual conf_self = -2.4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188720"/>
          <a:ext cx="5760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Significant?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Thuluth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Traditional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&lt;0.001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1.84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Andalus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0.33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Tahoma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Naskh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&lt;0.001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Yes*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Akhbar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Simplified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KHATT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45720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D6D7E"/>
                </a:solidFill>
                <a:latin typeface="Calibri"/>
              </a:defRPr>
            </a:pPr>
            <a:r>
              <a:t>Bonferroni-corrected alpha = 0.0125 (4 comparisons). Significant on 6/9 datasets.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The Over-Correction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Central Theoretical Contribution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Over-Correction Threshold: Formal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Let e = baseline CER (fraction), rf = fix rate, ri = introduction rate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Expected CER after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CER_corrected = e * (1 - rf) + (1 - e) * ri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Correction is NET BENEFICIAL when: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e * rf  &gt;  (1-e) * ri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i.e., errors fixed &gt; errors introduced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Threshold (assuming constant rf):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e* = ri / (rf + ri)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Empirical estimate: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rf ~ 76%, ri ~ 22%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e* = 0.22 / (0.76 + 0.22) = 22.4% (aggregate)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Per-font crossing: ~6-7% CER (Akhbar 4.3% harmed, Simplified 7.9% helped)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the threshold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1. Explains Akhbar degradation: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at 4.3% CER, e &lt; e* so correction is harmful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2. Explains Traditional success: </a:t>
            </a:r>
            <a:r>
              <a:rPr sz="1400" b="0">
                <a:solidFill>
                  <a:srgbClr val="000000"/>
                </a:solidFill>
                <a:latin typeface="Calibri"/>
              </a:rPr>
              <a:t>at 14.2% CER with 91.2% fix rate + 8.4% intro rate, e &gt;&gt; e*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3. Augmentation shifts threshold: </a:t>
            </a:r>
            <a:r>
              <a:rPr sz="1400" b="0">
                <a:solidFill>
                  <a:srgbClr val="000000"/>
                </a:solidFill>
                <a:latin typeface="Calibri"/>
              </a:rPr>
              <a:t>adding knowledge to prompt raises ri (model becomes more interventionist), raising e*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4. Phase 4 exception: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overcorrection warning directly targets ri, LOWERING it -- explains why Phase 4 uniquely helps Akhbar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5. Practical implication: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deploy LLM correction SELECTIVELY based on estimated OCR quality, not universally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Why Handwritten Correction Differs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The KHATT Challenge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Handwritten vs Typewritten: Qualitative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KHATT error profile is fundamentally different: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37% segmentation errors (merge + split) vs 6.4% on PATS-A01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Segmentation = word boundaries lost -- text-only LLM cannot re-segment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Produces character sequences that don't resemble any Arabic word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Result: KHATT improvement ceiling: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Only character-level substitutions (dot, shape, hamza) are correctable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These account for ~50% of KHATT errors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The other 37%+ segmentation errors form an irreducible error floor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Counter-intuitive: </a:t>
            </a:r>
            <a:r>
              <a:rPr sz="1500" b="0">
                <a:solidFill>
                  <a:srgbClr val="000000"/>
                </a:solidFill>
                <a:latin typeface="Calibri"/>
              </a:rPr>
              <a:t>KHATT has highest baseline CER (44.6%) but lowest relative improvement (3.6-5.0%)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Explanation: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Higher CER doesn't mean more correctable errors -- it means different error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would improve KHATT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1. Multi-modal correction: </a:t>
            </a:r>
            <a:r>
              <a:rPr sz="1400" b="0">
                <a:solidFill>
                  <a:srgbClr val="000000"/>
                </a:solidFill>
                <a:latin typeface="Calibri"/>
              </a:rPr>
              <a:t>provide document image + OCR text to VLM corrector (e.g., Qwen3-VL, GPT-4o-Vision)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2. Segmentation recovery: </a:t>
            </a:r>
            <a:r>
              <a:rPr sz="1400" b="0">
                <a:solidFill>
                  <a:srgbClr val="000000"/>
                </a:solidFill>
                <a:latin typeface="Calibri"/>
              </a:rPr>
              <a:t>specialised pre-processing step to fix word boundaries BEFORE LLM correction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3. Fine-tuning: </a:t>
            </a:r>
            <a:r>
              <a:rPr sz="1400" b="0">
                <a:solidFill>
                  <a:srgbClr val="000000"/>
                </a:solidFill>
                <a:latin typeface="Calibri"/>
              </a:rPr>
              <a:t>train on handwriting-specific (OCR, GT) pairs for task-specific priors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4. Confidence-guided: </a:t>
            </a:r>
            <a:r>
              <a:rPr sz="1400" b="0">
                <a:solidFill>
                  <a:srgbClr val="000000"/>
                </a:solidFill>
                <a:latin typeface="Calibri"/>
              </a:rPr>
              <a:t>only correct low-confidence OCR outputs, leave high-confidence unchanged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System Design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From Research Findings to Practical Deployment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Recommendations for Arabic Post-OCR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1. Apply correction SELECTIVELY, not universally: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Estimate OCR quality first (confidence scores, font ID, calibration CER). Route only CER &gt; 6-7% to LLM. Pass clean output unchanged.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2. Use conf_self (Phase 3 + Phase 4) as default configuration: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Best or near-best on all 9 datasets. Statistically significant on 6/9. Both components contribute in ablation.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3. Add CAMeL post-processing ONLY on typewritten text: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-0.1pp on PATS-A01 but +0.1pp on KHATT. Omit for handwritten or mixed input.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4. Compute per-font evaluation before deployment: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Macro-averages mask font-specific effects. Exclude fonts where correction degrades quality.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5. Recalibrate self-reflective insights for new OCR engines: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Phase 4 insights are engine-specific. One-time recomputation per engine from training-split.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6. Use aligned split design for multi-font studies: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Identical text content across fonts isolates font as sole variable. Essential for principled comparison.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Honest Assessment and Research Directions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Single OCR engine (Qaari):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Confusion matrix, self-reflective insights are Qaari-specific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Qualitative findings likely generalise; specific numbers do not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Single LLM (Qwen3-4B):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Larger models may have lower introduction rate -- shifting threshold down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Arabic-specialised models may have stronger character-level priors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Single text content (PATS-A01):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All 8 fonts render same text -- limits content diversity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MSA newspaper/academic text; other domains may differ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Text-only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Document image not used after OCR -- visually ambiguous cases inaccessible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Additional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Diacritic stripping: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All metrics computed after stripping diacritics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Diacritic-preserving tasks would change all results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Morphological DB coverage: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CAMeL calima-msa-r13 has gaps: archaic forms, proper nouns, loanwords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May cause spurious reverts in Phase 5</a:t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No fine-tuning baseline:</a:t>
            </a:r>
            <a:r>
              <a:rPr sz="14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820"/>
              </a:lnSpc>
              <a:spcAft>
                <a:spcPts val="4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  </a:t>
            </a:r>
            <a:r>
              <a:rPr sz="1400" b="0">
                <a:solidFill>
                  <a:srgbClr val="000000"/>
                </a:solidFill>
                <a:latin typeface="Calibri"/>
              </a:rPr>
              <a:t>All strategies are prompt-only; fine-tuned comparisons not included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1. Characterise threshold across models/engines: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Test Qwen3-14B/32B, AraGPT2, Jais, ALLaM on same datasets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Produce 'correction capability curve' as function of model capacity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2. Fine-tune for conservative OCR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Train on (OCR, GT) pairs WITH 'return unchanged' supervision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Directly reduce introduction rate -- lower threshold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3. Multi-modal correction for handwritten text: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VLM corrector (Qwen3-VL, GPT-4o-Vision) with image + OCR text input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Address segmentation errors via visual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4. Confidence-guided selective correction: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Route only low-confidence OCR tokens to LLM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Reduce introduction rate by restricting intervention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5. Extension to dialectal Arabic: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Egyptian, Gulf, Levantine -- non-standard spelling, code-switching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Dialect-specific self-reflective insights needed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6. Cross-engine comparison: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Tesseract, TrOCR (Arabic), commercial services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Test generality of Phase 3 + Phase 4 approach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7. Adversarial stress testing: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 </a:t>
            </a:r>
            <a:r>
              <a:rPr sz="1500" b="0">
                <a:solidFill>
                  <a:srgbClr val="000000"/>
                </a:solidFill>
                <a:latin typeface="Calibri"/>
              </a:rPr>
              <a:t>Degraded images, historical documents, low resolution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 &amp;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17"/>
                </a:solidFill>
                <a:latin typeface="Calibri"/>
              </a:defRPr>
            </a:pPr>
            <a:r>
              <a:t>Summary of Findings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Final Ranking: All Experimental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PATS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KHATT CER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OCR Baseline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best_camel (P3+P4+P5)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conf_self (P3+P4)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-21.1%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Self-Reflective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OCR-Aware (Confusion)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-15.5%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Zero-Shot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5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CAMeL Post-Proc.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12.4%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43.1%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-12.7%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OCR Baseline (no LLM)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All LLM strategies improve on OCR baseline except Phase 5 on some fonts. Phase 4 is strongest isolated. conf_self is best combination.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KHATT ranking differs: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conf_self &gt; best_camel (Phase 5 hurts on handwritten). Phase 3 &gt; Phase 4 on handwritten (confusion matrix more transferable).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Can a lightweight LLM correct Arabic OCR errors through prompt engineering?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YES, with qualifications: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Zero-shot: PATS-A01 14.2% -&gt; 12.3% CER (-13.4% relative). Traditional font: -81.0% relative.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Best combination (conf_self): 14.2% -&gt; 11.2% CER (-21.1% relative). KHATT: 44.6% -&gt; 42.4% (-5.0%).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Does adding linguistic knowledge help?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YES, incrementally: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Confusion matrix (Phase 3) + Self-reflective (Phase 4) are complementary and near-additive.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Self-reflective is more impactful (+0.8pp ablation delta vs +0.4pp for confusion matrix).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Morphological post-processing (Phase 5) is marginally useful on typewritten, harmful on handwritten.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Central finding: the OVER-CORRECTION THRESHOLD:</a:t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Below ~6-7% CER: LLM correction is harmful (introduction rate &gt; fix rate on the small error pool).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Above threshold: correction is beneficial; more knowledge helps more.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  </a:t>
            </a:r>
            <a:r>
              <a:rPr sz="1500" b="0">
                <a:solidFill>
                  <a:srgbClr val="000000"/>
                </a:solidFill>
                <a:latin typeface="Calibri"/>
              </a:rPr>
              <a:t>This is a property of instruction-following LLM behaviour, not a bug. Deploy correction SELECTIVELY.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Thesis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D6D7E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1. Over-correction threshold model: </a:t>
            </a:r>
            <a:r>
              <a:rPr sz="1500" b="0">
                <a:solidFill>
                  <a:srgbClr val="000000"/>
                </a:solidFill>
                <a:latin typeface="Calibri"/>
              </a:rPr>
              <a:t>formal characterisation of when LLM correction helps vs hurts, with empirical estimation (e* ~ 6-7% CER for Qwen3-4B + Qaari)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2. Complementarity proof: </a:t>
            </a:r>
            <a:r>
              <a:rPr sz="1500" b="0">
                <a:solidFill>
                  <a:srgbClr val="000000"/>
                </a:solidFill>
                <a:latin typeface="Calibri"/>
              </a:rPr>
              <a:t>confusion-matrix injection + self-reflective prompting address orthogonal failure modes (OCR engine errors vs LLM correction errors) and combine near-additively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3. Comprehensive multi-font evaluation: </a:t>
            </a:r>
            <a:r>
              <a:rPr sz="1500" b="0">
                <a:solidFill>
                  <a:srgbClr val="000000"/>
                </a:solidFill>
                <a:latin typeface="Calibri"/>
              </a:rPr>
              <a:t>9 datasets (8 typewritten + 1 handwritten), aligned splits isolating font as sole variable, covering 4.3-44.6% baseline CER range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4. Self-reflective prompting for OCR: </a:t>
            </a:r>
            <a:r>
              <a:rPr sz="1500" b="0">
                <a:solidFill>
                  <a:srgbClr val="000000"/>
                </a:solidFill>
                <a:latin typeface="Calibri"/>
              </a:rPr>
              <a:t>novel application of self-analysis (training-split error statistics + overcorrection warning) to post-OCR correction -- strongest isolated strategy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5. Three-stage export-infer-analyse pipeline: </a:t>
            </a:r>
            <a:r>
              <a:rPr sz="1500" b="0">
                <a:solidFill>
                  <a:srgbClr val="000000"/>
                </a:solidFill>
                <a:latin typeface="Calibri"/>
              </a:rPr>
              <a:t>reproducible framework decoupling data preparation from GPU inference, enabling transparent research across cloud platforms</a:t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/>
            </a:r>
            <a:r>
              <a:rPr sz="1500" b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lnSpc>
                <a:spcPts val="1950"/>
              </a:lnSpc>
              <a:spcAft>
                <a:spcPts val="4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6. Empirical finding on handwritten limits: </a:t>
            </a:r>
            <a:r>
              <a:rPr sz="1500" b="0">
                <a:solidFill>
                  <a:srgbClr val="000000"/>
                </a:solidFill>
                <a:latin typeface="Calibri"/>
              </a:rPr>
              <a:t>text-only post-OCR correction is fundamentally limited on handwritten text (37% segmentation errors uncorrectable), motivating multi-modal approaches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4A01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Mohamed Sabry  |  Faculty of Engineering, Cairo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
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3" d="100"/>
          <a:sy n="83" d="100"/>
        </p:scale>
        <p:origin x="629"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94960"/>
            <a:ext cx="12188952" cy="146304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822960"/>
            <a:ext cx="10698480" cy="914400"/>
          </a:xfrm>
          <a:prstGeom prst="rect">
            <a:avLst/>
          </a:prstGeom>
          <a:noFill/>
        </p:spPr>
        <p:txBody>
          <a:bodyPr wrap="square">
            <a:spAutoFit/>
          </a:bodyPr>
          <a:lstStyle/>
          <a:p>
            <a:pPr algn="ctr"/>
            <a:r>
              <a:rPr sz="3600" b="1">
                <a:solidFill>
                  <a:srgbClr val="FFFFFF"/>
                </a:solidFill>
              </a:rPr>
              <a:t>Arabic Post-OCR Correction with LLMs</a:t>
            </a:r>
          </a:p>
        </p:txBody>
      </p:sp>
      <p:sp>
        <p:nvSpPr>
          <p:cNvPr id="5" name="TextBox 4"/>
          <p:cNvSpPr txBox="1"/>
          <p:nvPr/>
        </p:nvSpPr>
        <p:spPr>
          <a:xfrm>
            <a:off x="731520" y="1828800"/>
            <a:ext cx="10698480" cy="640080"/>
          </a:xfrm>
          <a:prstGeom prst="rect">
            <a:avLst/>
          </a:prstGeom>
          <a:noFill/>
        </p:spPr>
        <p:txBody>
          <a:bodyPr wrap="square">
            <a:spAutoFit/>
          </a:bodyPr>
          <a:lstStyle/>
          <a:p>
            <a:pPr algn="ctr"/>
            <a:r>
              <a:rPr sz="2000" b="0">
                <a:solidFill>
                  <a:srgbClr val="BDD7EE"/>
                </a:solidFill>
              </a:rPr>
              <a:t>Can LLMs bridge the performance gap between open-source and closed-source Arabic OCR?</a:t>
            </a:r>
          </a:p>
        </p:txBody>
      </p:sp>
      <p:sp>
        <p:nvSpPr>
          <p:cNvPr id="6" name="TextBox 5"/>
          <p:cNvSpPr txBox="1"/>
          <p:nvPr/>
        </p:nvSpPr>
        <p:spPr>
          <a:xfrm>
            <a:off x="731520" y="3017520"/>
            <a:ext cx="10698480" cy="548640"/>
          </a:xfrm>
          <a:prstGeom prst="rect">
            <a:avLst/>
          </a:prstGeom>
          <a:noFill/>
        </p:spPr>
        <p:txBody>
          <a:bodyPr wrap="square">
            <a:spAutoFit/>
          </a:bodyPr>
          <a:lstStyle/>
          <a:p>
            <a:pPr algn="ctr"/>
            <a:r>
              <a:rPr sz="1800" b="0">
                <a:solidFill>
                  <a:srgbClr val="FFC000"/>
                </a:solidFill>
              </a:rPr>
              <a:t>Progress Report — Professor Meeting</a:t>
            </a:r>
          </a:p>
        </p:txBody>
      </p:sp>
      <p:sp>
        <p:nvSpPr>
          <p:cNvPr id="7" name="TextBox 6"/>
          <p:cNvSpPr txBox="1"/>
          <p:nvPr/>
        </p:nvSpPr>
        <p:spPr>
          <a:xfrm>
            <a:off x="731520" y="3749039"/>
            <a:ext cx="10698480" cy="457200"/>
          </a:xfrm>
          <a:prstGeom prst="rect">
            <a:avLst/>
          </a:prstGeom>
          <a:noFill/>
        </p:spPr>
        <p:txBody>
          <a:bodyPr wrap="square">
            <a:spAutoFit/>
          </a:bodyPr>
          <a:lstStyle/>
          <a:p>
            <a:pPr algn="ctr"/>
            <a:r>
              <a:rPr sz="1500" b="0">
                <a:solidFill>
                  <a:srgbClr val="BDD7EE"/>
                </a:solidFill>
              </a:rPr>
              <a:t>Mohamed Sabry · Master's Thesis · May 2026</a:t>
            </a:r>
          </a:p>
        </p:txBody>
      </p:sp>
      <p:sp>
        <p:nvSpPr>
          <p:cNvPr id="8" name="TextBox 7"/>
          <p:cNvSpPr txBox="1"/>
          <p:nvPr/>
        </p:nvSpPr>
        <p:spPr>
          <a:xfrm>
            <a:off x="731520" y="5577840"/>
            <a:ext cx="10698480" cy="457200"/>
          </a:xfrm>
          <a:prstGeom prst="rect">
            <a:avLst/>
          </a:prstGeom>
          <a:noFill/>
        </p:spPr>
        <p:txBody>
          <a:bodyPr wrap="square">
            <a:spAutoFit/>
          </a:bodyPr>
          <a:lstStyle/>
          <a:p>
            <a:pPr algn="ctr"/>
            <a:r>
              <a:rPr sz="1300" b="0">
                <a:solidFill>
                  <a:srgbClr val="FFFFFF"/>
                </a:solidFill>
              </a:rPr>
              <a:t>Model: Qwen3-4B-Instruct-2507  ·  Datasets: PATS-A01 (typewritten) + KHATT (handwritten)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Research Question &amp; Motivation</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2 / 15</a:t>
            </a:r>
          </a:p>
        </p:txBody>
      </p:sp>
      <p:sp>
        <p:nvSpPr>
          <p:cNvPr id="5" name="Rectangle 4"/>
          <p:cNvSpPr/>
          <p:nvPr/>
        </p:nvSpPr>
        <p:spPr>
          <a:xfrm>
            <a:off x="320040" y="1325879"/>
            <a:ext cx="5486400" cy="2414015"/>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71600"/>
            <a:ext cx="5212080" cy="365760"/>
          </a:xfrm>
          <a:prstGeom prst="rect">
            <a:avLst/>
          </a:prstGeom>
          <a:noFill/>
        </p:spPr>
        <p:txBody>
          <a:bodyPr wrap="square">
            <a:spAutoFit/>
          </a:bodyPr>
          <a:lstStyle/>
          <a:p>
            <a:pPr algn="l"/>
            <a:r>
              <a:rPr sz="1700" b="1">
                <a:solidFill>
                  <a:srgbClr val="1F3864"/>
                </a:solidFill>
              </a:rPr>
              <a:t>The Problem</a:t>
            </a:r>
          </a:p>
        </p:txBody>
      </p:sp>
      <p:sp>
        <p:nvSpPr>
          <p:cNvPr id="7" name="TextBox 6"/>
          <p:cNvSpPr txBox="1"/>
          <p:nvPr/>
        </p:nvSpPr>
        <p:spPr>
          <a:xfrm>
            <a:off x="457200" y="1783080"/>
            <a:ext cx="5212080" cy="301752"/>
          </a:xfrm>
          <a:prstGeom prst="rect">
            <a:avLst/>
          </a:prstGeom>
          <a:noFill/>
        </p:spPr>
        <p:txBody>
          <a:bodyPr wrap="square">
            <a:spAutoFit/>
          </a:bodyPr>
          <a:lstStyle/>
          <a:p>
            <a:pPr algn="l"/>
            <a:r>
              <a:rPr sz="1400" b="0">
                <a:solidFill>
                  <a:srgbClr val="404040"/>
                </a:solidFill>
              </a:rPr>
              <a:t>• Arabic OCR (Qaari) is open-source &amp; accessible</a:t>
            </a:r>
          </a:p>
        </p:txBody>
      </p:sp>
      <p:sp>
        <p:nvSpPr>
          <p:cNvPr id="8" name="TextBox 7"/>
          <p:cNvSpPr txBox="1"/>
          <p:nvPr/>
        </p:nvSpPr>
        <p:spPr>
          <a:xfrm>
            <a:off x="457200" y="2066544"/>
            <a:ext cx="5212080" cy="301752"/>
          </a:xfrm>
          <a:prstGeom prst="rect">
            <a:avLst/>
          </a:prstGeom>
          <a:noFill/>
        </p:spPr>
        <p:txBody>
          <a:bodyPr wrap="square">
            <a:spAutoFit/>
          </a:bodyPr>
          <a:lstStyle/>
          <a:p>
            <a:pPr algn="l"/>
            <a:r>
              <a:rPr sz="1400" b="0">
                <a:solidFill>
                  <a:srgbClr val="404040"/>
                </a:solidFill>
              </a:rPr>
              <a:t>• But makes systematic character-level errors:</a:t>
            </a:r>
          </a:p>
        </p:txBody>
      </p:sp>
      <p:sp>
        <p:nvSpPr>
          <p:cNvPr id="9" name="TextBox 8"/>
          <p:cNvSpPr txBox="1"/>
          <p:nvPr/>
        </p:nvSpPr>
        <p:spPr>
          <a:xfrm>
            <a:off x="457200" y="2350008"/>
            <a:ext cx="5212080" cy="301752"/>
          </a:xfrm>
          <a:prstGeom prst="rect">
            <a:avLst/>
          </a:prstGeom>
          <a:noFill/>
        </p:spPr>
        <p:txBody>
          <a:bodyPr wrap="square">
            <a:spAutoFit/>
          </a:bodyPr>
          <a:lstStyle/>
          <a:p>
            <a:pPr algn="l"/>
            <a:r>
              <a:rPr sz="1400" b="0">
                <a:solidFill>
                  <a:srgbClr val="404040"/>
                </a:solidFill>
              </a:rPr>
              <a:t>   - Similar-shape confusions (ب / ت / ث)</a:t>
            </a:r>
          </a:p>
        </p:txBody>
      </p:sp>
      <p:sp>
        <p:nvSpPr>
          <p:cNvPr id="10" name="TextBox 9"/>
          <p:cNvSpPr txBox="1"/>
          <p:nvPr/>
        </p:nvSpPr>
        <p:spPr>
          <a:xfrm>
            <a:off x="457200" y="2633472"/>
            <a:ext cx="5212080" cy="301752"/>
          </a:xfrm>
          <a:prstGeom prst="rect">
            <a:avLst/>
          </a:prstGeom>
          <a:noFill/>
        </p:spPr>
        <p:txBody>
          <a:bodyPr wrap="square">
            <a:spAutoFit/>
          </a:bodyPr>
          <a:lstStyle/>
          <a:p>
            <a:pPr algn="l"/>
            <a:r>
              <a:rPr sz="1400" b="0">
                <a:solidFill>
                  <a:srgbClr val="404040"/>
                </a:solidFill>
              </a:rPr>
              <a:t>   - Missing/extra diacritics</a:t>
            </a:r>
          </a:p>
        </p:txBody>
      </p:sp>
      <p:sp>
        <p:nvSpPr>
          <p:cNvPr id="11" name="TextBox 10"/>
          <p:cNvSpPr txBox="1"/>
          <p:nvPr/>
        </p:nvSpPr>
        <p:spPr>
          <a:xfrm>
            <a:off x="457200" y="2916936"/>
            <a:ext cx="5212080" cy="301752"/>
          </a:xfrm>
          <a:prstGeom prst="rect">
            <a:avLst/>
          </a:prstGeom>
          <a:noFill/>
        </p:spPr>
        <p:txBody>
          <a:bodyPr wrap="square">
            <a:spAutoFit/>
          </a:bodyPr>
          <a:lstStyle/>
          <a:p>
            <a:pPr algn="l"/>
            <a:r>
              <a:rPr sz="1400" b="0">
                <a:solidFill>
                  <a:srgbClr val="404040"/>
                </a:solidFill>
              </a:rPr>
              <a:t>   - Punctuation &amp; spacing artefacts</a:t>
            </a:r>
          </a:p>
        </p:txBody>
      </p:sp>
      <p:sp>
        <p:nvSpPr>
          <p:cNvPr id="12" name="TextBox 11"/>
          <p:cNvSpPr txBox="1"/>
          <p:nvPr/>
        </p:nvSpPr>
        <p:spPr>
          <a:xfrm>
            <a:off x="457200" y="3200400"/>
            <a:ext cx="5212080" cy="301752"/>
          </a:xfrm>
          <a:prstGeom prst="rect">
            <a:avLst/>
          </a:prstGeom>
          <a:noFill/>
        </p:spPr>
        <p:txBody>
          <a:bodyPr wrap="square">
            <a:spAutoFit/>
          </a:bodyPr>
          <a:lstStyle/>
          <a:p>
            <a:pPr algn="l"/>
            <a:r>
              <a:rPr sz="1400" b="0">
                <a:solidFill>
                  <a:srgbClr val="404040"/>
                </a:solidFill>
              </a:rPr>
              <a:t>• Closed-source VLMs are far more accurate</a:t>
            </a:r>
          </a:p>
        </p:txBody>
      </p:sp>
      <p:sp>
        <p:nvSpPr>
          <p:cNvPr id="13" name="TextBox 12"/>
          <p:cNvSpPr txBox="1"/>
          <p:nvPr/>
        </p:nvSpPr>
        <p:spPr>
          <a:xfrm>
            <a:off x="457200" y="3483864"/>
            <a:ext cx="5212080" cy="301752"/>
          </a:xfrm>
          <a:prstGeom prst="rect">
            <a:avLst/>
          </a:prstGeom>
          <a:noFill/>
        </p:spPr>
        <p:txBody>
          <a:bodyPr wrap="square">
            <a:spAutoFit/>
          </a:bodyPr>
          <a:lstStyle/>
          <a:p>
            <a:pPr algn="l"/>
            <a:r>
              <a:rPr sz="1400" b="0">
                <a:solidFill>
                  <a:srgbClr val="404040"/>
                </a:solidFill>
              </a:rPr>
              <a:t>  but expensive and API-dependent</a:t>
            </a:r>
          </a:p>
        </p:txBody>
      </p:sp>
      <p:sp>
        <p:nvSpPr>
          <p:cNvPr id="14" name="Rectangle 13"/>
          <p:cNvSpPr/>
          <p:nvPr/>
        </p:nvSpPr>
        <p:spPr>
          <a:xfrm>
            <a:off x="6035040" y="1325880"/>
            <a:ext cx="5833872" cy="11887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72200" y="1417320"/>
            <a:ext cx="5577840" cy="1005840"/>
          </a:xfrm>
          <a:prstGeom prst="rect">
            <a:avLst/>
          </a:prstGeom>
          <a:noFill/>
        </p:spPr>
        <p:txBody>
          <a:bodyPr wrap="square">
            <a:spAutoFit/>
          </a:bodyPr>
          <a:lstStyle/>
          <a:p>
            <a:pPr algn="l"/>
            <a:r>
              <a:rPr sz="1500" b="0">
                <a:solidFill>
                  <a:srgbClr val="FFFFFF"/>
                </a:solidFill>
              </a:rPr>
              <a:t>Research Question
Can a small open-source LLM (4B) post-process Qaari OCR output to approach the accuracy of closed-source VLMs?</a:t>
            </a:r>
          </a:p>
        </p:txBody>
      </p:sp>
      <p:sp>
        <p:nvSpPr>
          <p:cNvPr id="16" name="Rectangle 15"/>
          <p:cNvSpPr/>
          <p:nvPr/>
        </p:nvSpPr>
        <p:spPr>
          <a:xfrm>
            <a:off x="6035040" y="2651760"/>
            <a:ext cx="5833872" cy="100584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72200" y="2743200"/>
            <a:ext cx="5577840" cy="822960"/>
          </a:xfrm>
          <a:prstGeom prst="rect">
            <a:avLst/>
          </a:prstGeom>
          <a:noFill/>
        </p:spPr>
        <p:txBody>
          <a:bodyPr wrap="square">
            <a:spAutoFit/>
          </a:bodyPr>
          <a:lstStyle/>
          <a:p>
            <a:pPr algn="l"/>
            <a:r>
              <a:rPr sz="1400" b="0">
                <a:solidFill>
                  <a:srgbClr val="FFFFFF"/>
                </a:solidFill>
              </a:rPr>
              <a:t>Hypothesis
LLMs can exploit linguistic context to fix OCR errors cheaply — making open-source OCR competitive.</a:t>
            </a:r>
          </a:p>
        </p:txBody>
      </p:sp>
      <p:sp>
        <p:nvSpPr>
          <p:cNvPr id="18" name="Rectangle 17"/>
          <p:cNvSpPr/>
          <p:nvPr/>
        </p:nvSpPr>
        <p:spPr>
          <a:xfrm>
            <a:off x="320040" y="3749039"/>
            <a:ext cx="11548872" cy="91440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794760"/>
            <a:ext cx="11338560" cy="731520"/>
          </a:xfrm>
          <a:prstGeom prst="rect">
            <a:avLst/>
          </a:prstGeom>
          <a:noFill/>
        </p:spPr>
        <p:txBody>
          <a:bodyPr wrap="square">
            <a:spAutoFit/>
          </a:bodyPr>
          <a:lstStyle/>
          <a:p>
            <a:pPr algn="l"/>
            <a:r>
              <a:rPr sz="1400" b="0">
                <a:solidFill>
                  <a:srgbClr val="1F3864"/>
                </a:solidFill>
              </a:rPr>
              <a:t>Why It Matters:  Digitising Arabic manuscripts, newspapers, and historical archives at low cost requires accurate open-source OCR — LLM post-correction is a practical bridge.</a:t>
            </a:r>
          </a:p>
        </p:txBody>
      </p:sp>
      <p:sp>
        <p:nvSpPr>
          <p:cNvPr id="20" name="TextBox 19"/>
          <p:cNvSpPr txBox="1"/>
          <p:nvPr/>
        </p:nvSpPr>
        <p:spPr>
          <a:xfrm>
            <a:off x="320040" y="4846320"/>
            <a:ext cx="11548872" cy="365760"/>
          </a:xfrm>
          <a:prstGeom prst="rect">
            <a:avLst/>
          </a:prstGeom>
          <a:noFill/>
        </p:spPr>
        <p:txBody>
          <a:bodyPr wrap="square">
            <a:spAutoFit/>
          </a:bodyPr>
          <a:lstStyle/>
          <a:p>
            <a:pPr algn="l"/>
            <a:r>
              <a:rPr sz="1400" b="1">
                <a:solidFill>
                  <a:srgbClr val="1F3864"/>
                </a:solidFill>
              </a:rPr>
              <a:t>Approach:  8 experiments test progressively richer prompting strategies (zero-shot → prompt engineering → RAG → DSPy optimisation)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Datasets &amp; OCR Baseline (Phase 1)</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Two domains: typewritten (PATS-A01) vs handwritten (KHATT)</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3 / 15</a:t>
            </a:r>
          </a:p>
        </p:txBody>
      </p:sp>
      <p:sp>
        <p:nvSpPr>
          <p:cNvPr id="6" name="Rectangle 5"/>
          <p:cNvSpPr/>
          <p:nvPr/>
        </p:nvSpPr>
        <p:spPr>
          <a:xfrm>
            <a:off x="320040" y="1280160"/>
            <a:ext cx="5669280" cy="5212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25880"/>
            <a:ext cx="5394960" cy="365760"/>
          </a:xfrm>
          <a:prstGeom prst="rect">
            <a:avLst/>
          </a:prstGeom>
          <a:noFill/>
        </p:spPr>
        <p:txBody>
          <a:bodyPr wrap="square">
            <a:spAutoFit/>
          </a:bodyPr>
          <a:lstStyle/>
          <a:p>
            <a:pPr algn="l"/>
            <a:r>
              <a:rPr sz="1600" b="1">
                <a:solidFill>
                  <a:srgbClr val="1F3864"/>
                </a:solidFill>
              </a:rPr>
              <a:t>PATS-A01  (Typewritten / Synthetic)</a:t>
            </a:r>
          </a:p>
        </p:txBody>
      </p:sp>
      <p:sp>
        <p:nvSpPr>
          <p:cNvPr id="8" name="TextBox 7"/>
          <p:cNvSpPr txBox="1"/>
          <p:nvPr/>
        </p:nvSpPr>
        <p:spPr>
          <a:xfrm>
            <a:off x="457200" y="1691640"/>
            <a:ext cx="5394960" cy="320040"/>
          </a:xfrm>
          <a:prstGeom prst="rect">
            <a:avLst/>
          </a:prstGeom>
          <a:noFill/>
        </p:spPr>
        <p:txBody>
          <a:bodyPr wrap="square">
            <a:spAutoFit/>
          </a:bodyPr>
          <a:lstStyle/>
          <a:p>
            <a:pPr algn="l"/>
            <a:r>
              <a:rPr sz="1300" b="0">
                <a:solidFill>
                  <a:srgbClr val="404040"/>
                </a:solidFill>
              </a:rPr>
              <a:t>8 Arabic fonts  ·  ~2766 pages/font  ·  85/15 train/val split</a:t>
            </a:r>
          </a:p>
        </p:txBody>
      </p:sp>
      <p:graphicFrame>
        <p:nvGraphicFramePr>
          <p:cNvPr id="9" name="Table 8"/>
          <p:cNvGraphicFramePr>
            <a:graphicFrameLocks noGrp="1"/>
          </p:cNvGraphicFramePr>
          <p:nvPr/>
        </p:nvGraphicFramePr>
        <p:xfrm>
          <a:off x="384048" y="2057400"/>
          <a:ext cx="5486400" cy="4206240"/>
        </p:xfrm>
        <a:graphic>
          <a:graphicData uri="http://schemas.openxmlformats.org/drawingml/2006/table">
            <a:tbl>
              <a:tblPr firstRow="1" bandRow="1">
                <a:tableStyleId>{5C22544A-7EE6-4342-B048-85BDC9FD1C3A}</a:tableStyleId>
              </a:tblPr>
              <a:tblGrid>
                <a:gridCol w="2286000"/>
                <a:gridCol w="1600200"/>
                <a:gridCol w="1600200"/>
              </a:tblGrid>
              <a:tr h="420624">
                <a:tc>
                  <a:txBody>
                    <a:bodyPr/>
                    <a:lstStyle/>
                    <a:p>
                      <a:pPr algn="ctr">
                        <a:spcBef>
                          <a:spcPts val="200"/>
                        </a:spcBef>
                        <a:spcAft>
                          <a:spcPts val="200"/>
                        </a:spcAft>
                      </a:pPr>
                      <a:r>
                        <a:rPr sz="1300" b="1">
                          <a:solidFill>
                            <a:srgbClr val="FFFFFF"/>
                          </a:solidFill>
                        </a:rPr>
                        <a:t>Font</a:t>
                      </a:r>
                    </a:p>
                  </a:txBody>
                  <a:tcPr>
                    <a:solidFill>
                      <a:srgbClr val="1F3864"/>
                    </a:solidFill>
                  </a:tcPr>
                </a:tc>
                <a:tc>
                  <a:txBody>
                    <a:bodyPr/>
                    <a:lstStyle/>
                    <a:p>
                      <a:pPr algn="ctr">
                        <a:spcBef>
                          <a:spcPts val="200"/>
                        </a:spcBef>
                        <a:spcAft>
                          <a:spcPts val="200"/>
                        </a:spcAft>
                      </a:pPr>
                      <a:r>
                        <a:rPr sz="1300" b="1">
                          <a:solidFill>
                            <a:srgbClr val="FFFFFF"/>
                          </a:solidFill>
                        </a:rPr>
                        <a:t>Val CER</a:t>
                      </a:r>
                    </a:p>
                  </a:txBody>
                  <a:tcPr>
                    <a:solidFill>
                      <a:srgbClr val="1F3864"/>
                    </a:solidFill>
                  </a:tcPr>
                </a:tc>
                <a:tc>
                  <a:txBody>
                    <a:bodyPr/>
                    <a:lstStyle/>
                    <a:p>
                      <a:pPr algn="ctr">
                        <a:spcBef>
                          <a:spcPts val="200"/>
                        </a:spcBef>
                        <a:spcAft>
                          <a:spcPts val="200"/>
                        </a:spcAft>
                      </a:pPr>
                      <a:r>
                        <a:rPr sz="1300" b="1">
                          <a:solidFill>
                            <a:srgbClr val="FFFFFF"/>
                          </a:solidFill>
                        </a:rPr>
                        <a:t>Val WER</a:t>
                      </a:r>
                    </a:p>
                  </a:txBody>
                  <a:tcPr>
                    <a:solidFill>
                      <a:srgbClr val="1F3864"/>
                    </a:solidFill>
                  </a:tcPr>
                </a:tc>
              </a:tr>
              <a:tr h="420624">
                <a:tc>
                  <a:txBody>
                    <a:bodyPr/>
                    <a:lstStyle/>
                    <a:p>
                      <a:pPr algn="l">
                        <a:spcBef>
                          <a:spcPts val="200"/>
                        </a:spcBef>
                        <a:spcAft>
                          <a:spcPts val="200"/>
                        </a:spcAft>
                      </a:pPr>
                      <a:r>
                        <a:rPr sz="1200" b="0">
                          <a:solidFill>
                            <a:srgbClr val="404040"/>
                          </a:solidFill>
                        </a:rPr>
                        <a:t>Naskh</a:t>
                      </a:r>
                    </a:p>
                  </a:txBody>
                  <a:tcPr>
                    <a:solidFill>
                      <a:srgbClr val="FFFFFF"/>
                    </a:solidFill>
                  </a:tcPr>
                </a:tc>
                <a:tc>
                  <a:txBody>
                    <a:bodyPr/>
                    <a:lstStyle/>
                    <a:p>
                      <a:pPr algn="ctr">
                        <a:spcBef>
                          <a:spcPts val="200"/>
                        </a:spcBef>
                        <a:spcAft>
                          <a:spcPts val="200"/>
                        </a:spcAft>
                      </a:pPr>
                      <a:r>
                        <a:rPr sz="1200" b="0">
                          <a:solidFill>
                            <a:srgbClr val="404040"/>
                          </a:solidFill>
                        </a:rPr>
                        <a:t>0.86%</a:t>
                      </a:r>
                    </a:p>
                  </a:txBody>
                  <a:tcPr>
                    <a:solidFill>
                      <a:srgbClr val="FFFFFF"/>
                    </a:solidFill>
                  </a:tcPr>
                </a:tc>
                <a:tc>
                  <a:txBody>
                    <a:bodyPr/>
                    <a:lstStyle/>
                    <a:p>
                      <a:pPr algn="ctr">
                        <a:spcBef>
                          <a:spcPts val="200"/>
                        </a:spcBef>
                        <a:spcAft>
                          <a:spcPts val="200"/>
                        </a:spcAft>
                      </a:pPr>
                      <a:r>
                        <a:rPr sz="1200" b="0">
                          <a:solidFill>
                            <a:srgbClr val="404040"/>
                          </a:solidFill>
                        </a:rPr>
                        <a:t>0.92%</a:t>
                      </a:r>
                    </a:p>
                  </a:txBody>
                  <a:tcPr>
                    <a:solidFill>
                      <a:srgbClr val="FFFFFF"/>
                    </a:solidFill>
                  </a:tcPr>
                </a:tc>
              </a:tr>
              <a:tr h="420624">
                <a:tc>
                  <a:txBody>
                    <a:bodyPr/>
                    <a:lstStyle/>
                    <a:p>
                      <a:pPr algn="l">
                        <a:spcBef>
                          <a:spcPts val="200"/>
                        </a:spcBef>
                        <a:spcAft>
                          <a:spcPts val="200"/>
                        </a:spcAft>
                      </a:pPr>
                      <a:r>
                        <a:rPr sz="1200" b="0">
                          <a:solidFill>
                            <a:srgbClr val="404040"/>
                          </a:solidFill>
                        </a:rPr>
                        <a:t>Thuluth</a:t>
                      </a:r>
                    </a:p>
                  </a:txBody>
                  <a:tcPr>
                    <a:solidFill>
                      <a:srgbClr val="F2F2F2"/>
                    </a:solidFill>
                  </a:tcPr>
                </a:tc>
                <a:tc>
                  <a:txBody>
                    <a:bodyPr/>
                    <a:lstStyle/>
                    <a:p>
                      <a:pPr algn="ctr">
                        <a:spcBef>
                          <a:spcPts val="200"/>
                        </a:spcBef>
                        <a:spcAft>
                          <a:spcPts val="200"/>
                        </a:spcAft>
                      </a:pPr>
                      <a:r>
                        <a:rPr sz="1200" b="0">
                          <a:solidFill>
                            <a:srgbClr val="404040"/>
                          </a:solidFill>
                        </a:rPr>
                        <a:t>1.02%</a:t>
                      </a:r>
                    </a:p>
                  </a:txBody>
                  <a:tcPr>
                    <a:solidFill>
                      <a:srgbClr val="F2F2F2"/>
                    </a:solidFill>
                  </a:tcPr>
                </a:tc>
                <a:tc>
                  <a:txBody>
                    <a:bodyPr/>
                    <a:lstStyle/>
                    <a:p>
                      <a:pPr algn="ctr">
                        <a:spcBef>
                          <a:spcPts val="200"/>
                        </a:spcBef>
                        <a:spcAft>
                          <a:spcPts val="200"/>
                        </a:spcAft>
                      </a:pPr>
                      <a:r>
                        <a:rPr sz="1200" b="0">
                          <a:solidFill>
                            <a:srgbClr val="404040"/>
                          </a:solidFill>
                        </a:rPr>
                        <a:t>1.07%</a:t>
                      </a:r>
                    </a:p>
                  </a:txBody>
                  <a:tcPr>
                    <a:solidFill>
                      <a:srgbClr val="F2F2F2"/>
                    </a:solidFill>
                  </a:tcPr>
                </a:tc>
              </a:tr>
              <a:tr h="420624">
                <a:tc>
                  <a:txBody>
                    <a:bodyPr/>
                    <a:lstStyle/>
                    <a:p>
                      <a:pPr algn="l">
                        <a:spcBef>
                          <a:spcPts val="200"/>
                        </a:spcBef>
                        <a:spcAft>
                          <a:spcPts val="200"/>
                        </a:spcAft>
                      </a:pPr>
                      <a:r>
                        <a:rPr sz="1200" b="0">
                          <a:solidFill>
                            <a:srgbClr val="404040"/>
                          </a:solidFill>
                        </a:rPr>
                        <a:t>Arial</a:t>
                      </a:r>
                    </a:p>
                  </a:txBody>
                  <a:tcPr>
                    <a:solidFill>
                      <a:srgbClr val="FFFFFF"/>
                    </a:solidFill>
                  </a:tcPr>
                </a:tc>
                <a:tc>
                  <a:txBody>
                    <a:bodyPr/>
                    <a:lstStyle/>
                    <a:p>
                      <a:pPr algn="ctr">
                        <a:spcBef>
                          <a:spcPts val="200"/>
                        </a:spcBef>
                        <a:spcAft>
                          <a:spcPts val="200"/>
                        </a:spcAft>
                      </a:pPr>
                      <a:r>
                        <a:rPr sz="1200" b="0">
                          <a:solidFill>
                            <a:srgbClr val="404040"/>
                          </a:solidFill>
                        </a:rPr>
                        <a:t>1.06%</a:t>
                      </a:r>
                    </a:p>
                  </a:txBody>
                  <a:tcPr>
                    <a:solidFill>
                      <a:srgbClr val="FFFFFF"/>
                    </a:solidFill>
                  </a:tcPr>
                </a:tc>
                <a:tc>
                  <a:txBody>
                    <a:bodyPr/>
                    <a:lstStyle/>
                    <a:p>
                      <a:pPr algn="ctr">
                        <a:spcBef>
                          <a:spcPts val="200"/>
                        </a:spcBef>
                        <a:spcAft>
                          <a:spcPts val="200"/>
                        </a:spcAft>
                      </a:pPr>
                      <a:r>
                        <a:rPr sz="1200" b="0">
                          <a:solidFill>
                            <a:srgbClr val="404040"/>
                          </a:solidFill>
                        </a:rPr>
                        <a:t>1.08%</a:t>
                      </a:r>
                    </a:p>
                  </a:txBody>
                  <a:tcPr>
                    <a:solidFill>
                      <a:srgbClr val="FFFFFF"/>
                    </a:solidFill>
                  </a:tcPr>
                </a:tc>
              </a:tr>
              <a:tr h="420624">
                <a:tc>
                  <a:txBody>
                    <a:bodyPr/>
                    <a:lstStyle/>
                    <a:p>
                      <a:pPr algn="l">
                        <a:spcBef>
                          <a:spcPts val="200"/>
                        </a:spcBef>
                        <a:spcAft>
                          <a:spcPts val="200"/>
                        </a:spcAft>
                      </a:pPr>
                      <a:r>
                        <a:rPr sz="1200" b="0">
                          <a:solidFill>
                            <a:srgbClr val="404040"/>
                          </a:solidFill>
                        </a:rPr>
                        <a:t>Akhbar</a:t>
                      </a:r>
                    </a:p>
                  </a:txBody>
                  <a:tcPr>
                    <a:solidFill>
                      <a:srgbClr val="F2F2F2"/>
                    </a:solidFill>
                  </a:tcPr>
                </a:tc>
                <a:tc>
                  <a:txBody>
                    <a:bodyPr/>
                    <a:lstStyle/>
                    <a:p>
                      <a:pPr algn="ctr">
                        <a:spcBef>
                          <a:spcPts val="200"/>
                        </a:spcBef>
                        <a:spcAft>
                          <a:spcPts val="200"/>
                        </a:spcAft>
                      </a:pPr>
                      <a:r>
                        <a:rPr sz="1200" b="0">
                          <a:solidFill>
                            <a:srgbClr val="404040"/>
                          </a:solidFill>
                        </a:rPr>
                        <a:t>1.14%</a:t>
                      </a:r>
                    </a:p>
                  </a:txBody>
                  <a:tcPr>
                    <a:solidFill>
                      <a:srgbClr val="F2F2F2"/>
                    </a:solidFill>
                  </a:tcPr>
                </a:tc>
                <a:tc>
                  <a:txBody>
                    <a:bodyPr/>
                    <a:lstStyle/>
                    <a:p>
                      <a:pPr algn="ctr">
                        <a:spcBef>
                          <a:spcPts val="200"/>
                        </a:spcBef>
                        <a:spcAft>
                          <a:spcPts val="200"/>
                        </a:spcAft>
                      </a:pPr>
                      <a:r>
                        <a:rPr sz="1200" b="0">
                          <a:solidFill>
                            <a:srgbClr val="404040"/>
                          </a:solidFill>
                        </a:rPr>
                        <a:t>1.11%</a:t>
                      </a:r>
                    </a:p>
                  </a:txBody>
                  <a:tcPr>
                    <a:solidFill>
                      <a:srgbClr val="F2F2F2"/>
                    </a:solidFill>
                  </a:tcPr>
                </a:tc>
              </a:tr>
              <a:tr h="420624">
                <a:tc>
                  <a:txBody>
                    <a:bodyPr/>
                    <a:lstStyle/>
                    <a:p>
                      <a:pPr algn="l">
                        <a:spcBef>
                          <a:spcPts val="200"/>
                        </a:spcBef>
                        <a:spcAft>
                          <a:spcPts val="200"/>
                        </a:spcAft>
                      </a:pPr>
                      <a:r>
                        <a:rPr sz="1200" b="0">
                          <a:solidFill>
                            <a:srgbClr val="404040"/>
                          </a:solidFill>
                        </a:rPr>
                        <a:t>Simplified</a:t>
                      </a:r>
                    </a:p>
                  </a:txBody>
                  <a:tcPr>
                    <a:solidFill>
                      <a:srgbClr val="FFFFFF"/>
                    </a:solidFill>
                  </a:tcPr>
                </a:tc>
                <a:tc>
                  <a:txBody>
                    <a:bodyPr/>
                    <a:lstStyle/>
                    <a:p>
                      <a:pPr algn="ctr">
                        <a:spcBef>
                          <a:spcPts val="200"/>
                        </a:spcBef>
                        <a:spcAft>
                          <a:spcPts val="200"/>
                        </a:spcAft>
                      </a:pPr>
                      <a:r>
                        <a:rPr sz="1200" b="0">
                          <a:solidFill>
                            <a:srgbClr val="404040"/>
                          </a:solidFill>
                        </a:rPr>
                        <a:t>1.32%</a:t>
                      </a:r>
                    </a:p>
                  </a:txBody>
                  <a:tcPr>
                    <a:solidFill>
                      <a:srgbClr val="FFFFFF"/>
                    </a:solidFill>
                  </a:tcPr>
                </a:tc>
                <a:tc>
                  <a:txBody>
                    <a:bodyPr/>
                    <a:lstStyle/>
                    <a:p>
                      <a:pPr algn="ctr">
                        <a:spcBef>
                          <a:spcPts val="200"/>
                        </a:spcBef>
                        <a:spcAft>
                          <a:spcPts val="200"/>
                        </a:spcAft>
                      </a:pPr>
                      <a:r>
                        <a:rPr sz="1200" b="0">
                          <a:solidFill>
                            <a:srgbClr val="404040"/>
                          </a:solidFill>
                        </a:rPr>
                        <a:t>1.33%</a:t>
                      </a:r>
                    </a:p>
                  </a:txBody>
                  <a:tcPr>
                    <a:solidFill>
                      <a:srgbClr val="FFFFFF"/>
                    </a:solidFill>
                  </a:tcPr>
                </a:tc>
              </a:tr>
              <a:tr h="420624">
                <a:tc>
                  <a:txBody>
                    <a:bodyPr/>
                    <a:lstStyle/>
                    <a:p>
                      <a:pPr algn="l">
                        <a:spcBef>
                          <a:spcPts val="200"/>
                        </a:spcBef>
                        <a:spcAft>
                          <a:spcPts val="200"/>
                        </a:spcAft>
                      </a:pPr>
                      <a:r>
                        <a:rPr sz="1200" b="0">
                          <a:solidFill>
                            <a:srgbClr val="404040"/>
                          </a:solidFill>
                        </a:rPr>
                        <a:t>Traditional</a:t>
                      </a:r>
                    </a:p>
                  </a:txBody>
                  <a:tcPr>
                    <a:solidFill>
                      <a:srgbClr val="F2F2F2"/>
                    </a:solidFill>
                  </a:tcPr>
                </a:tc>
                <a:tc>
                  <a:txBody>
                    <a:bodyPr/>
                    <a:lstStyle/>
                    <a:p>
                      <a:pPr algn="ctr">
                        <a:spcBef>
                          <a:spcPts val="200"/>
                        </a:spcBef>
                        <a:spcAft>
                          <a:spcPts val="200"/>
                        </a:spcAft>
                      </a:pPr>
                      <a:r>
                        <a:rPr sz="1200" b="0">
                          <a:solidFill>
                            <a:srgbClr val="404040"/>
                          </a:solidFill>
                        </a:rPr>
                        <a:t>1.18%</a:t>
                      </a:r>
                    </a:p>
                  </a:txBody>
                  <a:tcPr>
                    <a:solidFill>
                      <a:srgbClr val="F2F2F2"/>
                    </a:solidFill>
                  </a:tcPr>
                </a:tc>
                <a:tc>
                  <a:txBody>
                    <a:bodyPr/>
                    <a:lstStyle/>
                    <a:p>
                      <a:pPr algn="ctr">
                        <a:spcBef>
                          <a:spcPts val="200"/>
                        </a:spcBef>
                        <a:spcAft>
                          <a:spcPts val="200"/>
                        </a:spcAft>
                      </a:pPr>
                      <a:r>
                        <a:rPr sz="1200" b="0">
                          <a:solidFill>
                            <a:srgbClr val="404040"/>
                          </a:solidFill>
                        </a:rPr>
                        <a:t>1.22%</a:t>
                      </a:r>
                    </a:p>
                  </a:txBody>
                  <a:tcPr>
                    <a:solidFill>
                      <a:srgbClr val="F2F2F2"/>
                    </a:solidFill>
                  </a:tcPr>
                </a:tc>
              </a:tr>
              <a:tr h="420624">
                <a:tc>
                  <a:txBody>
                    <a:bodyPr/>
                    <a:lstStyle/>
                    <a:p>
                      <a:pPr algn="l">
                        <a:spcBef>
                          <a:spcPts val="200"/>
                        </a:spcBef>
                        <a:spcAft>
                          <a:spcPts val="200"/>
                        </a:spcAft>
                      </a:pPr>
                      <a:r>
                        <a:rPr sz="1200" b="0">
                          <a:solidFill>
                            <a:srgbClr val="404040"/>
                          </a:solidFill>
                        </a:rPr>
                        <a:t>Andalus</a:t>
                      </a:r>
                    </a:p>
                  </a:txBody>
                  <a:tcPr>
                    <a:solidFill>
                      <a:srgbClr val="FFFFFF"/>
                    </a:solidFill>
                  </a:tcPr>
                </a:tc>
                <a:tc>
                  <a:txBody>
                    <a:bodyPr/>
                    <a:lstStyle/>
                    <a:p>
                      <a:pPr algn="ctr">
                        <a:spcBef>
                          <a:spcPts val="200"/>
                        </a:spcBef>
                        <a:spcAft>
                          <a:spcPts val="200"/>
                        </a:spcAft>
                      </a:pPr>
                      <a:r>
                        <a:rPr sz="1200" b="0">
                          <a:solidFill>
                            <a:srgbClr val="404040"/>
                          </a:solidFill>
                        </a:rPr>
                        <a:t>1.54%</a:t>
                      </a:r>
                    </a:p>
                  </a:txBody>
                  <a:tcPr>
                    <a:solidFill>
                      <a:srgbClr val="FFFFFF"/>
                    </a:solidFill>
                  </a:tcPr>
                </a:tc>
                <a:tc>
                  <a:txBody>
                    <a:bodyPr/>
                    <a:lstStyle/>
                    <a:p>
                      <a:pPr algn="ctr">
                        <a:spcBef>
                          <a:spcPts val="200"/>
                        </a:spcBef>
                        <a:spcAft>
                          <a:spcPts val="200"/>
                        </a:spcAft>
                      </a:pPr>
                      <a:r>
                        <a:rPr sz="1200" b="0">
                          <a:solidFill>
                            <a:srgbClr val="404040"/>
                          </a:solidFill>
                        </a:rPr>
                        <a:t>1.66%</a:t>
                      </a:r>
                    </a:p>
                  </a:txBody>
                  <a:tcPr>
                    <a:solidFill>
                      <a:srgbClr val="FFFFFF"/>
                    </a:solidFill>
                  </a:tcPr>
                </a:tc>
              </a:tr>
              <a:tr h="420624">
                <a:tc>
                  <a:txBody>
                    <a:bodyPr/>
                    <a:lstStyle/>
                    <a:p>
                      <a:pPr algn="l">
                        <a:spcBef>
                          <a:spcPts val="200"/>
                        </a:spcBef>
                        <a:spcAft>
                          <a:spcPts val="200"/>
                        </a:spcAft>
                      </a:pPr>
                      <a:r>
                        <a:rPr sz="1200" b="0">
                          <a:solidFill>
                            <a:srgbClr val="404040"/>
                          </a:solidFill>
                        </a:rPr>
                        <a:t>Tahoma</a:t>
                      </a:r>
                    </a:p>
                  </a:txBody>
                  <a:tcPr>
                    <a:solidFill>
                      <a:srgbClr val="F2F2F2"/>
                    </a:solidFill>
                  </a:tcPr>
                </a:tc>
                <a:tc>
                  <a:txBody>
                    <a:bodyPr/>
                    <a:lstStyle/>
                    <a:p>
                      <a:pPr algn="ctr">
                        <a:spcBef>
                          <a:spcPts val="200"/>
                        </a:spcBef>
                        <a:spcAft>
                          <a:spcPts val="200"/>
                        </a:spcAft>
                      </a:pPr>
                      <a:r>
                        <a:rPr sz="1200" b="0">
                          <a:solidFill>
                            <a:srgbClr val="404040"/>
                          </a:solidFill>
                        </a:rPr>
                        <a:t>2.39%</a:t>
                      </a:r>
                    </a:p>
                  </a:txBody>
                  <a:tcPr>
                    <a:solidFill>
                      <a:srgbClr val="F2F2F2"/>
                    </a:solidFill>
                  </a:tcPr>
                </a:tc>
                <a:tc>
                  <a:txBody>
                    <a:bodyPr/>
                    <a:lstStyle/>
                    <a:p>
                      <a:pPr algn="ctr">
                        <a:spcBef>
                          <a:spcPts val="200"/>
                        </a:spcBef>
                        <a:spcAft>
                          <a:spcPts val="200"/>
                        </a:spcAft>
                      </a:pPr>
                      <a:r>
                        <a:rPr sz="1200" b="0">
                          <a:solidFill>
                            <a:srgbClr val="404040"/>
                          </a:solidFill>
                        </a:rPr>
                        <a:t>2.35%</a:t>
                      </a:r>
                    </a:p>
                  </a:txBody>
                  <a:tcPr>
                    <a:solidFill>
                      <a:srgbClr val="F2F2F2"/>
                    </a:solidFill>
                  </a:tcPr>
                </a:tc>
              </a:tr>
              <a:tr h="420624">
                <a:tc>
                  <a:txBody>
                    <a:bodyPr/>
                    <a:lstStyle/>
                    <a:p>
                      <a:pPr algn="l">
                        <a:spcBef>
                          <a:spcPts val="200"/>
                        </a:spcBef>
                        <a:spcAft>
                          <a:spcPts val="200"/>
                        </a:spcAft>
                      </a:pPr>
                      <a:r>
                        <a:rPr sz="1200" b="1">
                          <a:solidFill>
                            <a:srgbClr val="404040"/>
                          </a:solidFill>
                        </a:rPr>
                        <a:t>PATS avg</a:t>
                      </a:r>
                    </a:p>
                  </a:txBody>
                  <a:tcPr>
                    <a:solidFill>
                      <a:srgbClr val="BDD7EE"/>
                    </a:solidFill>
                  </a:tcPr>
                </a:tc>
                <a:tc>
                  <a:txBody>
                    <a:bodyPr/>
                    <a:lstStyle/>
                    <a:p>
                      <a:pPr algn="ctr">
                        <a:spcBef>
                          <a:spcPts val="200"/>
                        </a:spcBef>
                        <a:spcAft>
                          <a:spcPts val="200"/>
                        </a:spcAft>
                      </a:pPr>
                      <a:r>
                        <a:rPr sz="1200" b="1">
                          <a:solidFill>
                            <a:srgbClr val="404040"/>
                          </a:solidFill>
                        </a:rPr>
                        <a:t>1.31%</a:t>
                      </a:r>
                    </a:p>
                  </a:txBody>
                  <a:tcPr>
                    <a:solidFill>
                      <a:srgbClr val="BDD7EE"/>
                    </a:solidFill>
                  </a:tcPr>
                </a:tc>
                <a:tc>
                  <a:txBody>
                    <a:bodyPr/>
                    <a:lstStyle/>
                    <a:p>
                      <a:pPr algn="ctr">
                        <a:spcBef>
                          <a:spcPts val="200"/>
                        </a:spcBef>
                        <a:spcAft>
                          <a:spcPts val="200"/>
                        </a:spcAft>
                      </a:pPr>
                      <a:r>
                        <a:rPr sz="1200" b="1">
                          <a:solidFill>
                            <a:srgbClr val="404040"/>
                          </a:solidFill>
                        </a:rPr>
                        <a:t>1.34%</a:t>
                      </a:r>
                    </a:p>
                  </a:txBody>
                  <a:tcPr>
                    <a:solidFill>
                      <a:srgbClr val="BDD7EE"/>
                    </a:solidFill>
                  </a:tcPr>
                </a:tc>
              </a:tr>
            </a:tbl>
          </a:graphicData>
        </a:graphic>
      </p:graphicFrame>
      <p:sp>
        <p:nvSpPr>
          <p:cNvPr id="10" name="Rectangle 9"/>
          <p:cNvSpPr/>
          <p:nvPr/>
        </p:nvSpPr>
        <p:spPr>
          <a:xfrm>
            <a:off x="6126480" y="1280160"/>
            <a:ext cx="5742432" cy="5212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40" y="1325880"/>
            <a:ext cx="5486400" cy="365760"/>
          </a:xfrm>
          <a:prstGeom prst="rect">
            <a:avLst/>
          </a:prstGeom>
          <a:noFill/>
        </p:spPr>
        <p:txBody>
          <a:bodyPr wrap="square">
            <a:spAutoFit/>
          </a:bodyPr>
          <a:lstStyle/>
          <a:p>
            <a:pPr algn="l"/>
            <a:r>
              <a:rPr sz="1600" b="1">
                <a:solidFill>
                  <a:srgbClr val="1F3864"/>
                </a:solidFill>
              </a:rPr>
              <a:t>KHATT  (Handwritten / Real)</a:t>
            </a:r>
          </a:p>
        </p:txBody>
      </p:sp>
      <p:sp>
        <p:nvSpPr>
          <p:cNvPr id="12" name="TextBox 11"/>
          <p:cNvSpPr txBox="1"/>
          <p:nvPr/>
        </p:nvSpPr>
        <p:spPr>
          <a:xfrm>
            <a:off x="6263640" y="1691640"/>
            <a:ext cx="5486400" cy="320040"/>
          </a:xfrm>
          <a:prstGeom prst="rect">
            <a:avLst/>
          </a:prstGeom>
          <a:noFill/>
        </p:spPr>
        <p:txBody>
          <a:bodyPr wrap="square">
            <a:spAutoFit/>
          </a:bodyPr>
          <a:lstStyle/>
          <a:p>
            <a:pPr algn="l"/>
            <a:r>
              <a:rPr sz="1300" b="0">
                <a:solidFill>
                  <a:srgbClr val="404040"/>
                </a:solidFill>
              </a:rPr>
              <a:t>Writers of varied styles  ·  226 validation pages</a:t>
            </a:r>
          </a:p>
        </p:txBody>
      </p:sp>
      <p:sp>
        <p:nvSpPr>
          <p:cNvPr id="13" name="TextBox 12"/>
          <p:cNvSpPr txBox="1"/>
          <p:nvPr/>
        </p:nvSpPr>
        <p:spPr>
          <a:xfrm>
            <a:off x="6263640" y="2103120"/>
            <a:ext cx="5486400" cy="365760"/>
          </a:xfrm>
          <a:prstGeom prst="rect">
            <a:avLst/>
          </a:prstGeom>
          <a:noFill/>
        </p:spPr>
        <p:txBody>
          <a:bodyPr wrap="square">
            <a:spAutoFit/>
          </a:bodyPr>
          <a:lstStyle/>
          <a:p>
            <a:pPr algn="l"/>
            <a:r>
              <a:rPr sz="1900" b="1">
                <a:solidFill>
                  <a:srgbClr val="C00000"/>
                </a:solidFill>
              </a:rPr>
              <a:t>CER: 5.66%   |   WER: 7.25%   |   Runaway: 17.7%</a:t>
            </a:r>
          </a:p>
        </p:txBody>
      </p:sp>
      <p:sp>
        <p:nvSpPr>
          <p:cNvPr id="14" name="TextBox 13"/>
          <p:cNvSpPr txBox="1"/>
          <p:nvPr/>
        </p:nvSpPr>
        <p:spPr>
          <a:xfrm>
            <a:off x="6263640" y="2743200"/>
            <a:ext cx="5486400" cy="365760"/>
          </a:xfrm>
          <a:prstGeom prst="rect">
            <a:avLst/>
          </a:prstGeom>
          <a:noFill/>
        </p:spPr>
        <p:txBody>
          <a:bodyPr wrap="square">
            <a:spAutoFit/>
          </a:bodyPr>
          <a:lstStyle/>
          <a:p>
            <a:pPr algn="l"/>
            <a:r>
              <a:rPr sz="1400" b="1">
                <a:solidFill>
                  <a:srgbClr val="1F3864"/>
                </a:solidFill>
              </a:rPr>
              <a:t>Key Observations:</a:t>
            </a:r>
          </a:p>
        </p:txBody>
      </p:sp>
      <p:sp>
        <p:nvSpPr>
          <p:cNvPr id="15" name="TextBox 14"/>
          <p:cNvSpPr txBox="1"/>
          <p:nvPr/>
        </p:nvSpPr>
        <p:spPr>
          <a:xfrm>
            <a:off x="6263640" y="3108960"/>
            <a:ext cx="5486400" cy="283464"/>
          </a:xfrm>
          <a:prstGeom prst="rect">
            <a:avLst/>
          </a:prstGeom>
          <a:noFill/>
        </p:spPr>
        <p:txBody>
          <a:bodyPr wrap="square">
            <a:spAutoFit/>
          </a:bodyPr>
          <a:lstStyle/>
          <a:p>
            <a:pPr algn="l"/>
            <a:r>
              <a:rPr sz="1300" b="0">
                <a:solidFill>
                  <a:srgbClr val="404040"/>
                </a:solidFill>
              </a:rPr>
              <a:t>KHATT CER is 4.3x higher than PATS average</a:t>
            </a:r>
          </a:p>
        </p:txBody>
      </p:sp>
      <p:sp>
        <p:nvSpPr>
          <p:cNvPr id="16" name="TextBox 15"/>
          <p:cNvSpPr txBox="1"/>
          <p:nvPr/>
        </p:nvSpPr>
        <p:spPr>
          <a:xfrm>
            <a:off x="6263640" y="3374136"/>
            <a:ext cx="5486400" cy="283464"/>
          </a:xfrm>
          <a:prstGeom prst="rect">
            <a:avLst/>
          </a:prstGeom>
          <a:noFill/>
        </p:spPr>
        <p:txBody>
          <a:bodyPr wrap="square">
            <a:spAutoFit/>
          </a:bodyPr>
          <a:lstStyle/>
          <a:p>
            <a:pPr algn="l"/>
            <a:r>
              <a:rPr sz="1300" b="0">
                <a:solidFill>
                  <a:srgbClr val="404040"/>
                </a:solidFill>
              </a:rPr>
              <a:t>Runaway samples (Qaari repetition bug):</a:t>
            </a:r>
          </a:p>
        </p:txBody>
      </p:sp>
      <p:sp>
        <p:nvSpPr>
          <p:cNvPr id="17" name="TextBox 16"/>
          <p:cNvSpPr txBox="1"/>
          <p:nvPr/>
        </p:nvSpPr>
        <p:spPr>
          <a:xfrm>
            <a:off x="6263640" y="3639312"/>
            <a:ext cx="5486400" cy="283464"/>
          </a:xfrm>
          <a:prstGeom prst="rect">
            <a:avLst/>
          </a:prstGeom>
          <a:noFill/>
        </p:spPr>
        <p:txBody>
          <a:bodyPr wrap="square">
            <a:spAutoFit/>
          </a:bodyPr>
          <a:lstStyle/>
          <a:p>
            <a:pPr algn="l"/>
            <a:r>
              <a:rPr sz="1300" b="0">
                <a:solidFill>
                  <a:srgbClr val="404040"/>
                </a:solidFill>
              </a:rPr>
              <a:t>  KHATT: 17.7%,  Tahoma: 10.4%</a:t>
            </a:r>
          </a:p>
        </p:txBody>
      </p:sp>
      <p:sp>
        <p:nvSpPr>
          <p:cNvPr id="18" name="TextBox 17"/>
          <p:cNvSpPr txBox="1"/>
          <p:nvPr/>
        </p:nvSpPr>
        <p:spPr>
          <a:xfrm>
            <a:off x="6263640" y="3904488"/>
            <a:ext cx="5486400" cy="283464"/>
          </a:xfrm>
          <a:prstGeom prst="rect">
            <a:avLst/>
          </a:prstGeom>
          <a:noFill/>
        </p:spPr>
        <p:txBody>
          <a:bodyPr wrap="square">
            <a:spAutoFit/>
          </a:bodyPr>
          <a:lstStyle/>
          <a:p>
            <a:pPr algn="l"/>
            <a:r>
              <a:rPr sz="1300" b="0">
                <a:solidFill>
                  <a:srgbClr val="404040"/>
                </a:solidFill>
              </a:rPr>
              <a:t>  Most PATS fonts: 3.5 – 6%</a:t>
            </a:r>
          </a:p>
        </p:txBody>
      </p:sp>
      <p:sp>
        <p:nvSpPr>
          <p:cNvPr id="19" name="TextBox 18"/>
          <p:cNvSpPr txBox="1"/>
          <p:nvPr/>
        </p:nvSpPr>
        <p:spPr>
          <a:xfrm>
            <a:off x="6263640" y="4169664"/>
            <a:ext cx="5486400" cy="283464"/>
          </a:xfrm>
          <a:prstGeom prst="rect">
            <a:avLst/>
          </a:prstGeom>
          <a:noFill/>
        </p:spPr>
        <p:txBody>
          <a:bodyPr wrap="square">
            <a:spAutoFit/>
          </a:bodyPr>
          <a:lstStyle/>
          <a:p>
            <a:pPr algn="l"/>
            <a:r>
              <a:rPr sz="1300" b="0">
                <a:solidFill>
                  <a:srgbClr val="404040"/>
                </a:solidFill>
              </a:rPr>
              <a:t>Tahoma is hardest typewritten font (CER 2.39%)</a:t>
            </a:r>
          </a:p>
        </p:txBody>
      </p:sp>
      <p:sp>
        <p:nvSpPr>
          <p:cNvPr id="20" name="TextBox 19"/>
          <p:cNvSpPr txBox="1"/>
          <p:nvPr/>
        </p:nvSpPr>
        <p:spPr>
          <a:xfrm>
            <a:off x="6263640" y="4434840"/>
            <a:ext cx="5486400" cy="283464"/>
          </a:xfrm>
          <a:prstGeom prst="rect">
            <a:avLst/>
          </a:prstGeom>
          <a:noFill/>
        </p:spPr>
        <p:txBody>
          <a:bodyPr wrap="square">
            <a:spAutoFit/>
          </a:bodyPr>
          <a:lstStyle/>
          <a:p>
            <a:pPr algn="l"/>
            <a:r>
              <a:rPr sz="1300" b="0">
                <a:solidFill>
                  <a:srgbClr val="404040"/>
                </a:solidFill>
              </a:rPr>
              <a:t>Naskh is easiest typewritten font (CER 0.86%)</a:t>
            </a:r>
          </a:p>
        </p:txBody>
      </p:sp>
      <p:sp>
        <p:nvSpPr>
          <p:cNvPr id="21" name="TextBox 20"/>
          <p:cNvSpPr txBox="1"/>
          <p:nvPr/>
        </p:nvSpPr>
        <p:spPr>
          <a:xfrm>
            <a:off x="6263640" y="4700016"/>
            <a:ext cx="5486400" cy="283464"/>
          </a:xfrm>
          <a:prstGeom prst="rect">
            <a:avLst/>
          </a:prstGeom>
          <a:noFill/>
        </p:spPr>
        <p:txBody>
          <a:bodyPr wrap="square">
            <a:spAutoFit/>
          </a:bodyPr>
          <a:lstStyle/>
          <a:p>
            <a:pPr algn="l"/>
            <a:endParaRPr/>
          </a:p>
        </p:txBody>
      </p:sp>
      <p:sp>
        <p:nvSpPr>
          <p:cNvPr id="22" name="TextBox 21"/>
          <p:cNvSpPr txBox="1"/>
          <p:nvPr/>
        </p:nvSpPr>
        <p:spPr>
          <a:xfrm>
            <a:off x="6263640" y="4965192"/>
            <a:ext cx="5486400" cy="283464"/>
          </a:xfrm>
          <a:prstGeom prst="rect">
            <a:avLst/>
          </a:prstGeom>
          <a:noFill/>
        </p:spPr>
        <p:txBody>
          <a:bodyPr wrap="square">
            <a:spAutoFit/>
          </a:bodyPr>
          <a:lstStyle/>
          <a:p>
            <a:pPr algn="l"/>
            <a:r>
              <a:rPr sz="1300" b="0">
                <a:solidFill>
                  <a:srgbClr val="404040"/>
                </a:solidFill>
              </a:rPr>
              <a:t>Two very different correction challenges:</a:t>
            </a:r>
          </a:p>
        </p:txBody>
      </p:sp>
      <p:sp>
        <p:nvSpPr>
          <p:cNvPr id="23" name="TextBox 22"/>
          <p:cNvSpPr txBox="1"/>
          <p:nvPr/>
        </p:nvSpPr>
        <p:spPr>
          <a:xfrm>
            <a:off x="6263640" y="5230368"/>
            <a:ext cx="5486400" cy="283464"/>
          </a:xfrm>
          <a:prstGeom prst="rect">
            <a:avLst/>
          </a:prstGeom>
          <a:noFill/>
        </p:spPr>
        <p:txBody>
          <a:bodyPr wrap="square">
            <a:spAutoFit/>
          </a:bodyPr>
          <a:lstStyle/>
          <a:p>
            <a:pPr algn="l"/>
            <a:r>
              <a:rPr sz="1300" b="0">
                <a:solidFill>
                  <a:srgbClr val="404040"/>
                </a:solidFill>
              </a:rPr>
              <a:t>  PATS — already accurate, LLM risks over-correction</a:t>
            </a:r>
          </a:p>
        </p:txBody>
      </p:sp>
      <p:sp>
        <p:nvSpPr>
          <p:cNvPr id="24" name="TextBox 23"/>
          <p:cNvSpPr txBox="1"/>
          <p:nvPr/>
        </p:nvSpPr>
        <p:spPr>
          <a:xfrm>
            <a:off x="6263640" y="5495544"/>
            <a:ext cx="5486400" cy="283464"/>
          </a:xfrm>
          <a:prstGeom prst="rect">
            <a:avLst/>
          </a:prstGeom>
          <a:noFill/>
        </p:spPr>
        <p:txBody>
          <a:bodyPr wrap="square">
            <a:spAutoFit/>
          </a:bodyPr>
          <a:lstStyle/>
          <a:p>
            <a:pPr algn="l"/>
            <a:r>
              <a:rPr sz="1300" b="0">
                <a:solidFill>
                  <a:srgbClr val="404040"/>
                </a:solidFill>
              </a:rPr>
              <a:t>  KHATT — high noise, LLM has more to gain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8-Phase Experimental Design</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Each phase isolates one variable; all compare to Phase 2 (zero-shot) baseline</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4 / 15</a:t>
            </a:r>
          </a:p>
        </p:txBody>
      </p:sp>
      <p:graphicFrame>
        <p:nvGraphicFramePr>
          <p:cNvPr id="6" name="Table 5"/>
          <p:cNvGraphicFramePr>
            <a:graphicFrameLocks noGrp="1"/>
          </p:cNvGraphicFramePr>
          <p:nvPr/>
        </p:nvGraphicFramePr>
        <p:xfrm>
          <a:off x="320040" y="1234440"/>
          <a:ext cx="11548872" cy="5349240"/>
        </p:xfrm>
        <a:graphic>
          <a:graphicData uri="http://schemas.openxmlformats.org/drawingml/2006/table">
            <a:tbl>
              <a:tblPr firstRow="1" bandRow="1">
                <a:tableStyleId>{5C22544A-7EE6-4342-B048-85BDC9FD1C3A}</a:tableStyleId>
              </a:tblPr>
              <a:tblGrid>
                <a:gridCol w="914400"/>
                <a:gridCol w="2286000"/>
                <a:gridCol w="4114800"/>
                <a:gridCol w="4233672"/>
              </a:tblGrid>
              <a:tr h="594360">
                <a:tc>
                  <a:txBody>
                    <a:bodyPr/>
                    <a:lstStyle/>
                    <a:p>
                      <a:pPr algn="ctr">
                        <a:spcBef>
                          <a:spcPts val="200"/>
                        </a:spcBef>
                        <a:spcAft>
                          <a:spcPts val="200"/>
                        </a:spcAft>
                      </a:pPr>
                      <a:r>
                        <a:rPr sz="1300" b="1">
                          <a:solidFill>
                            <a:srgbClr val="FFFFFF"/>
                          </a:solidFill>
                        </a:rPr>
                        <a:t>Phase</a:t>
                      </a:r>
                    </a:p>
                  </a:txBody>
                  <a:tcPr>
                    <a:solidFill>
                      <a:srgbClr val="1F3864"/>
                    </a:solidFill>
                  </a:tcPr>
                </a:tc>
                <a:tc>
                  <a:txBody>
                    <a:bodyPr/>
                    <a:lstStyle/>
                    <a:p>
                      <a:pPr algn="ctr">
                        <a:spcBef>
                          <a:spcPts val="200"/>
                        </a:spcBef>
                        <a:spcAft>
                          <a:spcPts val="200"/>
                        </a:spcAft>
                      </a:pPr>
                      <a:r>
                        <a:rPr sz="1300" b="1">
                          <a:solidFill>
                            <a:srgbClr val="FFFFFF"/>
                          </a:solidFill>
                        </a:rPr>
                        <a:t>Name</a:t>
                      </a:r>
                    </a:p>
                  </a:txBody>
                  <a:tcPr>
                    <a:solidFill>
                      <a:srgbClr val="1F3864"/>
                    </a:solidFill>
                  </a:tcPr>
                </a:tc>
                <a:tc>
                  <a:txBody>
                    <a:bodyPr/>
                    <a:lstStyle/>
                    <a:p>
                      <a:pPr algn="ctr">
                        <a:spcBef>
                          <a:spcPts val="200"/>
                        </a:spcBef>
                        <a:spcAft>
                          <a:spcPts val="200"/>
                        </a:spcAft>
                      </a:pPr>
                      <a:r>
                        <a:rPr sz="1300" b="1">
                          <a:solidFill>
                            <a:srgbClr val="FFFFFF"/>
                          </a:solidFill>
                        </a:rPr>
                        <a:t>What it tests</a:t>
                      </a:r>
                    </a:p>
                  </a:txBody>
                  <a:tcPr>
                    <a:solidFill>
                      <a:srgbClr val="1F3864"/>
                    </a:solidFill>
                  </a:tcPr>
                </a:tc>
                <a:tc>
                  <a:txBody>
                    <a:bodyPr/>
                    <a:lstStyle/>
                    <a:p>
                      <a:pPr algn="ctr">
                        <a:spcBef>
                          <a:spcPts val="200"/>
                        </a:spcBef>
                        <a:spcAft>
                          <a:spcPts val="200"/>
                        </a:spcAft>
                      </a:pPr>
                      <a:r>
                        <a:rPr sz="1300" b="1">
                          <a:solidFill>
                            <a:srgbClr val="FFFFFF"/>
                          </a:solidFill>
                        </a:rPr>
                        <a:t>Key signal added</a:t>
                      </a:r>
                    </a:p>
                  </a:txBody>
                  <a:tcPr>
                    <a:solidFill>
                      <a:srgbClr val="1F3864"/>
                    </a:solidFill>
                  </a:tcPr>
                </a:tc>
              </a:tr>
              <a:tr h="594360">
                <a:tc>
                  <a:txBody>
                    <a:bodyPr/>
                    <a:lstStyle/>
                    <a:p>
                      <a:pPr algn="ctr">
                        <a:spcBef>
                          <a:spcPts val="200"/>
                        </a:spcBef>
                        <a:spcAft>
                          <a:spcPts val="200"/>
                        </a:spcAft>
                      </a:pPr>
                      <a:r>
                        <a:rPr sz="1200" b="0">
                          <a:solidFill>
                            <a:srgbClr val="1F3864"/>
                          </a:solidFill>
                        </a:rPr>
                        <a:t>1</a:t>
                      </a:r>
                    </a:p>
                  </a:txBody>
                  <a:tcPr>
                    <a:solidFill>
                      <a:srgbClr val="F2F2F2"/>
                    </a:solidFill>
                  </a:tcPr>
                </a:tc>
                <a:tc>
                  <a:txBody>
                    <a:bodyPr/>
                    <a:lstStyle/>
                    <a:p>
                      <a:pPr algn="l">
                        <a:spcBef>
                          <a:spcPts val="200"/>
                        </a:spcBef>
                        <a:spcAft>
                          <a:spcPts val="200"/>
                        </a:spcAft>
                      </a:pPr>
                      <a:r>
                        <a:rPr sz="1200" b="0">
                          <a:solidFill>
                            <a:srgbClr val="404040"/>
                          </a:solidFill>
                        </a:rPr>
                        <a:t>Baseline</a:t>
                      </a:r>
                    </a:p>
                  </a:txBody>
                  <a:tcPr>
                    <a:solidFill>
                      <a:srgbClr val="F2F2F2"/>
                    </a:solidFill>
                  </a:tcPr>
                </a:tc>
                <a:tc>
                  <a:txBody>
                    <a:bodyPr/>
                    <a:lstStyle/>
                    <a:p>
                      <a:pPr algn="l">
                        <a:spcBef>
                          <a:spcPts val="200"/>
                        </a:spcBef>
                        <a:spcAft>
                          <a:spcPts val="200"/>
                        </a:spcAft>
                      </a:pPr>
                      <a:r>
                        <a:rPr sz="1100" b="0">
                          <a:solidFill>
                            <a:srgbClr val="404040"/>
                          </a:solidFill>
                        </a:rPr>
                        <a:t>Raw Qaari OCR quality, error taxonomy</a:t>
                      </a:r>
                    </a:p>
                  </a:txBody>
                  <a:tcPr>
                    <a:solidFill>
                      <a:srgbClr val="F2F2F2"/>
                    </a:solidFill>
                  </a:tcPr>
                </a:tc>
                <a:tc>
                  <a:txBody>
                    <a:bodyPr/>
                    <a:lstStyle/>
                    <a:p>
                      <a:pPr algn="l">
                        <a:spcBef>
                          <a:spcPts val="200"/>
                        </a:spcBef>
                        <a:spcAft>
                          <a:spcPts val="200"/>
                        </a:spcAft>
                      </a:pPr>
                      <a:r>
                        <a:rPr sz="1100" b="0">
                          <a:solidFill>
                            <a:srgbClr val="404040"/>
                          </a:solidFill>
                        </a:rPr>
                        <a:t>None (reference)</a:t>
                      </a:r>
                    </a:p>
                  </a:txBody>
                  <a:tcPr>
                    <a:solidFill>
                      <a:srgbClr val="F2F2F2"/>
                    </a:solidFill>
                  </a:tcPr>
                </a:tc>
              </a:tr>
              <a:tr h="594360">
                <a:tc>
                  <a:txBody>
                    <a:bodyPr/>
                    <a:lstStyle/>
                    <a:p>
                      <a:pPr algn="ctr">
                        <a:spcBef>
                          <a:spcPts val="200"/>
                        </a:spcBef>
                        <a:spcAft>
                          <a:spcPts val="200"/>
                        </a:spcAft>
                      </a:pPr>
                      <a:r>
                        <a:rPr sz="1200" b="0">
                          <a:solidFill>
                            <a:srgbClr val="1F3864"/>
                          </a:solidFill>
                        </a:rPr>
                        <a:t>2</a:t>
                      </a:r>
                    </a:p>
                  </a:txBody>
                  <a:tcPr>
                    <a:solidFill>
                      <a:srgbClr val="FFFFFF"/>
                    </a:solidFill>
                  </a:tcPr>
                </a:tc>
                <a:tc>
                  <a:txBody>
                    <a:bodyPr/>
                    <a:lstStyle/>
                    <a:p>
                      <a:pPr algn="l">
                        <a:spcBef>
                          <a:spcPts val="200"/>
                        </a:spcBef>
                        <a:spcAft>
                          <a:spcPts val="200"/>
                        </a:spcAft>
                      </a:pPr>
                      <a:r>
                        <a:rPr sz="1200" b="0">
                          <a:solidFill>
                            <a:srgbClr val="404040"/>
                          </a:solidFill>
                        </a:rPr>
                        <a:t>Zero-Shot LLM</a:t>
                      </a:r>
                    </a:p>
                  </a:txBody>
                  <a:tcPr>
                    <a:solidFill>
                      <a:srgbClr val="FFFFFF"/>
                    </a:solidFill>
                  </a:tcPr>
                </a:tc>
                <a:tc>
                  <a:txBody>
                    <a:bodyPr/>
                    <a:lstStyle/>
                    <a:p>
                      <a:pPr algn="l">
                        <a:spcBef>
                          <a:spcPts val="200"/>
                        </a:spcBef>
                        <a:spcAft>
                          <a:spcPts val="200"/>
                        </a:spcAft>
                      </a:pPr>
                      <a:r>
                        <a:rPr sz="1100" b="0">
                          <a:solidFill>
                            <a:srgbClr val="404040"/>
                          </a:solidFill>
                        </a:rPr>
                        <a:t>Can vanilla LLM fix OCR without any extra context?</a:t>
                      </a:r>
                    </a:p>
                  </a:txBody>
                  <a:tcPr>
                    <a:solidFill>
                      <a:srgbClr val="FFFFFF"/>
                    </a:solidFill>
                  </a:tcPr>
                </a:tc>
                <a:tc>
                  <a:txBody>
                    <a:bodyPr/>
                    <a:lstStyle/>
                    <a:p>
                      <a:pPr algn="l">
                        <a:spcBef>
                          <a:spcPts val="200"/>
                        </a:spcBef>
                        <a:spcAft>
                          <a:spcPts val="200"/>
                        </a:spcAft>
                      </a:pPr>
                      <a:r>
                        <a:rPr sz="1100" b="0">
                          <a:solidFill>
                            <a:srgbClr val="404040"/>
                          </a:solidFill>
                        </a:rPr>
                        <a:t>None (base prompt p2v2)</a:t>
                      </a:r>
                    </a:p>
                  </a:txBody>
                  <a:tcPr>
                    <a:solidFill>
                      <a:srgbClr val="FFFFFF"/>
                    </a:solidFill>
                  </a:tcPr>
                </a:tc>
              </a:tr>
              <a:tr h="594360">
                <a:tc>
                  <a:txBody>
                    <a:bodyPr/>
                    <a:lstStyle/>
                    <a:p>
                      <a:pPr algn="ctr">
                        <a:spcBef>
                          <a:spcPts val="200"/>
                        </a:spcBef>
                        <a:spcAft>
                          <a:spcPts val="200"/>
                        </a:spcAft>
                      </a:pPr>
                      <a:r>
                        <a:rPr sz="1200" b="0">
                          <a:solidFill>
                            <a:srgbClr val="1F3864"/>
                          </a:solidFill>
                        </a:rPr>
                        <a:t>3</a:t>
                      </a:r>
                    </a:p>
                  </a:txBody>
                  <a:tcPr>
                    <a:solidFill>
                      <a:srgbClr val="F2F2F2"/>
                    </a:solidFill>
                  </a:tcPr>
                </a:tc>
                <a:tc>
                  <a:txBody>
                    <a:bodyPr/>
                    <a:lstStyle/>
                    <a:p>
                      <a:pPr algn="l">
                        <a:spcBef>
                          <a:spcPts val="200"/>
                        </a:spcBef>
                        <a:spcAft>
                          <a:spcPts val="200"/>
                        </a:spcAft>
                      </a:pPr>
                      <a:r>
                        <a:rPr sz="1200" b="0">
                          <a:solidFill>
                            <a:srgbClr val="404040"/>
                          </a:solidFill>
                        </a:rPr>
                        <a:t>OCR-Aware</a:t>
                      </a:r>
                    </a:p>
                  </a:txBody>
                  <a:tcPr>
                    <a:solidFill>
                      <a:srgbClr val="F2F2F2"/>
                    </a:solidFill>
                  </a:tcPr>
                </a:tc>
                <a:tc>
                  <a:txBody>
                    <a:bodyPr/>
                    <a:lstStyle/>
                    <a:p>
                      <a:pPr algn="l">
                        <a:spcBef>
                          <a:spcPts val="200"/>
                        </a:spcBef>
                        <a:spcAft>
                          <a:spcPts val="200"/>
                        </a:spcAft>
                      </a:pPr>
                      <a:r>
                        <a:rPr sz="1100" b="0">
                          <a:solidFill>
                            <a:srgbClr val="404040"/>
                          </a:solidFill>
                        </a:rPr>
                        <a:t>Does confusion-matrix knowledge help?</a:t>
                      </a:r>
                    </a:p>
                  </a:txBody>
                  <a:tcPr>
                    <a:solidFill>
                      <a:srgbClr val="F2F2F2"/>
                    </a:solidFill>
                  </a:tcPr>
                </a:tc>
                <a:tc>
                  <a:txBody>
                    <a:bodyPr/>
                    <a:lstStyle/>
                    <a:p>
                      <a:pPr algn="l">
                        <a:spcBef>
                          <a:spcPts val="200"/>
                        </a:spcBef>
                        <a:spcAft>
                          <a:spcPts val="200"/>
                        </a:spcAft>
                      </a:pPr>
                      <a:r>
                        <a:rPr sz="1100" b="0">
                          <a:solidFill>
                            <a:srgbClr val="404040"/>
                          </a:solidFill>
                        </a:rPr>
                        <a:t>Top-10 char confusions + LLM failure filter</a:t>
                      </a:r>
                    </a:p>
                  </a:txBody>
                  <a:tcPr>
                    <a:solidFill>
                      <a:srgbClr val="F2F2F2"/>
                    </a:solidFill>
                  </a:tcPr>
                </a:tc>
              </a:tr>
              <a:tr h="594360">
                <a:tc>
                  <a:txBody>
                    <a:bodyPr/>
                    <a:lstStyle/>
                    <a:p>
                      <a:pPr algn="ctr">
                        <a:spcBef>
                          <a:spcPts val="200"/>
                        </a:spcBef>
                        <a:spcAft>
                          <a:spcPts val="200"/>
                        </a:spcAft>
                      </a:pPr>
                      <a:r>
                        <a:rPr sz="1200" b="0">
                          <a:solidFill>
                            <a:srgbClr val="1F3864"/>
                          </a:solidFill>
                        </a:rPr>
                        <a:t>4</a:t>
                      </a:r>
                    </a:p>
                  </a:txBody>
                  <a:tcPr>
                    <a:solidFill>
                      <a:srgbClr val="FFFFFF"/>
                    </a:solidFill>
                  </a:tcPr>
                </a:tc>
                <a:tc>
                  <a:txBody>
                    <a:bodyPr/>
                    <a:lstStyle/>
                    <a:p>
                      <a:pPr algn="l">
                        <a:spcBef>
                          <a:spcPts val="200"/>
                        </a:spcBef>
                        <a:spcAft>
                          <a:spcPts val="200"/>
                        </a:spcAft>
                      </a:pPr>
                      <a:r>
                        <a:rPr sz="1200" b="0">
                          <a:solidFill>
                            <a:srgbClr val="404040"/>
                          </a:solidFill>
                        </a:rPr>
                        <a:t>Self-Reflective</a:t>
                      </a:r>
                    </a:p>
                  </a:txBody>
                  <a:tcPr>
                    <a:solidFill>
                      <a:srgbClr val="FFFFFF"/>
                    </a:solidFill>
                  </a:tcPr>
                </a:tc>
                <a:tc>
                  <a:txBody>
                    <a:bodyPr/>
                    <a:lstStyle/>
                    <a:p>
                      <a:pPr algn="l">
                        <a:spcBef>
                          <a:spcPts val="200"/>
                        </a:spcBef>
                        <a:spcAft>
                          <a:spcPts val="200"/>
                        </a:spcAft>
                      </a:pPr>
                      <a:r>
                        <a:rPr sz="1100" b="0">
                          <a:solidFill>
                            <a:srgbClr val="404040"/>
                          </a:solidFill>
                        </a:rPr>
                        <a:t>Do error-pattern warnings reduce over-correction?</a:t>
                      </a:r>
                    </a:p>
                  </a:txBody>
                  <a:tcPr>
                    <a:solidFill>
                      <a:srgbClr val="FFFFFF"/>
                    </a:solidFill>
                  </a:tcPr>
                </a:tc>
                <a:tc>
                  <a:txBody>
                    <a:bodyPr/>
                    <a:lstStyle/>
                    <a:p>
                      <a:pPr algn="l">
                        <a:spcBef>
                          <a:spcPts val="200"/>
                        </a:spcBef>
                        <a:spcAft>
                          <a:spcPts val="200"/>
                        </a:spcAft>
                      </a:pPr>
                      <a:r>
                        <a:rPr sz="1100" b="0">
                          <a:solidFill>
                            <a:srgbClr val="404040"/>
                          </a:solidFill>
                        </a:rPr>
                        <a:t>Training failure pairs + overcorrection alerts</a:t>
                      </a:r>
                    </a:p>
                  </a:txBody>
                  <a:tcPr>
                    <a:solidFill>
                      <a:srgbClr val="FFFFFF"/>
                    </a:solidFill>
                  </a:tcPr>
                </a:tc>
              </a:tr>
              <a:tr h="594360">
                <a:tc>
                  <a:txBody>
                    <a:bodyPr/>
                    <a:lstStyle/>
                    <a:p>
                      <a:pPr algn="ctr">
                        <a:spcBef>
                          <a:spcPts val="200"/>
                        </a:spcBef>
                        <a:spcAft>
                          <a:spcPts val="200"/>
                        </a:spcAft>
                      </a:pPr>
                      <a:r>
                        <a:rPr sz="1200" b="0">
                          <a:solidFill>
                            <a:srgbClr val="1F3864"/>
                          </a:solidFill>
                        </a:rPr>
                        <a:t>5</a:t>
                      </a:r>
                    </a:p>
                  </a:txBody>
                  <a:tcPr>
                    <a:solidFill>
                      <a:srgbClr val="F2F2F2"/>
                    </a:solidFill>
                  </a:tcPr>
                </a:tc>
                <a:tc>
                  <a:txBody>
                    <a:bodyPr/>
                    <a:lstStyle/>
                    <a:p>
                      <a:pPr algn="l">
                        <a:spcBef>
                          <a:spcPts val="200"/>
                        </a:spcBef>
                        <a:spcAft>
                          <a:spcPts val="200"/>
                        </a:spcAft>
                      </a:pPr>
                      <a:r>
                        <a:rPr sz="1200" b="0">
                          <a:solidFill>
                            <a:srgbClr val="404040"/>
                          </a:solidFill>
                        </a:rPr>
                        <a:t>CAMeL Validation</a:t>
                      </a:r>
                    </a:p>
                  </a:txBody>
                  <a:tcPr>
                    <a:solidFill>
                      <a:srgbClr val="F2F2F2"/>
                    </a:solidFill>
                  </a:tcPr>
                </a:tc>
                <a:tc>
                  <a:txBody>
                    <a:bodyPr/>
                    <a:lstStyle/>
                    <a:p>
                      <a:pPr algn="l">
                        <a:spcBef>
                          <a:spcPts val="200"/>
                        </a:spcBef>
                        <a:spcAft>
                          <a:spcPts val="200"/>
                        </a:spcAft>
                      </a:pPr>
                      <a:r>
                        <a:rPr sz="1100" b="0">
                          <a:solidFill>
                            <a:srgbClr val="404040"/>
                          </a:solidFill>
                        </a:rPr>
                        <a:t>Does morphological revert save over-corrected words?</a:t>
                      </a:r>
                    </a:p>
                  </a:txBody>
                  <a:tcPr>
                    <a:solidFill>
                      <a:srgbClr val="F2F2F2"/>
                    </a:solidFill>
                  </a:tcPr>
                </a:tc>
                <a:tc>
                  <a:txBody>
                    <a:bodyPr/>
                    <a:lstStyle/>
                    <a:p>
                      <a:pPr algn="l">
                        <a:spcBef>
                          <a:spcPts val="200"/>
                        </a:spcBef>
                        <a:spcAft>
                          <a:spcPts val="200"/>
                        </a:spcAft>
                      </a:pPr>
                      <a:r>
                        <a:rPr sz="1100" b="0">
                          <a:solidFill>
                            <a:srgbClr val="404040"/>
                          </a:solidFill>
                        </a:rPr>
                        <a:t>CAMeL morph check + known-OC revert</a:t>
                      </a:r>
                    </a:p>
                  </a:txBody>
                  <a:tcPr>
                    <a:solidFill>
                      <a:srgbClr val="F2F2F2"/>
                    </a:solidFill>
                  </a:tcPr>
                </a:tc>
              </a:tr>
              <a:tr h="594360">
                <a:tc>
                  <a:txBody>
                    <a:bodyPr/>
                    <a:lstStyle/>
                    <a:p>
                      <a:pPr algn="ctr">
                        <a:spcBef>
                          <a:spcPts val="200"/>
                        </a:spcBef>
                        <a:spcAft>
                          <a:spcPts val="200"/>
                        </a:spcAft>
                      </a:pPr>
                      <a:r>
                        <a:rPr sz="1200" b="0">
                          <a:solidFill>
                            <a:srgbClr val="1F3864"/>
                          </a:solidFill>
                        </a:rPr>
                        <a:t>6</a:t>
                      </a:r>
                    </a:p>
                  </a:txBody>
                  <a:tcPr>
                    <a:solidFill>
                      <a:srgbClr val="FFFFFF"/>
                    </a:solidFill>
                  </a:tcPr>
                </a:tc>
                <a:tc>
                  <a:txBody>
                    <a:bodyPr/>
                    <a:lstStyle/>
                    <a:p>
                      <a:pPr algn="l">
                        <a:spcBef>
                          <a:spcPts val="200"/>
                        </a:spcBef>
                        <a:spcAft>
                          <a:spcPts val="200"/>
                        </a:spcAft>
                      </a:pPr>
                      <a:r>
                        <a:rPr sz="1200" b="0">
                          <a:solidFill>
                            <a:srgbClr val="404040"/>
                          </a:solidFill>
                        </a:rPr>
                        <a:t>Combinations</a:t>
                      </a:r>
                    </a:p>
                  </a:txBody>
                  <a:tcPr>
                    <a:solidFill>
                      <a:srgbClr val="FFFFFF"/>
                    </a:solidFill>
                  </a:tcPr>
                </a:tc>
                <a:tc>
                  <a:txBody>
                    <a:bodyPr/>
                    <a:lstStyle/>
                    <a:p>
                      <a:pPr algn="l">
                        <a:spcBef>
                          <a:spcPts val="200"/>
                        </a:spcBef>
                        <a:spcAft>
                          <a:spcPts val="200"/>
                        </a:spcAft>
                      </a:pPr>
                      <a:r>
                        <a:rPr sz="1100" b="0">
                          <a:solidFill>
                            <a:srgbClr val="404040"/>
                          </a:solidFill>
                        </a:rPr>
                        <a:t>Do Phase 3+4 signals synergize?</a:t>
                      </a:r>
                    </a:p>
                  </a:txBody>
                  <a:tcPr>
                    <a:solidFill>
                      <a:srgbClr val="FFFFFF"/>
                    </a:solidFill>
                  </a:tcPr>
                </a:tc>
                <a:tc>
                  <a:txBody>
                    <a:bodyPr/>
                    <a:lstStyle/>
                    <a:p>
                      <a:pPr algn="l">
                        <a:spcBef>
                          <a:spcPts val="200"/>
                        </a:spcBef>
                        <a:spcAft>
                          <a:spcPts val="200"/>
                        </a:spcAft>
                      </a:pPr>
                      <a:r>
                        <a:rPr sz="1100" b="0">
                          <a:solidFill>
                            <a:srgbClr val="404040"/>
                          </a:solidFill>
                        </a:rPr>
                        <a:t>Confusion + self-reflective fused prompt</a:t>
                      </a:r>
                    </a:p>
                  </a:txBody>
                  <a:tcPr>
                    <a:solidFill>
                      <a:srgbClr val="FFFFFF"/>
                    </a:solidFill>
                  </a:tcPr>
                </a:tc>
              </a:tr>
              <a:tr h="594360">
                <a:tc>
                  <a:txBody>
                    <a:bodyPr/>
                    <a:lstStyle/>
                    <a:p>
                      <a:pPr algn="ctr">
                        <a:spcBef>
                          <a:spcPts val="200"/>
                        </a:spcBef>
                        <a:spcAft>
                          <a:spcPts val="200"/>
                        </a:spcAft>
                      </a:pPr>
                      <a:r>
                        <a:rPr sz="1200" b="0">
                          <a:solidFill>
                            <a:srgbClr val="1F3864"/>
                          </a:solidFill>
                        </a:rPr>
                        <a:t>7</a:t>
                      </a:r>
                    </a:p>
                  </a:txBody>
                  <a:tcPr>
                    <a:solidFill>
                      <a:srgbClr val="F2F2F2"/>
                    </a:solidFill>
                  </a:tcPr>
                </a:tc>
                <a:tc>
                  <a:txBody>
                    <a:bodyPr/>
                    <a:lstStyle/>
                    <a:p>
                      <a:pPr algn="l">
                        <a:spcBef>
                          <a:spcPts val="200"/>
                        </a:spcBef>
                        <a:spcAft>
                          <a:spcPts val="200"/>
                        </a:spcAft>
                      </a:pPr>
                      <a:r>
                        <a:rPr sz="1200" b="0">
                          <a:solidFill>
                            <a:srgbClr val="404040"/>
                          </a:solidFill>
                        </a:rPr>
                        <a:t>RAG (BM25)</a:t>
                      </a:r>
                    </a:p>
                  </a:txBody>
                  <a:tcPr>
                    <a:solidFill>
                      <a:srgbClr val="F2F2F2"/>
                    </a:solidFill>
                  </a:tcPr>
                </a:tc>
                <a:tc>
                  <a:txBody>
                    <a:bodyPr/>
                    <a:lstStyle/>
                    <a:p>
                      <a:pPr algn="l">
                        <a:spcBef>
                          <a:spcPts val="200"/>
                        </a:spcBef>
                        <a:spcAft>
                          <a:spcPts val="200"/>
                        </a:spcAft>
                      </a:pPr>
                      <a:r>
                        <a:rPr sz="1100" b="0">
                          <a:solidFill>
                            <a:srgbClr val="404040"/>
                          </a:solidFill>
                        </a:rPr>
                        <a:t>Does per-sample retrieval of similar corrections help?</a:t>
                      </a:r>
                    </a:p>
                  </a:txBody>
                  <a:tcPr>
                    <a:solidFill>
                      <a:srgbClr val="F2F2F2"/>
                    </a:solidFill>
                  </a:tcPr>
                </a:tc>
                <a:tc>
                  <a:txBody>
                    <a:bodyPr/>
                    <a:lstStyle/>
                    <a:p>
                      <a:pPr algn="l">
                        <a:spcBef>
                          <a:spcPts val="200"/>
                        </a:spcBef>
                        <a:spcAft>
                          <a:spcPts val="200"/>
                        </a:spcAft>
                      </a:pPr>
                      <a:r>
                        <a:rPr sz="1100" b="0">
                          <a:solidFill>
                            <a:srgbClr val="404040"/>
                          </a:solidFill>
                        </a:rPr>
                        <a:t>Top-5 (OCR→GT) pairs from training index</a:t>
                      </a:r>
                    </a:p>
                  </a:txBody>
                  <a:tcPr>
                    <a:solidFill>
                      <a:srgbClr val="F2F2F2"/>
                    </a:solidFill>
                  </a:tcPr>
                </a:tc>
              </a:tr>
              <a:tr h="594360">
                <a:tc>
                  <a:txBody>
                    <a:bodyPr/>
                    <a:lstStyle/>
                    <a:p>
                      <a:pPr algn="ctr">
                        <a:spcBef>
                          <a:spcPts val="200"/>
                        </a:spcBef>
                        <a:spcAft>
                          <a:spcPts val="200"/>
                        </a:spcAft>
                      </a:pPr>
                      <a:r>
                        <a:rPr sz="1200" b="1">
                          <a:solidFill>
                            <a:srgbClr val="1F3864"/>
                          </a:solidFill>
                        </a:rPr>
                        <a:t>8</a:t>
                      </a:r>
                    </a:p>
                  </a:txBody>
                  <a:tcPr>
                    <a:solidFill>
                      <a:srgbClr val="BDD7EE"/>
                    </a:solidFill>
                  </a:tcPr>
                </a:tc>
                <a:tc>
                  <a:txBody>
                    <a:bodyPr/>
                    <a:lstStyle/>
                    <a:p>
                      <a:pPr algn="l">
                        <a:spcBef>
                          <a:spcPts val="200"/>
                        </a:spcBef>
                        <a:spcAft>
                          <a:spcPts val="200"/>
                        </a:spcAft>
                      </a:pPr>
                      <a:r>
                        <a:rPr sz="1200" b="1">
                          <a:solidFill>
                            <a:srgbClr val="404040"/>
                          </a:solidFill>
                        </a:rPr>
                        <a:t>Error-Sig RAG</a:t>
                      </a:r>
                    </a:p>
                  </a:txBody>
                  <a:tcPr>
                    <a:solidFill>
                      <a:srgbClr val="BDD7EE"/>
                    </a:solidFill>
                  </a:tcPr>
                </a:tc>
                <a:tc>
                  <a:txBody>
                    <a:bodyPr/>
                    <a:lstStyle/>
                    <a:p>
                      <a:pPr algn="l">
                        <a:spcBef>
                          <a:spcPts val="200"/>
                        </a:spcBef>
                        <a:spcAft>
                          <a:spcPts val="200"/>
                        </a:spcAft>
                      </a:pPr>
                      <a:r>
                        <a:rPr sz="1100" b="0">
                          <a:solidFill>
                            <a:srgbClr val="404040"/>
                          </a:solidFill>
                        </a:rPr>
                        <a:t>Does structural similarity retrieval beat surface?</a:t>
                      </a:r>
                    </a:p>
                  </a:txBody>
                  <a:tcPr>
                    <a:solidFill>
                      <a:srgbClr val="BDD7EE"/>
                    </a:solidFill>
                  </a:tcPr>
                </a:tc>
                <a:tc>
                  <a:txBody>
                    <a:bodyPr/>
                    <a:lstStyle/>
                    <a:p>
                      <a:pPr algn="l">
                        <a:spcBef>
                          <a:spcPts val="200"/>
                        </a:spcBef>
                        <a:spcAft>
                          <a:spcPts val="200"/>
                        </a:spcAft>
                      </a:pPr>
                      <a:r>
                        <a:rPr sz="1100" b="0">
                          <a:solidFill>
                            <a:srgbClr val="404040"/>
                          </a:solidFill>
                        </a:rPr>
                        <a:t>CAMeL + confusion-matrix error signature</a:t>
                      </a:r>
                    </a:p>
                  </a:txBody>
                  <a:tcPr>
                    <a:solidFill>
                      <a:srgbClr val="BDD7EE"/>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Main Results — All Phases</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CER = Character Error Rate  ·  WER = Word Error Rate  ·  Lower is better</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5 / 15</a:t>
            </a:r>
          </a:p>
        </p:txBody>
      </p:sp>
      <p:sp>
        <p:nvSpPr>
          <p:cNvPr id="6" name="TextBox 5"/>
          <p:cNvSpPr txBox="1"/>
          <p:nvPr/>
        </p:nvSpPr>
        <p:spPr>
          <a:xfrm>
            <a:off x="320040" y="1188720"/>
            <a:ext cx="11548872" cy="292608"/>
          </a:xfrm>
          <a:prstGeom prst="rect">
            <a:avLst/>
          </a:prstGeom>
          <a:noFill/>
        </p:spPr>
        <p:txBody>
          <a:bodyPr wrap="square">
            <a:spAutoFit/>
          </a:bodyPr>
          <a:lstStyle/>
          <a:p>
            <a:pPr algn="l"/>
            <a:r>
              <a:rPr sz="1200" b="0">
                <a:solidFill>
                  <a:srgbClr val="404040"/>
                </a:solidFill>
              </a:rPr>
              <a:t>Validation set  ·  Diacritics stripped before evaluation  ·  Model: Qwen3-4B-Instruct-2507</a:t>
            </a:r>
          </a:p>
        </p:txBody>
      </p:sp>
      <p:graphicFrame>
        <p:nvGraphicFramePr>
          <p:cNvPr id="7" name="Table 6"/>
          <p:cNvGraphicFramePr>
            <a:graphicFrameLocks noGrp="1"/>
          </p:cNvGraphicFramePr>
          <p:nvPr/>
        </p:nvGraphicFramePr>
        <p:xfrm>
          <a:off x="320040" y="1508760"/>
          <a:ext cx="11548872" cy="5029200"/>
        </p:xfrm>
        <a:graphic>
          <a:graphicData uri="http://schemas.openxmlformats.org/drawingml/2006/table">
            <a:tbl>
              <a:tblPr firstRow="1" bandRow="1">
                <a:tableStyleId>{5C22544A-7EE6-4342-B048-85BDC9FD1C3A}</a:tableStyleId>
              </a:tblPr>
              <a:tblGrid>
                <a:gridCol w="2011680"/>
                <a:gridCol w="2286000"/>
                <a:gridCol w="2286000"/>
                <a:gridCol w="2286000"/>
                <a:gridCol w="2679192"/>
              </a:tblGrid>
              <a:tr h="558800">
                <a:tc>
                  <a:txBody>
                    <a:bodyPr/>
                    <a:lstStyle/>
                    <a:p>
                      <a:pPr algn="ctr">
                        <a:spcBef>
                          <a:spcPts val="200"/>
                        </a:spcBef>
                        <a:spcAft>
                          <a:spcPts val="200"/>
                        </a:spcAft>
                      </a:pPr>
                      <a:r>
                        <a:rPr sz="1300" b="1">
                          <a:solidFill>
                            <a:srgbClr val="FFFFFF"/>
                          </a:solidFill>
                        </a:rPr>
                        <a:t>Phase</a:t>
                      </a:r>
                    </a:p>
                  </a:txBody>
                  <a:tcPr>
                    <a:solidFill>
                      <a:srgbClr val="1F3864"/>
                    </a:solidFill>
                  </a:tcPr>
                </a:tc>
                <a:tc>
                  <a:txBody>
                    <a:bodyPr/>
                    <a:lstStyle/>
                    <a:p>
                      <a:pPr algn="ctr">
                        <a:spcBef>
                          <a:spcPts val="200"/>
                        </a:spcBef>
                        <a:spcAft>
                          <a:spcPts val="200"/>
                        </a:spcAft>
                      </a:pPr>
                      <a:r>
                        <a:rPr sz="1300" b="1">
                          <a:solidFill>
                            <a:srgbClr val="FFFFFF"/>
                          </a:solidFill>
                        </a:rPr>
                        <a:t>PATS avg CER</a:t>
                      </a:r>
                    </a:p>
                  </a:txBody>
                  <a:tcPr>
                    <a:solidFill>
                      <a:srgbClr val="1F3864"/>
                    </a:solidFill>
                  </a:tcPr>
                </a:tc>
                <a:tc>
                  <a:txBody>
                    <a:bodyPr/>
                    <a:lstStyle/>
                    <a:p>
                      <a:pPr algn="ctr">
                        <a:spcBef>
                          <a:spcPts val="200"/>
                        </a:spcBef>
                        <a:spcAft>
                          <a:spcPts val="200"/>
                        </a:spcAft>
                      </a:pPr>
                      <a:r>
                        <a:rPr sz="1300" b="1">
                          <a:solidFill>
                            <a:srgbClr val="FFFFFF"/>
                          </a:solidFill>
                        </a:rPr>
                        <a:t>PATS avg WER</a:t>
                      </a:r>
                    </a:p>
                  </a:txBody>
                  <a:tcPr>
                    <a:solidFill>
                      <a:srgbClr val="1F3864"/>
                    </a:solidFill>
                  </a:tcPr>
                </a:tc>
                <a:tc>
                  <a:txBody>
                    <a:bodyPr/>
                    <a:lstStyle/>
                    <a:p>
                      <a:pPr algn="ctr">
                        <a:spcBef>
                          <a:spcPts val="200"/>
                        </a:spcBef>
                        <a:spcAft>
                          <a:spcPts val="200"/>
                        </a:spcAft>
                      </a:pPr>
                      <a:r>
                        <a:rPr sz="1300" b="1">
                          <a:solidFill>
                            <a:srgbClr val="FFFFFF"/>
                          </a:solidFill>
                        </a:rPr>
                        <a:t>KHATT CER</a:t>
                      </a:r>
                    </a:p>
                  </a:txBody>
                  <a:tcPr>
                    <a:solidFill>
                      <a:srgbClr val="1F3864"/>
                    </a:solidFill>
                  </a:tcPr>
                </a:tc>
                <a:tc>
                  <a:txBody>
                    <a:bodyPr/>
                    <a:lstStyle/>
                    <a:p>
                      <a:pPr algn="ctr">
                        <a:spcBef>
                          <a:spcPts val="200"/>
                        </a:spcBef>
                        <a:spcAft>
                          <a:spcPts val="200"/>
                        </a:spcAft>
                      </a:pPr>
                      <a:r>
                        <a:rPr sz="1300" b="1">
                          <a:solidFill>
                            <a:srgbClr val="FFFFFF"/>
                          </a:solidFill>
                        </a:rPr>
                        <a:t>KHATT WER</a:t>
                      </a:r>
                    </a:p>
                  </a:txBody>
                  <a:tcPr>
                    <a:solidFill>
                      <a:srgbClr val="1F3864"/>
                    </a:solidFill>
                  </a:tcPr>
                </a:tc>
              </a:tr>
              <a:tr h="558800">
                <a:tc>
                  <a:txBody>
                    <a:bodyPr/>
                    <a:lstStyle/>
                    <a:p>
                      <a:pPr algn="l">
                        <a:spcBef>
                          <a:spcPts val="200"/>
                        </a:spcBef>
                        <a:spcAft>
                          <a:spcPts val="200"/>
                        </a:spcAft>
                      </a:pPr>
                      <a:r>
                        <a:rPr sz="1100" b="0">
                          <a:solidFill>
                            <a:srgbClr val="404040"/>
                          </a:solidFill>
                        </a:rPr>
                        <a:t>Phase 1  (OCR Baseline)</a:t>
                      </a:r>
                    </a:p>
                  </a:txBody>
                  <a:tcPr>
                    <a:solidFill>
                      <a:srgbClr val="F2F2F2"/>
                    </a:solidFill>
                  </a:tcPr>
                </a:tc>
                <a:tc>
                  <a:txBody>
                    <a:bodyPr/>
                    <a:lstStyle/>
                    <a:p>
                      <a:pPr algn="ctr">
                        <a:spcBef>
                          <a:spcPts val="200"/>
                        </a:spcBef>
                        <a:spcAft>
                          <a:spcPts val="200"/>
                        </a:spcAft>
                      </a:pPr>
                      <a:r>
                        <a:rPr sz="1200" b="0">
                          <a:solidFill>
                            <a:srgbClr val="404040"/>
                          </a:solidFill>
                        </a:rPr>
                        <a:t>1.31%</a:t>
                      </a:r>
                    </a:p>
                  </a:txBody>
                  <a:tcPr>
                    <a:solidFill>
                      <a:srgbClr val="F2F2F2"/>
                    </a:solidFill>
                  </a:tcPr>
                </a:tc>
                <a:tc>
                  <a:txBody>
                    <a:bodyPr/>
                    <a:lstStyle/>
                    <a:p>
                      <a:pPr algn="ctr">
                        <a:spcBef>
                          <a:spcPts val="200"/>
                        </a:spcBef>
                        <a:spcAft>
                          <a:spcPts val="200"/>
                        </a:spcAft>
                      </a:pPr>
                      <a:r>
                        <a:rPr sz="1200" b="0">
                          <a:solidFill>
                            <a:srgbClr val="404040"/>
                          </a:solidFill>
                        </a:rPr>
                        <a:t>1.34%</a:t>
                      </a:r>
                    </a:p>
                  </a:txBody>
                  <a:tcPr>
                    <a:solidFill>
                      <a:srgbClr val="F2F2F2"/>
                    </a:solidFill>
                  </a:tcPr>
                </a:tc>
                <a:tc>
                  <a:txBody>
                    <a:bodyPr/>
                    <a:lstStyle/>
                    <a:p>
                      <a:pPr algn="ctr">
                        <a:spcBef>
                          <a:spcPts val="200"/>
                        </a:spcBef>
                        <a:spcAft>
                          <a:spcPts val="200"/>
                        </a:spcAft>
                      </a:pPr>
                      <a:r>
                        <a:rPr sz="1200" b="0">
                          <a:solidFill>
                            <a:srgbClr val="404040"/>
                          </a:solidFill>
                        </a:rPr>
                        <a:t>5.66%</a:t>
                      </a:r>
                    </a:p>
                  </a:txBody>
                  <a:tcPr>
                    <a:solidFill>
                      <a:srgbClr val="F2F2F2"/>
                    </a:solidFill>
                  </a:tcPr>
                </a:tc>
                <a:tc>
                  <a:txBody>
                    <a:bodyPr/>
                    <a:lstStyle/>
                    <a:p>
                      <a:pPr algn="ctr">
                        <a:spcBef>
                          <a:spcPts val="200"/>
                        </a:spcBef>
                        <a:spcAft>
                          <a:spcPts val="200"/>
                        </a:spcAft>
                      </a:pPr>
                      <a:r>
                        <a:rPr sz="1200" b="0">
                          <a:solidFill>
                            <a:srgbClr val="404040"/>
                          </a:solidFill>
                        </a:rPr>
                        <a:t>7.25%</a:t>
                      </a:r>
                    </a:p>
                  </a:txBody>
                  <a:tcPr>
                    <a:solidFill>
                      <a:srgbClr val="F2F2F2"/>
                    </a:solidFill>
                  </a:tcPr>
                </a:tc>
              </a:tr>
              <a:tr h="558800">
                <a:tc>
                  <a:txBody>
                    <a:bodyPr/>
                    <a:lstStyle/>
                    <a:p>
                      <a:pPr algn="l">
                        <a:spcBef>
                          <a:spcPts val="200"/>
                        </a:spcBef>
                        <a:spcAft>
                          <a:spcPts val="200"/>
                        </a:spcAft>
                      </a:pPr>
                      <a:r>
                        <a:rPr sz="1100" b="0">
                          <a:solidFill>
                            <a:srgbClr val="404040"/>
                          </a:solidFill>
                        </a:rPr>
                        <a:t>Phase 2  (Zero-Shot)</a:t>
                      </a:r>
                    </a:p>
                  </a:txBody>
                  <a:tcPr>
                    <a:solidFill>
                      <a:srgbClr val="FFFFFF"/>
                    </a:solidFill>
                  </a:tcPr>
                </a:tc>
                <a:tc>
                  <a:txBody>
                    <a:bodyPr/>
                    <a:lstStyle/>
                    <a:p>
                      <a:pPr algn="ctr">
                        <a:spcBef>
                          <a:spcPts val="200"/>
                        </a:spcBef>
                        <a:spcAft>
                          <a:spcPts val="200"/>
                        </a:spcAft>
                      </a:pPr>
                      <a:r>
                        <a:rPr sz="1200" b="0">
                          <a:solidFill>
                            <a:srgbClr val="404040"/>
                          </a:solidFill>
                        </a:rPr>
                        <a:t>1.32%</a:t>
                      </a:r>
                    </a:p>
                  </a:txBody>
                  <a:tcPr>
                    <a:solidFill>
                      <a:srgbClr val="FFFFFF"/>
                    </a:solidFill>
                  </a:tcPr>
                </a:tc>
                <a:tc>
                  <a:txBody>
                    <a:bodyPr/>
                    <a:lstStyle/>
                    <a:p>
                      <a:pPr algn="ctr">
                        <a:spcBef>
                          <a:spcPts val="200"/>
                        </a:spcBef>
                        <a:spcAft>
                          <a:spcPts val="200"/>
                        </a:spcAft>
                      </a:pPr>
                      <a:r>
                        <a:rPr sz="1200" b="0">
                          <a:solidFill>
                            <a:srgbClr val="404040"/>
                          </a:solidFill>
                        </a:rPr>
                        <a:t>1.38%</a:t>
                      </a:r>
                    </a:p>
                  </a:txBody>
                  <a:tcPr>
                    <a:solidFill>
                      <a:srgbClr val="FFFFFF"/>
                    </a:solidFill>
                  </a:tcPr>
                </a:tc>
                <a:tc>
                  <a:txBody>
                    <a:bodyPr/>
                    <a:lstStyle/>
                    <a:p>
                      <a:pPr algn="ctr">
                        <a:spcBef>
                          <a:spcPts val="200"/>
                        </a:spcBef>
                        <a:spcAft>
                          <a:spcPts val="200"/>
                        </a:spcAft>
                      </a:pPr>
                      <a:r>
                        <a:rPr sz="1200" b="0">
                          <a:solidFill>
                            <a:srgbClr val="404040"/>
                          </a:solidFill>
                        </a:rPr>
                        <a:t>3.21%</a:t>
                      </a:r>
                    </a:p>
                  </a:txBody>
                  <a:tcPr>
                    <a:solidFill>
                      <a:srgbClr val="FFFFFF"/>
                    </a:solidFill>
                  </a:tcPr>
                </a:tc>
                <a:tc>
                  <a:txBody>
                    <a:bodyPr/>
                    <a:lstStyle/>
                    <a:p>
                      <a:pPr algn="ctr">
                        <a:spcBef>
                          <a:spcPts val="200"/>
                        </a:spcBef>
                        <a:spcAft>
                          <a:spcPts val="200"/>
                        </a:spcAft>
                      </a:pPr>
                      <a:r>
                        <a:rPr sz="1200" b="0">
                          <a:solidFill>
                            <a:srgbClr val="404040"/>
                          </a:solidFill>
                        </a:rPr>
                        <a:t>4.53%</a:t>
                      </a:r>
                    </a:p>
                  </a:txBody>
                  <a:tcPr>
                    <a:solidFill>
                      <a:srgbClr val="FFFFFF"/>
                    </a:solidFill>
                  </a:tcPr>
                </a:tc>
              </a:tr>
              <a:tr h="558800">
                <a:tc>
                  <a:txBody>
                    <a:bodyPr/>
                    <a:lstStyle/>
                    <a:p>
                      <a:pPr algn="l">
                        <a:spcBef>
                          <a:spcPts val="200"/>
                        </a:spcBef>
                        <a:spcAft>
                          <a:spcPts val="200"/>
                        </a:spcAft>
                      </a:pPr>
                      <a:r>
                        <a:rPr sz="1100" b="0">
                          <a:solidFill>
                            <a:srgbClr val="404040"/>
                          </a:solidFill>
                        </a:rPr>
                        <a:t>Phase 3  (OCR-Aware)</a:t>
                      </a:r>
                    </a:p>
                  </a:txBody>
                  <a:tcPr>
                    <a:solidFill>
                      <a:srgbClr val="F2F2F2"/>
                    </a:solidFill>
                  </a:tcPr>
                </a:tc>
                <a:tc>
                  <a:txBody>
                    <a:bodyPr/>
                    <a:lstStyle/>
                    <a:p>
                      <a:pPr algn="ctr">
                        <a:spcBef>
                          <a:spcPts val="200"/>
                        </a:spcBef>
                        <a:spcAft>
                          <a:spcPts val="200"/>
                        </a:spcAft>
                      </a:pPr>
                      <a:r>
                        <a:rPr sz="1200" b="0">
                          <a:solidFill>
                            <a:srgbClr val="404040"/>
                          </a:solidFill>
                        </a:rPr>
                        <a:t>1.47%</a:t>
                      </a:r>
                    </a:p>
                  </a:txBody>
                  <a:tcPr>
                    <a:solidFill>
                      <a:srgbClr val="F2F2F2"/>
                    </a:solidFill>
                  </a:tcPr>
                </a:tc>
                <a:tc>
                  <a:txBody>
                    <a:bodyPr/>
                    <a:lstStyle/>
                    <a:p>
                      <a:pPr algn="ctr">
                        <a:spcBef>
                          <a:spcPts val="200"/>
                        </a:spcBef>
                        <a:spcAft>
                          <a:spcPts val="200"/>
                        </a:spcAft>
                      </a:pPr>
                      <a:r>
                        <a:rPr sz="1200" b="0">
                          <a:solidFill>
                            <a:srgbClr val="404040"/>
                          </a:solidFill>
                        </a:rPr>
                        <a:t>1.51%</a:t>
                      </a:r>
                    </a:p>
                  </a:txBody>
                  <a:tcPr>
                    <a:solidFill>
                      <a:srgbClr val="F2F2F2"/>
                    </a:solidFill>
                  </a:tcPr>
                </a:tc>
                <a:tc>
                  <a:txBody>
                    <a:bodyPr/>
                    <a:lstStyle/>
                    <a:p>
                      <a:pPr algn="ctr">
                        <a:spcBef>
                          <a:spcPts val="200"/>
                        </a:spcBef>
                        <a:spcAft>
                          <a:spcPts val="200"/>
                        </a:spcAft>
                      </a:pPr>
                      <a:r>
                        <a:rPr sz="1200" b="0">
                          <a:solidFill>
                            <a:srgbClr val="404040"/>
                          </a:solidFill>
                        </a:rPr>
                        <a:t>3.33%</a:t>
                      </a:r>
                    </a:p>
                  </a:txBody>
                  <a:tcPr>
                    <a:solidFill>
                      <a:srgbClr val="F2F2F2"/>
                    </a:solidFill>
                  </a:tcPr>
                </a:tc>
                <a:tc>
                  <a:txBody>
                    <a:bodyPr/>
                    <a:lstStyle/>
                    <a:p>
                      <a:pPr algn="ctr">
                        <a:spcBef>
                          <a:spcPts val="200"/>
                        </a:spcBef>
                        <a:spcAft>
                          <a:spcPts val="200"/>
                        </a:spcAft>
                      </a:pPr>
                      <a:r>
                        <a:rPr sz="1200" b="0">
                          <a:solidFill>
                            <a:srgbClr val="404040"/>
                          </a:solidFill>
                        </a:rPr>
                        <a:t>3.59%</a:t>
                      </a:r>
                    </a:p>
                  </a:txBody>
                  <a:tcPr>
                    <a:solidFill>
                      <a:srgbClr val="F2F2F2"/>
                    </a:solidFill>
                  </a:tcPr>
                </a:tc>
              </a:tr>
              <a:tr h="558800">
                <a:tc>
                  <a:txBody>
                    <a:bodyPr/>
                    <a:lstStyle/>
                    <a:p>
                      <a:pPr algn="l">
                        <a:spcBef>
                          <a:spcPts val="200"/>
                        </a:spcBef>
                        <a:spcAft>
                          <a:spcPts val="200"/>
                        </a:spcAft>
                      </a:pPr>
                      <a:r>
                        <a:rPr sz="1100" b="0">
                          <a:solidFill>
                            <a:srgbClr val="404040"/>
                          </a:solidFill>
                        </a:rPr>
                        <a:t>Phase 4  (Self-Reflective)</a:t>
                      </a:r>
                    </a:p>
                  </a:txBody>
                  <a:tcPr>
                    <a:solidFill>
                      <a:srgbClr val="FFFFFF"/>
                    </a:solidFill>
                  </a:tcPr>
                </a:tc>
                <a:tc>
                  <a:txBody>
                    <a:bodyPr/>
                    <a:lstStyle/>
                    <a:p>
                      <a:pPr algn="ctr">
                        <a:spcBef>
                          <a:spcPts val="200"/>
                        </a:spcBef>
                        <a:spcAft>
                          <a:spcPts val="200"/>
                        </a:spcAft>
                      </a:pPr>
                      <a:r>
                        <a:rPr sz="1200" b="0">
                          <a:solidFill>
                            <a:srgbClr val="404040"/>
                          </a:solidFill>
                        </a:rPr>
                        <a:t>1.45%</a:t>
                      </a:r>
                    </a:p>
                  </a:txBody>
                  <a:tcPr>
                    <a:solidFill>
                      <a:srgbClr val="FFFFFF"/>
                    </a:solidFill>
                  </a:tcPr>
                </a:tc>
                <a:tc>
                  <a:txBody>
                    <a:bodyPr/>
                    <a:lstStyle/>
                    <a:p>
                      <a:pPr algn="ctr">
                        <a:spcBef>
                          <a:spcPts val="200"/>
                        </a:spcBef>
                        <a:spcAft>
                          <a:spcPts val="200"/>
                        </a:spcAft>
                      </a:pPr>
                      <a:r>
                        <a:rPr sz="1200" b="0">
                          <a:solidFill>
                            <a:srgbClr val="404040"/>
                          </a:solidFill>
                        </a:rPr>
                        <a:t>1.49%</a:t>
                      </a:r>
                    </a:p>
                  </a:txBody>
                  <a:tcPr>
                    <a:solidFill>
                      <a:srgbClr val="FFFFFF"/>
                    </a:solidFill>
                  </a:tcPr>
                </a:tc>
                <a:tc>
                  <a:txBody>
                    <a:bodyPr/>
                    <a:lstStyle/>
                    <a:p>
                      <a:pPr algn="ctr">
                        <a:spcBef>
                          <a:spcPts val="200"/>
                        </a:spcBef>
                        <a:spcAft>
                          <a:spcPts val="200"/>
                        </a:spcAft>
                      </a:pPr>
                      <a:r>
                        <a:rPr sz="1200" b="0">
                          <a:solidFill>
                            <a:srgbClr val="404040"/>
                          </a:solidFill>
                        </a:rPr>
                        <a:t>3.02%</a:t>
                      </a:r>
                    </a:p>
                  </a:txBody>
                  <a:tcPr>
                    <a:solidFill>
                      <a:srgbClr val="FFFFFF"/>
                    </a:solidFill>
                  </a:tcPr>
                </a:tc>
                <a:tc>
                  <a:txBody>
                    <a:bodyPr/>
                    <a:lstStyle/>
                    <a:p>
                      <a:pPr algn="ctr">
                        <a:spcBef>
                          <a:spcPts val="200"/>
                        </a:spcBef>
                        <a:spcAft>
                          <a:spcPts val="200"/>
                        </a:spcAft>
                      </a:pPr>
                      <a:r>
                        <a:rPr sz="1200" b="0">
                          <a:solidFill>
                            <a:srgbClr val="404040"/>
                          </a:solidFill>
                        </a:rPr>
                        <a:t>3.44%</a:t>
                      </a:r>
                    </a:p>
                  </a:txBody>
                  <a:tcPr>
                    <a:solidFill>
                      <a:srgbClr val="FFFFFF"/>
                    </a:solidFill>
                  </a:tcPr>
                </a:tc>
              </a:tr>
              <a:tr h="558800">
                <a:tc>
                  <a:txBody>
                    <a:bodyPr/>
                    <a:lstStyle/>
                    <a:p>
                      <a:pPr algn="l">
                        <a:spcBef>
                          <a:spcPts val="200"/>
                        </a:spcBef>
                        <a:spcAft>
                          <a:spcPts val="200"/>
                        </a:spcAft>
                      </a:pPr>
                      <a:r>
                        <a:rPr sz="1100" b="0">
                          <a:solidFill>
                            <a:srgbClr val="404040"/>
                          </a:solidFill>
                        </a:rPr>
                        <a:t>Phase 6  (Conf+Self)</a:t>
                      </a:r>
                    </a:p>
                  </a:txBody>
                  <a:tcPr>
                    <a:solidFill>
                      <a:srgbClr val="F2F2F2"/>
                    </a:solidFill>
                  </a:tcPr>
                </a:tc>
                <a:tc>
                  <a:txBody>
                    <a:bodyPr/>
                    <a:lstStyle/>
                    <a:p>
                      <a:pPr algn="ctr">
                        <a:spcBef>
                          <a:spcPts val="200"/>
                        </a:spcBef>
                        <a:spcAft>
                          <a:spcPts val="200"/>
                        </a:spcAft>
                      </a:pPr>
                      <a:r>
                        <a:rPr sz="1200" b="0">
                          <a:solidFill>
                            <a:srgbClr val="404040"/>
                          </a:solidFill>
                        </a:rPr>
                        <a:t>1.53%</a:t>
                      </a:r>
                    </a:p>
                  </a:txBody>
                  <a:tcPr>
                    <a:solidFill>
                      <a:srgbClr val="F2F2F2"/>
                    </a:solidFill>
                  </a:tcPr>
                </a:tc>
                <a:tc>
                  <a:txBody>
                    <a:bodyPr/>
                    <a:lstStyle/>
                    <a:p>
                      <a:pPr algn="ctr">
                        <a:spcBef>
                          <a:spcPts val="200"/>
                        </a:spcBef>
                        <a:spcAft>
                          <a:spcPts val="200"/>
                        </a:spcAft>
                      </a:pPr>
                      <a:r>
                        <a:rPr sz="1200" b="0">
                          <a:solidFill>
                            <a:srgbClr val="404040"/>
                          </a:solidFill>
                        </a:rPr>
                        <a:t>1.57%</a:t>
                      </a:r>
                    </a:p>
                  </a:txBody>
                  <a:tcPr>
                    <a:solidFill>
                      <a:srgbClr val="F2F2F2"/>
                    </a:solidFill>
                  </a:tcPr>
                </a:tc>
                <a:tc>
                  <a:txBody>
                    <a:bodyPr/>
                    <a:lstStyle/>
                    <a:p>
                      <a:pPr algn="ctr">
                        <a:spcBef>
                          <a:spcPts val="200"/>
                        </a:spcBef>
                        <a:spcAft>
                          <a:spcPts val="200"/>
                        </a:spcAft>
                      </a:pPr>
                      <a:r>
                        <a:rPr sz="1200" b="0">
                          <a:solidFill>
                            <a:srgbClr val="404040"/>
                          </a:solidFill>
                        </a:rPr>
                        <a:t>3.30%</a:t>
                      </a:r>
                    </a:p>
                  </a:txBody>
                  <a:tcPr>
                    <a:solidFill>
                      <a:srgbClr val="F2F2F2"/>
                    </a:solidFill>
                  </a:tcPr>
                </a:tc>
                <a:tc>
                  <a:txBody>
                    <a:bodyPr/>
                    <a:lstStyle/>
                    <a:p>
                      <a:pPr algn="ctr">
                        <a:spcBef>
                          <a:spcPts val="200"/>
                        </a:spcBef>
                        <a:spcAft>
                          <a:spcPts val="200"/>
                        </a:spcAft>
                      </a:pPr>
                      <a:r>
                        <a:rPr sz="1200" b="0">
                          <a:solidFill>
                            <a:srgbClr val="404040"/>
                          </a:solidFill>
                        </a:rPr>
                        <a:t>3.87%</a:t>
                      </a:r>
                    </a:p>
                  </a:txBody>
                  <a:tcPr>
                    <a:solidFill>
                      <a:srgbClr val="F2F2F2"/>
                    </a:solidFill>
                  </a:tcPr>
                </a:tc>
              </a:tr>
              <a:tr h="558800">
                <a:tc>
                  <a:txBody>
                    <a:bodyPr/>
                    <a:lstStyle/>
                    <a:p>
                      <a:pPr algn="l">
                        <a:spcBef>
                          <a:spcPts val="200"/>
                        </a:spcBef>
                        <a:spcAft>
                          <a:spcPts val="200"/>
                        </a:spcAft>
                      </a:pPr>
                      <a:r>
                        <a:rPr sz="1100" b="1">
                          <a:solidFill>
                            <a:srgbClr val="404040"/>
                          </a:solidFill>
                        </a:rPr>
                        <a:t>Phase 7  (RAG BM25)</a:t>
                      </a:r>
                    </a:p>
                  </a:txBody>
                  <a:tcPr>
                    <a:solidFill>
                      <a:srgbClr val="BDD7EE"/>
                    </a:solidFill>
                  </a:tcPr>
                </a:tc>
                <a:tc>
                  <a:txBody>
                    <a:bodyPr/>
                    <a:lstStyle/>
                    <a:p>
                      <a:pPr algn="ctr">
                        <a:spcBef>
                          <a:spcPts val="200"/>
                        </a:spcBef>
                        <a:spcAft>
                          <a:spcPts val="200"/>
                        </a:spcAft>
                      </a:pPr>
                      <a:r>
                        <a:rPr sz="1200" b="1">
                          <a:solidFill>
                            <a:srgbClr val="378636"/>
                          </a:solidFill>
                        </a:rPr>
                        <a:t>1.29%</a:t>
                      </a:r>
                    </a:p>
                  </a:txBody>
                  <a:tcPr>
                    <a:solidFill>
                      <a:srgbClr val="BDD7EE"/>
                    </a:solidFill>
                  </a:tcPr>
                </a:tc>
                <a:tc>
                  <a:txBody>
                    <a:bodyPr/>
                    <a:lstStyle/>
                    <a:p>
                      <a:pPr algn="ctr">
                        <a:spcBef>
                          <a:spcPts val="200"/>
                        </a:spcBef>
                        <a:spcAft>
                          <a:spcPts val="200"/>
                        </a:spcAft>
                      </a:pPr>
                      <a:r>
                        <a:rPr sz="1200" b="1">
                          <a:solidFill>
                            <a:srgbClr val="378636"/>
                          </a:solidFill>
                        </a:rPr>
                        <a:t>1.32%</a:t>
                      </a:r>
                    </a:p>
                  </a:txBody>
                  <a:tcPr>
                    <a:solidFill>
                      <a:srgbClr val="BDD7EE"/>
                    </a:solidFill>
                  </a:tcPr>
                </a:tc>
                <a:tc>
                  <a:txBody>
                    <a:bodyPr/>
                    <a:lstStyle/>
                    <a:p>
                      <a:pPr algn="ctr">
                        <a:spcBef>
                          <a:spcPts val="200"/>
                        </a:spcBef>
                        <a:spcAft>
                          <a:spcPts val="200"/>
                        </a:spcAft>
                      </a:pPr>
                      <a:r>
                        <a:rPr sz="1200" b="1">
                          <a:solidFill>
                            <a:srgbClr val="378636"/>
                          </a:solidFill>
                        </a:rPr>
                        <a:t>2.77%</a:t>
                      </a:r>
                    </a:p>
                  </a:txBody>
                  <a:tcPr>
                    <a:solidFill>
                      <a:srgbClr val="BDD7EE"/>
                    </a:solidFill>
                  </a:tcPr>
                </a:tc>
                <a:tc>
                  <a:txBody>
                    <a:bodyPr/>
                    <a:lstStyle/>
                    <a:p>
                      <a:pPr algn="ctr">
                        <a:spcBef>
                          <a:spcPts val="200"/>
                        </a:spcBef>
                        <a:spcAft>
                          <a:spcPts val="200"/>
                        </a:spcAft>
                      </a:pPr>
                      <a:r>
                        <a:rPr sz="1200" b="1">
                          <a:solidFill>
                            <a:srgbClr val="378636"/>
                          </a:solidFill>
                        </a:rPr>
                        <a:t>3.28%</a:t>
                      </a:r>
                    </a:p>
                  </a:txBody>
                  <a:tcPr>
                    <a:solidFill>
                      <a:srgbClr val="BDD7EE"/>
                    </a:solidFill>
                  </a:tcPr>
                </a:tc>
              </a:tr>
              <a:tr h="558800">
                <a:tc>
                  <a:txBody>
                    <a:bodyPr/>
                    <a:lstStyle/>
                    <a:p>
                      <a:pPr algn="l">
                        <a:spcBef>
                          <a:spcPts val="200"/>
                        </a:spcBef>
                        <a:spcAft>
                          <a:spcPts val="200"/>
                        </a:spcAft>
                      </a:pPr>
                      <a:r>
                        <a:rPr sz="1100" b="0">
                          <a:solidFill>
                            <a:srgbClr val="404040"/>
                          </a:solidFill>
                        </a:rPr>
                        <a:t>Phase 8  (Error-Sig RAG)</a:t>
                      </a:r>
                    </a:p>
                  </a:txBody>
                  <a:tcPr>
                    <a:solidFill>
                      <a:srgbClr val="F2F2F2"/>
                    </a:solidFill>
                  </a:tcPr>
                </a:tc>
                <a:tc>
                  <a:txBody>
                    <a:bodyPr/>
                    <a:lstStyle/>
                    <a:p>
                      <a:pPr algn="ctr">
                        <a:spcBef>
                          <a:spcPts val="200"/>
                        </a:spcBef>
                        <a:spcAft>
                          <a:spcPts val="200"/>
                        </a:spcAft>
                      </a:pPr>
                      <a:r>
                        <a:rPr sz="1200" b="0">
                          <a:solidFill>
                            <a:srgbClr val="404040"/>
                          </a:solidFill>
                        </a:rPr>
                        <a:t>1.44%</a:t>
                      </a:r>
                    </a:p>
                  </a:txBody>
                  <a:tcPr>
                    <a:solidFill>
                      <a:srgbClr val="F2F2F2"/>
                    </a:solidFill>
                  </a:tcPr>
                </a:tc>
                <a:tc>
                  <a:txBody>
                    <a:bodyPr/>
                    <a:lstStyle/>
                    <a:p>
                      <a:pPr algn="ctr">
                        <a:spcBef>
                          <a:spcPts val="200"/>
                        </a:spcBef>
                        <a:spcAft>
                          <a:spcPts val="200"/>
                        </a:spcAft>
                      </a:pPr>
                      <a:r>
                        <a:rPr sz="1200" b="0">
                          <a:solidFill>
                            <a:srgbClr val="404040"/>
                          </a:solidFill>
                        </a:rPr>
                        <a:t>1.48%</a:t>
                      </a:r>
                    </a:p>
                  </a:txBody>
                  <a:tcPr>
                    <a:solidFill>
                      <a:srgbClr val="F2F2F2"/>
                    </a:solidFill>
                  </a:tcPr>
                </a:tc>
                <a:tc>
                  <a:txBody>
                    <a:bodyPr/>
                    <a:lstStyle/>
                    <a:p>
                      <a:pPr algn="ctr">
                        <a:spcBef>
                          <a:spcPts val="200"/>
                        </a:spcBef>
                        <a:spcAft>
                          <a:spcPts val="200"/>
                        </a:spcAft>
                      </a:pPr>
                      <a:r>
                        <a:rPr sz="1200" b="0">
                          <a:solidFill>
                            <a:srgbClr val="404040"/>
                          </a:solidFill>
                        </a:rPr>
                        <a:t>3.18%</a:t>
                      </a:r>
                    </a:p>
                  </a:txBody>
                  <a:tcPr>
                    <a:solidFill>
                      <a:srgbClr val="F2F2F2"/>
                    </a:solidFill>
                  </a:tcPr>
                </a:tc>
                <a:tc>
                  <a:txBody>
                    <a:bodyPr/>
                    <a:lstStyle/>
                    <a:p>
                      <a:pPr algn="ctr">
                        <a:spcBef>
                          <a:spcPts val="200"/>
                        </a:spcBef>
                        <a:spcAft>
                          <a:spcPts val="200"/>
                        </a:spcAft>
                      </a:pPr>
                      <a:r>
                        <a:rPr sz="1200" b="0">
                          <a:solidFill>
                            <a:srgbClr val="404040"/>
                          </a:solidFill>
                        </a:rPr>
                        <a:t>3.65%</a:t>
                      </a:r>
                    </a:p>
                  </a:txBody>
                  <a:tcPr>
                    <a:solidFill>
                      <a:srgbClr val="F2F2F2"/>
                    </a:solidFill>
                  </a:tcPr>
                </a:tc>
              </a:tr>
              <a:tr h="558800">
                <a:tc>
                  <a:txBody>
                    <a:bodyPr/>
                    <a:lstStyle/>
                    <a:p>
                      <a:pPr algn="l">
                        <a:spcBef>
                          <a:spcPts val="200"/>
                        </a:spcBef>
                        <a:spcAft>
                          <a:spcPts val="200"/>
                        </a:spcAft>
                      </a:pPr>
                      <a:r>
                        <a:rPr sz="1100" b="0">
                          <a:solidFill>
                            <a:srgbClr val="404040"/>
                          </a:solidFill>
                        </a:rPr>
                        <a:t>Phase 5  (CAMeL revert)</a:t>
                      </a:r>
                    </a:p>
                  </a:txBody>
                  <a:tcPr>
                    <a:solidFill>
                      <a:srgbClr val="FFFFFF"/>
                    </a:solidFill>
                  </a:tcPr>
                </a:tc>
                <a:tc>
                  <a:txBody>
                    <a:bodyPr/>
                    <a:lstStyle/>
                    <a:p>
                      <a:pPr algn="ctr">
                        <a:spcBef>
                          <a:spcPts val="200"/>
                        </a:spcBef>
                        <a:spcAft>
                          <a:spcPts val="200"/>
                        </a:spcAft>
                      </a:pPr>
                      <a:r>
                        <a:rPr sz="1200" b="0">
                          <a:solidFill>
                            <a:srgbClr val="404040"/>
                          </a:solidFill>
                        </a:rPr>
                        <a:t>see note*</a:t>
                      </a:r>
                    </a:p>
                  </a:txBody>
                  <a:tcPr>
                    <a:solidFill>
                      <a:srgbClr val="FFFFFF"/>
                    </a:solidFill>
                  </a:tcPr>
                </a:tc>
                <a:tc>
                  <a:txBody>
                    <a:bodyPr/>
                    <a:lstStyle/>
                    <a:p>
                      <a:pPr algn="ctr">
                        <a:spcBef>
                          <a:spcPts val="200"/>
                        </a:spcBef>
                        <a:spcAft>
                          <a:spcPts val="200"/>
                        </a:spcAft>
                      </a:pPr>
                      <a:r>
                        <a:rPr sz="1200" b="0">
                          <a:solidFill>
                            <a:srgbClr val="404040"/>
                          </a:solidFill>
                        </a:rPr>
                        <a:t>—</a:t>
                      </a:r>
                    </a:p>
                  </a:txBody>
                  <a:tcPr>
                    <a:solidFill>
                      <a:srgbClr val="FFFFFF"/>
                    </a:solidFill>
                  </a:tcPr>
                </a:tc>
                <a:tc>
                  <a:txBody>
                    <a:bodyPr/>
                    <a:lstStyle/>
                    <a:p>
                      <a:pPr algn="ctr">
                        <a:spcBef>
                          <a:spcPts val="200"/>
                        </a:spcBef>
                        <a:spcAft>
                          <a:spcPts val="200"/>
                        </a:spcAft>
                      </a:pPr>
                      <a:r>
                        <a:rPr sz="1200" b="0">
                          <a:solidFill>
                            <a:srgbClr val="404040"/>
                          </a:solidFill>
                        </a:rPr>
                        <a:t>3.26%</a:t>
                      </a:r>
                    </a:p>
                  </a:txBody>
                  <a:tcPr>
                    <a:solidFill>
                      <a:srgbClr val="FFFFFF"/>
                    </a:solidFill>
                  </a:tcPr>
                </a:tc>
                <a:tc>
                  <a:txBody>
                    <a:bodyPr/>
                    <a:lstStyle/>
                    <a:p>
                      <a:pPr algn="ctr">
                        <a:spcBef>
                          <a:spcPts val="200"/>
                        </a:spcBef>
                        <a:spcAft>
                          <a:spcPts val="200"/>
                        </a:spcAft>
                      </a:pPr>
                      <a:r>
                        <a:rPr sz="1200" b="0">
                          <a:solidFill>
                            <a:srgbClr val="404040"/>
                          </a:solidFill>
                        </a:rPr>
                        <a:t>4.64%</a:t>
                      </a:r>
                    </a:p>
                  </a:txBody>
                  <a:tcPr>
                    <a:solidFill>
                      <a:srgbClr val="FFFFFF"/>
                    </a:solidFill>
                  </a:tcPr>
                </a:tc>
              </a:tr>
            </a:tbl>
          </a:graphicData>
        </a:graphic>
      </p:graphicFrame>
      <p:sp>
        <p:nvSpPr>
          <p:cNvPr id="8" name="TextBox 7"/>
          <p:cNvSpPr txBox="1"/>
          <p:nvPr/>
        </p:nvSpPr>
        <p:spPr>
          <a:xfrm>
            <a:off x="320040" y="6537960"/>
            <a:ext cx="11548872" cy="256032"/>
          </a:xfrm>
          <a:prstGeom prst="rect">
            <a:avLst/>
          </a:prstGeom>
          <a:noFill/>
        </p:spPr>
        <p:txBody>
          <a:bodyPr wrap="square">
            <a:spAutoFit/>
          </a:bodyPr>
          <a:lstStyle/>
          <a:p>
            <a:pPr algn="l"/>
            <a:r>
              <a:rPr sz="1000" b="0">
                <a:solidFill>
                  <a:srgbClr val="404040"/>
                </a:solidFill>
              </a:rPr>
              <a:t>* Phase 5 (CAMeL): only normal-subset metrics reported (excludes runaway samples).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Key Finding 1 — RAG (BM25) Is the Best Overall Strategy</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6 / 15</a:t>
            </a:r>
          </a:p>
        </p:txBody>
      </p:sp>
      <p:sp>
        <p:nvSpPr>
          <p:cNvPr id="5" name="Rectangle 4"/>
          <p:cNvSpPr/>
          <p:nvPr/>
        </p:nvSpPr>
        <p:spPr>
          <a:xfrm>
            <a:off x="3200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325880"/>
            <a:ext cx="2651760" cy="457200"/>
          </a:xfrm>
          <a:prstGeom prst="rect">
            <a:avLst/>
          </a:prstGeom>
          <a:noFill/>
        </p:spPr>
        <p:txBody>
          <a:bodyPr wrap="square">
            <a:spAutoFit/>
          </a:bodyPr>
          <a:lstStyle/>
          <a:p>
            <a:pPr algn="ctr"/>
            <a:r>
              <a:rPr sz="1200" b="0">
                <a:solidFill>
                  <a:srgbClr val="BDD7EE"/>
                </a:solidFill>
              </a:rPr>
              <a:t>KHATT CER reduction
vs OCR baseline</a:t>
            </a:r>
          </a:p>
        </p:txBody>
      </p:sp>
      <p:sp>
        <p:nvSpPr>
          <p:cNvPr id="7" name="TextBox 6"/>
          <p:cNvSpPr txBox="1"/>
          <p:nvPr/>
        </p:nvSpPr>
        <p:spPr>
          <a:xfrm>
            <a:off x="411480" y="1783080"/>
            <a:ext cx="2651760" cy="731520"/>
          </a:xfrm>
          <a:prstGeom prst="rect">
            <a:avLst/>
          </a:prstGeom>
          <a:noFill/>
        </p:spPr>
        <p:txBody>
          <a:bodyPr wrap="square">
            <a:spAutoFit/>
          </a:bodyPr>
          <a:lstStyle/>
          <a:p>
            <a:pPr algn="ctr"/>
            <a:r>
              <a:rPr sz="3400" b="1">
                <a:solidFill>
                  <a:srgbClr val="378636"/>
                </a:solidFill>
              </a:rPr>
              <a:t>−51%</a:t>
            </a:r>
          </a:p>
        </p:txBody>
      </p:sp>
      <p:sp>
        <p:nvSpPr>
          <p:cNvPr id="8" name="TextBox 7"/>
          <p:cNvSpPr txBox="1"/>
          <p:nvPr/>
        </p:nvSpPr>
        <p:spPr>
          <a:xfrm>
            <a:off x="411480" y="2514600"/>
            <a:ext cx="2651760" cy="365760"/>
          </a:xfrm>
          <a:prstGeom prst="rect">
            <a:avLst/>
          </a:prstGeom>
          <a:noFill/>
        </p:spPr>
        <p:txBody>
          <a:bodyPr wrap="square">
            <a:spAutoFit/>
          </a:bodyPr>
          <a:lstStyle/>
          <a:p>
            <a:pPr algn="ctr"/>
            <a:r>
              <a:rPr sz="1200" b="0">
                <a:solidFill>
                  <a:srgbClr val="FFFFFF"/>
                </a:solidFill>
              </a:rPr>
              <a:t>5.66% → 2.77%</a:t>
            </a:r>
          </a:p>
        </p:txBody>
      </p:sp>
      <p:sp>
        <p:nvSpPr>
          <p:cNvPr id="9" name="Rectangle 8"/>
          <p:cNvSpPr/>
          <p:nvPr/>
        </p:nvSpPr>
        <p:spPr>
          <a:xfrm>
            <a:off x="32918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83280" y="1325880"/>
            <a:ext cx="2651760" cy="457200"/>
          </a:xfrm>
          <a:prstGeom prst="rect">
            <a:avLst/>
          </a:prstGeom>
          <a:noFill/>
        </p:spPr>
        <p:txBody>
          <a:bodyPr wrap="square">
            <a:spAutoFit/>
          </a:bodyPr>
          <a:lstStyle/>
          <a:p>
            <a:pPr algn="ctr"/>
            <a:r>
              <a:rPr sz="1200" b="0">
                <a:solidFill>
                  <a:srgbClr val="BDD7EE"/>
                </a:solidFill>
              </a:rPr>
              <a:t>KHATT CER reduction
vs Zero-Shot (P2)</a:t>
            </a:r>
          </a:p>
        </p:txBody>
      </p:sp>
      <p:sp>
        <p:nvSpPr>
          <p:cNvPr id="11" name="TextBox 10"/>
          <p:cNvSpPr txBox="1"/>
          <p:nvPr/>
        </p:nvSpPr>
        <p:spPr>
          <a:xfrm>
            <a:off x="3383280" y="1783080"/>
            <a:ext cx="2651760" cy="731520"/>
          </a:xfrm>
          <a:prstGeom prst="rect">
            <a:avLst/>
          </a:prstGeom>
          <a:noFill/>
        </p:spPr>
        <p:txBody>
          <a:bodyPr wrap="square">
            <a:spAutoFit/>
          </a:bodyPr>
          <a:lstStyle/>
          <a:p>
            <a:pPr algn="ctr"/>
            <a:r>
              <a:rPr sz="3400" b="1">
                <a:solidFill>
                  <a:srgbClr val="2774AE"/>
                </a:solidFill>
              </a:rPr>
              <a:t>−14%</a:t>
            </a:r>
          </a:p>
        </p:txBody>
      </p:sp>
      <p:sp>
        <p:nvSpPr>
          <p:cNvPr id="12" name="TextBox 11"/>
          <p:cNvSpPr txBox="1"/>
          <p:nvPr/>
        </p:nvSpPr>
        <p:spPr>
          <a:xfrm>
            <a:off x="3383280" y="2514600"/>
            <a:ext cx="2651760" cy="365760"/>
          </a:xfrm>
          <a:prstGeom prst="rect">
            <a:avLst/>
          </a:prstGeom>
          <a:noFill/>
        </p:spPr>
        <p:txBody>
          <a:bodyPr wrap="square">
            <a:spAutoFit/>
          </a:bodyPr>
          <a:lstStyle/>
          <a:p>
            <a:pPr algn="ctr"/>
            <a:r>
              <a:rPr sz="1200" b="0">
                <a:solidFill>
                  <a:srgbClr val="FFFFFF"/>
                </a:solidFill>
              </a:rPr>
              <a:t>3.21% → 2.77%</a:t>
            </a:r>
          </a:p>
        </p:txBody>
      </p:sp>
      <p:sp>
        <p:nvSpPr>
          <p:cNvPr id="13" name="Rectangle 12"/>
          <p:cNvSpPr/>
          <p:nvPr/>
        </p:nvSpPr>
        <p:spPr>
          <a:xfrm>
            <a:off x="62636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2651760" cy="457200"/>
          </a:xfrm>
          <a:prstGeom prst="rect">
            <a:avLst/>
          </a:prstGeom>
          <a:noFill/>
        </p:spPr>
        <p:txBody>
          <a:bodyPr wrap="square">
            <a:spAutoFit/>
          </a:bodyPr>
          <a:lstStyle/>
          <a:p>
            <a:pPr algn="ctr"/>
            <a:r>
              <a:rPr sz="1200" b="0">
                <a:solidFill>
                  <a:srgbClr val="BDD7EE"/>
                </a:solidFill>
              </a:rPr>
              <a:t>KHATT WER reduction
vs OCR baseline</a:t>
            </a:r>
          </a:p>
        </p:txBody>
      </p:sp>
      <p:sp>
        <p:nvSpPr>
          <p:cNvPr id="15" name="TextBox 14"/>
          <p:cNvSpPr txBox="1"/>
          <p:nvPr/>
        </p:nvSpPr>
        <p:spPr>
          <a:xfrm>
            <a:off x="6355080" y="1783080"/>
            <a:ext cx="2651760" cy="731520"/>
          </a:xfrm>
          <a:prstGeom prst="rect">
            <a:avLst/>
          </a:prstGeom>
          <a:noFill/>
        </p:spPr>
        <p:txBody>
          <a:bodyPr wrap="square">
            <a:spAutoFit/>
          </a:bodyPr>
          <a:lstStyle/>
          <a:p>
            <a:pPr algn="ctr"/>
            <a:r>
              <a:rPr sz="3400" b="1">
                <a:solidFill>
                  <a:srgbClr val="378636"/>
                </a:solidFill>
              </a:rPr>
              <a:t>−55%</a:t>
            </a:r>
          </a:p>
        </p:txBody>
      </p:sp>
      <p:sp>
        <p:nvSpPr>
          <p:cNvPr id="16" name="TextBox 15"/>
          <p:cNvSpPr txBox="1"/>
          <p:nvPr/>
        </p:nvSpPr>
        <p:spPr>
          <a:xfrm>
            <a:off x="6355080" y="2514600"/>
            <a:ext cx="2651760" cy="365760"/>
          </a:xfrm>
          <a:prstGeom prst="rect">
            <a:avLst/>
          </a:prstGeom>
          <a:noFill/>
        </p:spPr>
        <p:txBody>
          <a:bodyPr wrap="square">
            <a:spAutoFit/>
          </a:bodyPr>
          <a:lstStyle/>
          <a:p>
            <a:pPr algn="ctr"/>
            <a:r>
              <a:rPr sz="1200" b="0">
                <a:solidFill>
                  <a:srgbClr val="FFFFFF"/>
                </a:solidFill>
              </a:rPr>
              <a:t>7.25% → 3.28%</a:t>
            </a:r>
          </a:p>
        </p:txBody>
      </p:sp>
      <p:sp>
        <p:nvSpPr>
          <p:cNvPr id="17" name="Rectangle 16"/>
          <p:cNvSpPr/>
          <p:nvPr/>
        </p:nvSpPr>
        <p:spPr>
          <a:xfrm>
            <a:off x="92354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26880" y="1325880"/>
            <a:ext cx="2651760" cy="457200"/>
          </a:xfrm>
          <a:prstGeom prst="rect">
            <a:avLst/>
          </a:prstGeom>
          <a:noFill/>
        </p:spPr>
        <p:txBody>
          <a:bodyPr wrap="square">
            <a:spAutoFit/>
          </a:bodyPr>
          <a:lstStyle/>
          <a:p>
            <a:pPr algn="ctr"/>
            <a:r>
              <a:rPr sz="1200" b="0">
                <a:solidFill>
                  <a:srgbClr val="BDD7EE"/>
                </a:solidFill>
              </a:rPr>
              <a:t>PATS avg CER
(only phase to beat P2)</a:t>
            </a:r>
          </a:p>
        </p:txBody>
      </p:sp>
      <p:sp>
        <p:nvSpPr>
          <p:cNvPr id="19" name="TextBox 18"/>
          <p:cNvSpPr txBox="1"/>
          <p:nvPr/>
        </p:nvSpPr>
        <p:spPr>
          <a:xfrm>
            <a:off x="9326880" y="1783080"/>
            <a:ext cx="2651760" cy="731520"/>
          </a:xfrm>
          <a:prstGeom prst="rect">
            <a:avLst/>
          </a:prstGeom>
          <a:noFill/>
        </p:spPr>
        <p:txBody>
          <a:bodyPr wrap="square">
            <a:spAutoFit/>
          </a:bodyPr>
          <a:lstStyle/>
          <a:p>
            <a:pPr algn="ctr"/>
            <a:r>
              <a:rPr sz="3400" b="1">
                <a:solidFill>
                  <a:srgbClr val="0070C0"/>
                </a:solidFill>
              </a:rPr>
              <a:t>1.29%</a:t>
            </a:r>
          </a:p>
        </p:txBody>
      </p:sp>
      <p:sp>
        <p:nvSpPr>
          <p:cNvPr id="20" name="TextBox 19"/>
          <p:cNvSpPr txBox="1"/>
          <p:nvPr/>
        </p:nvSpPr>
        <p:spPr>
          <a:xfrm>
            <a:off x="9326880" y="2514600"/>
            <a:ext cx="2651760" cy="365760"/>
          </a:xfrm>
          <a:prstGeom prst="rect">
            <a:avLst/>
          </a:prstGeom>
          <a:noFill/>
        </p:spPr>
        <p:txBody>
          <a:bodyPr wrap="square">
            <a:spAutoFit/>
          </a:bodyPr>
          <a:lstStyle/>
          <a:p>
            <a:pPr algn="ctr"/>
            <a:r>
              <a:rPr sz="1200" b="0">
                <a:solidFill>
                  <a:srgbClr val="FFFFFF"/>
                </a:solidFill>
              </a:rPr>
              <a:t>P1=1.31%, P2=1.32%</a:t>
            </a:r>
          </a:p>
        </p:txBody>
      </p:sp>
      <p:sp>
        <p:nvSpPr>
          <p:cNvPr id="21" name="Rectangle 20"/>
          <p:cNvSpPr/>
          <p:nvPr/>
        </p:nvSpPr>
        <p:spPr>
          <a:xfrm>
            <a:off x="320040" y="3429000"/>
            <a:ext cx="11548872" cy="36576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474720"/>
            <a:ext cx="11338560" cy="320040"/>
          </a:xfrm>
          <a:prstGeom prst="rect">
            <a:avLst/>
          </a:prstGeom>
          <a:noFill/>
        </p:spPr>
        <p:txBody>
          <a:bodyPr wrap="square">
            <a:spAutoFit/>
          </a:bodyPr>
          <a:lstStyle/>
          <a:p>
            <a:pPr algn="l"/>
            <a:r>
              <a:rPr sz="1600" b="1">
                <a:solidFill>
                  <a:srgbClr val="FFFFFF"/>
                </a:solidFill>
              </a:rPr>
              <a:t>Why RAG (BM25) Works</a:t>
            </a:r>
          </a:p>
        </p:txBody>
      </p:sp>
      <p:sp>
        <p:nvSpPr>
          <p:cNvPr id="23" name="Rectangle 22"/>
          <p:cNvSpPr/>
          <p:nvPr/>
        </p:nvSpPr>
        <p:spPr>
          <a:xfrm>
            <a:off x="365760" y="393192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3977640"/>
            <a:ext cx="5394960" cy="320040"/>
          </a:xfrm>
          <a:prstGeom prst="rect">
            <a:avLst/>
          </a:prstGeom>
          <a:noFill/>
        </p:spPr>
        <p:txBody>
          <a:bodyPr wrap="square">
            <a:spAutoFit/>
          </a:bodyPr>
          <a:lstStyle/>
          <a:p>
            <a:pPr algn="l"/>
            <a:r>
              <a:rPr sz="1300" b="1">
                <a:solidFill>
                  <a:srgbClr val="1F3864"/>
                </a:solidFill>
              </a:rPr>
              <a:t>Domain-matched examples</a:t>
            </a:r>
          </a:p>
        </p:txBody>
      </p:sp>
      <p:sp>
        <p:nvSpPr>
          <p:cNvPr id="25" name="TextBox 24"/>
          <p:cNvSpPr txBox="1"/>
          <p:nvPr/>
        </p:nvSpPr>
        <p:spPr>
          <a:xfrm>
            <a:off x="457200" y="4297680"/>
            <a:ext cx="5394960" cy="594360"/>
          </a:xfrm>
          <a:prstGeom prst="rect">
            <a:avLst/>
          </a:prstGeom>
          <a:noFill/>
        </p:spPr>
        <p:txBody>
          <a:bodyPr wrap="square">
            <a:spAutoFit/>
          </a:bodyPr>
          <a:lstStyle/>
          <a:p>
            <a:pPr algn="l"/>
            <a:r>
              <a:rPr sz="1200" b="0">
                <a:solidFill>
                  <a:srgbClr val="404040"/>
                </a:solidFill>
              </a:rPr>
              <a:t>Top-5 (OCR→GT) pairs from Phase 2 training corrections —
same domain, same font family, same error patterns.</a:t>
            </a:r>
          </a:p>
        </p:txBody>
      </p:sp>
      <p:sp>
        <p:nvSpPr>
          <p:cNvPr id="26" name="Rectangle 25"/>
          <p:cNvSpPr/>
          <p:nvPr/>
        </p:nvSpPr>
        <p:spPr>
          <a:xfrm>
            <a:off x="6126480" y="393192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17920" y="3977640"/>
            <a:ext cx="5394960" cy="320040"/>
          </a:xfrm>
          <a:prstGeom prst="rect">
            <a:avLst/>
          </a:prstGeom>
          <a:noFill/>
        </p:spPr>
        <p:txBody>
          <a:bodyPr wrap="square">
            <a:spAutoFit/>
          </a:bodyPr>
          <a:lstStyle/>
          <a:p>
            <a:pPr algn="l"/>
            <a:r>
              <a:rPr sz="1300" b="1">
                <a:solidFill>
                  <a:srgbClr val="1F3864"/>
                </a:solidFill>
              </a:rPr>
              <a:t>Grounded few-shot</a:t>
            </a:r>
          </a:p>
        </p:txBody>
      </p:sp>
      <p:sp>
        <p:nvSpPr>
          <p:cNvPr id="28" name="TextBox 27"/>
          <p:cNvSpPr txBox="1"/>
          <p:nvPr/>
        </p:nvSpPr>
        <p:spPr>
          <a:xfrm>
            <a:off x="6217920" y="4297680"/>
            <a:ext cx="5394960" cy="594360"/>
          </a:xfrm>
          <a:prstGeom prst="rect">
            <a:avLst/>
          </a:prstGeom>
          <a:noFill/>
        </p:spPr>
        <p:txBody>
          <a:bodyPr wrap="square">
            <a:spAutoFit/>
          </a:bodyPr>
          <a:lstStyle/>
          <a:p>
            <a:pPr algn="l"/>
            <a:r>
              <a:rPr sz="1200" b="0">
                <a:solidFill>
                  <a:srgbClr val="404040"/>
                </a:solidFill>
              </a:rPr>
              <a:t>Instead of abstract prompting, the model sees concrete
examples of what the correction should look like.</a:t>
            </a:r>
          </a:p>
        </p:txBody>
      </p:sp>
      <p:sp>
        <p:nvSpPr>
          <p:cNvPr id="29" name="Rectangle 28"/>
          <p:cNvSpPr/>
          <p:nvPr/>
        </p:nvSpPr>
        <p:spPr>
          <a:xfrm>
            <a:off x="365760" y="512064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5166360"/>
            <a:ext cx="5394960" cy="320040"/>
          </a:xfrm>
          <a:prstGeom prst="rect">
            <a:avLst/>
          </a:prstGeom>
          <a:noFill/>
        </p:spPr>
        <p:txBody>
          <a:bodyPr wrap="square">
            <a:spAutoFit/>
          </a:bodyPr>
          <a:lstStyle/>
          <a:p>
            <a:pPr algn="l"/>
            <a:r>
              <a:rPr sz="1300" b="1">
                <a:solidFill>
                  <a:srgbClr val="1F3864"/>
                </a:solidFill>
              </a:rPr>
              <a:t>Reduces hallucination</a:t>
            </a:r>
          </a:p>
        </p:txBody>
      </p:sp>
      <p:sp>
        <p:nvSpPr>
          <p:cNvPr id="31" name="TextBox 30"/>
          <p:cNvSpPr txBox="1"/>
          <p:nvPr/>
        </p:nvSpPr>
        <p:spPr>
          <a:xfrm>
            <a:off x="457200" y="5486400"/>
            <a:ext cx="5394960" cy="594360"/>
          </a:xfrm>
          <a:prstGeom prst="rect">
            <a:avLst/>
          </a:prstGeom>
          <a:noFill/>
        </p:spPr>
        <p:txBody>
          <a:bodyPr wrap="square">
            <a:spAutoFit/>
          </a:bodyPr>
          <a:lstStyle/>
          <a:p>
            <a:pPr algn="l"/>
            <a:r>
              <a:rPr sz="1200" b="0">
                <a:solidFill>
                  <a:srgbClr val="404040"/>
                </a:solidFill>
              </a:rPr>
              <a:t>Ground-truth anchors prevent the model from inventing
changes unsupported by training evidence.</a:t>
            </a:r>
          </a:p>
        </p:txBody>
      </p:sp>
      <p:sp>
        <p:nvSpPr>
          <p:cNvPr id="32" name="Rectangle 31"/>
          <p:cNvSpPr/>
          <p:nvPr/>
        </p:nvSpPr>
        <p:spPr>
          <a:xfrm>
            <a:off x="6126480" y="512064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17920" y="5166360"/>
            <a:ext cx="5394960" cy="320040"/>
          </a:xfrm>
          <a:prstGeom prst="rect">
            <a:avLst/>
          </a:prstGeom>
          <a:noFill/>
        </p:spPr>
        <p:txBody>
          <a:bodyPr wrap="square">
            <a:spAutoFit/>
          </a:bodyPr>
          <a:lstStyle/>
          <a:p>
            <a:pPr algn="l"/>
            <a:r>
              <a:rPr sz="1300" b="1">
                <a:solidFill>
                  <a:srgbClr val="1F3864"/>
                </a:solidFill>
              </a:rPr>
              <a:t>BM25 char n-grams</a:t>
            </a:r>
          </a:p>
        </p:txBody>
      </p:sp>
      <p:sp>
        <p:nvSpPr>
          <p:cNvPr id="34" name="TextBox 33"/>
          <p:cNvSpPr txBox="1"/>
          <p:nvPr/>
        </p:nvSpPr>
        <p:spPr>
          <a:xfrm>
            <a:off x="6217920" y="5486400"/>
            <a:ext cx="5394960" cy="594360"/>
          </a:xfrm>
          <a:prstGeom prst="rect">
            <a:avLst/>
          </a:prstGeom>
          <a:noFill/>
        </p:spPr>
        <p:txBody>
          <a:bodyPr wrap="square">
            <a:spAutoFit/>
          </a:bodyPr>
          <a:lstStyle/>
          <a:p>
            <a:pPr algn="l"/>
            <a:r>
              <a:rPr sz="1200" b="0">
                <a:solidFill>
                  <a:srgbClr val="404040"/>
                </a:solidFill>
              </a:rPr>
              <a:t>Character-level matching captures OCR-specific confusable
character patterns rather than word-level semantics.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Key Finding 2 — Prompt Engineering Regresses on Typewritten Text (PATS)</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7 / 15</a:t>
            </a:r>
          </a:p>
        </p:txBody>
      </p:sp>
      <p:sp>
        <p:nvSpPr>
          <p:cNvPr id="5" name="TextBox 4"/>
          <p:cNvSpPr txBox="1"/>
          <p:nvPr/>
        </p:nvSpPr>
        <p:spPr>
          <a:xfrm>
            <a:off x="320040" y="1188720"/>
            <a:ext cx="11548872" cy="365760"/>
          </a:xfrm>
          <a:prstGeom prst="rect">
            <a:avLst/>
          </a:prstGeom>
          <a:noFill/>
        </p:spPr>
        <p:txBody>
          <a:bodyPr wrap="square">
            <a:spAutoFit/>
          </a:bodyPr>
          <a:lstStyle/>
          <a:p>
            <a:pPr algn="l"/>
            <a:r>
              <a:rPr sz="1500" b="0">
                <a:solidFill>
                  <a:srgbClr val="404040"/>
                </a:solidFill>
              </a:rPr>
              <a:t>Phases 3, 4, 6 all increase PATS CER compared to zero-shot (Phase 2). More prompt context = more incorrect changes on already-accurate text.</a:t>
            </a:r>
          </a:p>
        </p:txBody>
      </p:sp>
      <p:graphicFrame>
        <p:nvGraphicFramePr>
          <p:cNvPr id="6" name="Table 5"/>
          <p:cNvGraphicFramePr>
            <a:graphicFrameLocks noGrp="1"/>
          </p:cNvGraphicFramePr>
          <p:nvPr/>
        </p:nvGraphicFramePr>
        <p:xfrm>
          <a:off x="320040" y="1645920"/>
          <a:ext cx="11548872" cy="2560320"/>
        </p:xfrm>
        <a:graphic>
          <a:graphicData uri="http://schemas.openxmlformats.org/drawingml/2006/table">
            <a:tbl>
              <a:tblPr firstRow="1" bandRow="1">
                <a:tableStyleId>{5C22544A-7EE6-4342-B048-85BDC9FD1C3A}</a:tableStyleId>
              </a:tblPr>
              <a:tblGrid>
                <a:gridCol w="3200400"/>
                <a:gridCol w="2743200"/>
                <a:gridCol w="2743200"/>
                <a:gridCol w="2862072"/>
              </a:tblGrid>
              <a:tr h="512064">
                <a:tc>
                  <a:txBody>
                    <a:bodyPr/>
                    <a:lstStyle/>
                    <a:p>
                      <a:pPr algn="ctr">
                        <a:spcBef>
                          <a:spcPts val="200"/>
                        </a:spcBef>
                        <a:spcAft>
                          <a:spcPts val="200"/>
                        </a:spcAft>
                      </a:pPr>
                      <a:r>
                        <a:rPr sz="1300" b="1">
                          <a:solidFill>
                            <a:srgbClr val="FFFFFF"/>
                          </a:solidFill>
                        </a:rPr>
                        <a:t>Phase</a:t>
                      </a:r>
                    </a:p>
                  </a:txBody>
                  <a:tcPr>
                    <a:solidFill>
                      <a:srgbClr val="1F3864"/>
                    </a:solidFill>
                  </a:tcPr>
                </a:tc>
                <a:tc>
                  <a:txBody>
                    <a:bodyPr/>
                    <a:lstStyle/>
                    <a:p>
                      <a:pPr algn="ctr">
                        <a:spcBef>
                          <a:spcPts val="200"/>
                        </a:spcBef>
                        <a:spcAft>
                          <a:spcPts val="200"/>
                        </a:spcAft>
                      </a:pPr>
                      <a:r>
                        <a:rPr sz="1300" b="1">
                          <a:solidFill>
                            <a:srgbClr val="FFFFFF"/>
                          </a:solidFill>
                        </a:rPr>
                        <a:t>PATS avg CER</a:t>
                      </a:r>
                    </a:p>
                  </a:txBody>
                  <a:tcPr>
                    <a:solidFill>
                      <a:srgbClr val="1F3864"/>
                    </a:solidFill>
                  </a:tcPr>
                </a:tc>
                <a:tc>
                  <a:txBody>
                    <a:bodyPr/>
                    <a:lstStyle/>
                    <a:p>
                      <a:pPr algn="ctr">
                        <a:spcBef>
                          <a:spcPts val="200"/>
                        </a:spcBef>
                        <a:spcAft>
                          <a:spcPts val="200"/>
                        </a:spcAft>
                      </a:pPr>
                      <a:r>
                        <a:rPr sz="1300" b="1">
                          <a:solidFill>
                            <a:srgbClr val="FFFFFF"/>
                          </a:solidFill>
                        </a:rPr>
                        <a:t>vs Zero-Shot</a:t>
                      </a:r>
                    </a:p>
                  </a:txBody>
                  <a:tcPr>
                    <a:solidFill>
                      <a:srgbClr val="1F3864"/>
                    </a:solidFill>
                  </a:tcPr>
                </a:tc>
                <a:tc>
                  <a:txBody>
                    <a:bodyPr/>
                    <a:lstStyle/>
                    <a:p>
                      <a:pPr algn="ctr">
                        <a:spcBef>
                          <a:spcPts val="200"/>
                        </a:spcBef>
                        <a:spcAft>
                          <a:spcPts val="200"/>
                        </a:spcAft>
                      </a:pPr>
                      <a:r>
                        <a:rPr sz="1300" b="1">
                          <a:solidFill>
                            <a:srgbClr val="FFFFFF"/>
                          </a:solidFill>
                        </a:rPr>
                        <a:t>Interpretation</a:t>
                      </a:r>
                    </a:p>
                  </a:txBody>
                  <a:tcPr>
                    <a:solidFill>
                      <a:srgbClr val="1F3864"/>
                    </a:solidFill>
                  </a:tcPr>
                </a:tc>
              </a:tr>
              <a:tr h="512064">
                <a:tc>
                  <a:txBody>
                    <a:bodyPr/>
                    <a:lstStyle/>
                    <a:p>
                      <a:pPr algn="l">
                        <a:spcBef>
                          <a:spcPts val="200"/>
                        </a:spcBef>
                        <a:spcAft>
                          <a:spcPts val="200"/>
                        </a:spcAft>
                      </a:pPr>
                      <a:r>
                        <a:rPr sz="1200" b="0">
                          <a:solidFill>
                            <a:srgbClr val="404040"/>
                          </a:solidFill>
                        </a:rPr>
                        <a:t>Phase 2 — Zero-Shot (baseline)</a:t>
                      </a:r>
                    </a:p>
                  </a:txBody>
                  <a:tcPr>
                    <a:solidFill>
                      <a:srgbClr val="F2F2F2"/>
                    </a:solidFill>
                  </a:tcPr>
                </a:tc>
                <a:tc>
                  <a:txBody>
                    <a:bodyPr/>
                    <a:lstStyle/>
                    <a:p>
                      <a:pPr algn="ctr">
                        <a:spcBef>
                          <a:spcPts val="200"/>
                        </a:spcBef>
                        <a:spcAft>
                          <a:spcPts val="200"/>
                        </a:spcAft>
                      </a:pPr>
                      <a:r>
                        <a:rPr sz="1200" b="0">
                          <a:solidFill>
                            <a:srgbClr val="404040"/>
                          </a:solidFill>
                        </a:rPr>
                        <a:t>1.32%</a:t>
                      </a:r>
                    </a:p>
                  </a:txBody>
                  <a:tcPr>
                    <a:solidFill>
                      <a:srgbClr val="F2F2F2"/>
                    </a:solidFill>
                  </a:tcPr>
                </a:tc>
                <a:tc>
                  <a:txBody>
                    <a:bodyPr/>
                    <a:lstStyle/>
                    <a:p>
                      <a:pPr algn="ctr">
                        <a:spcBef>
                          <a:spcPts val="200"/>
                        </a:spcBef>
                        <a:spcAft>
                          <a:spcPts val="200"/>
                        </a:spcAft>
                      </a:pPr>
                      <a:r>
                        <a:rPr sz="1200" b="0">
                          <a:solidFill>
                            <a:srgbClr val="404040"/>
                          </a:solidFill>
                        </a:rPr>
                        <a:t>—</a:t>
                      </a:r>
                    </a:p>
                  </a:txBody>
                  <a:tcPr>
                    <a:solidFill>
                      <a:srgbClr val="F2F2F2"/>
                    </a:solidFill>
                  </a:tcPr>
                </a:tc>
                <a:tc>
                  <a:txBody>
                    <a:bodyPr/>
                    <a:lstStyle/>
                    <a:p>
                      <a:pPr algn="l">
                        <a:spcBef>
                          <a:spcPts val="200"/>
                        </a:spcBef>
                        <a:spcAft>
                          <a:spcPts val="200"/>
                        </a:spcAft>
                      </a:pPr>
                      <a:r>
                        <a:rPr sz="1100" b="0">
                          <a:solidFill>
                            <a:srgbClr val="404040"/>
                          </a:solidFill>
                        </a:rPr>
                        <a:t>Reference</a:t>
                      </a:r>
                    </a:p>
                  </a:txBody>
                  <a:tcPr>
                    <a:solidFill>
                      <a:srgbClr val="F2F2F2"/>
                    </a:solidFill>
                  </a:tcPr>
                </a:tc>
              </a:tr>
              <a:tr h="512064">
                <a:tc>
                  <a:txBody>
                    <a:bodyPr/>
                    <a:lstStyle/>
                    <a:p>
                      <a:pPr algn="l">
                        <a:spcBef>
                          <a:spcPts val="200"/>
                        </a:spcBef>
                        <a:spcAft>
                          <a:spcPts val="200"/>
                        </a:spcAft>
                      </a:pPr>
                      <a:r>
                        <a:rPr sz="1200" b="0">
                          <a:solidFill>
                            <a:srgbClr val="404040"/>
                          </a:solidFill>
                        </a:rPr>
                        <a:t>Phase 3 — OCR-Aware</a:t>
                      </a:r>
                    </a:p>
                  </a:txBody>
                  <a:tcPr>
                    <a:solidFill>
                      <a:srgbClr val="FFFFFF"/>
                    </a:solidFill>
                  </a:tcPr>
                </a:tc>
                <a:tc>
                  <a:txBody>
                    <a:bodyPr/>
                    <a:lstStyle/>
                    <a:p>
                      <a:pPr algn="ctr">
                        <a:spcBef>
                          <a:spcPts val="200"/>
                        </a:spcBef>
                        <a:spcAft>
                          <a:spcPts val="200"/>
                        </a:spcAft>
                      </a:pPr>
                      <a:r>
                        <a:rPr sz="1200" b="0">
                          <a:solidFill>
                            <a:srgbClr val="404040"/>
                          </a:solidFill>
                        </a:rPr>
                        <a:t>1.47%</a:t>
                      </a:r>
                    </a:p>
                  </a:txBody>
                  <a:tcPr>
                    <a:solidFill>
                      <a:srgbClr val="FFFFFF"/>
                    </a:solidFill>
                  </a:tcPr>
                </a:tc>
                <a:tc>
                  <a:txBody>
                    <a:bodyPr/>
                    <a:lstStyle/>
                    <a:p>
                      <a:pPr algn="ctr">
                        <a:spcBef>
                          <a:spcPts val="200"/>
                        </a:spcBef>
                        <a:spcAft>
                          <a:spcPts val="200"/>
                        </a:spcAft>
                      </a:pPr>
                      <a:r>
                        <a:rPr sz="1200" b="1">
                          <a:solidFill>
                            <a:srgbClr val="C00000"/>
                          </a:solidFill>
                        </a:rPr>
                        <a:t>+0.15pp</a:t>
                      </a:r>
                    </a:p>
                  </a:txBody>
                  <a:tcPr>
                    <a:solidFill>
                      <a:srgbClr val="FFFFFF"/>
                    </a:solidFill>
                  </a:tcPr>
                </a:tc>
                <a:tc>
                  <a:txBody>
                    <a:bodyPr/>
                    <a:lstStyle/>
                    <a:p>
                      <a:pPr algn="l">
                        <a:spcBef>
                          <a:spcPts val="200"/>
                        </a:spcBef>
                        <a:spcAft>
                          <a:spcPts val="200"/>
                        </a:spcAft>
                      </a:pPr>
                      <a:r>
                        <a:rPr sz="1100" b="0">
                          <a:solidFill>
                            <a:srgbClr val="404040"/>
                          </a:solidFill>
                        </a:rPr>
                        <a:t>Confusion matrix → over-corrects</a:t>
                      </a:r>
                    </a:p>
                  </a:txBody>
                  <a:tcPr>
                    <a:solidFill>
                      <a:srgbClr val="FFFFFF"/>
                    </a:solidFill>
                  </a:tcPr>
                </a:tc>
              </a:tr>
              <a:tr h="512064">
                <a:tc>
                  <a:txBody>
                    <a:bodyPr/>
                    <a:lstStyle/>
                    <a:p>
                      <a:pPr algn="l">
                        <a:spcBef>
                          <a:spcPts val="200"/>
                        </a:spcBef>
                        <a:spcAft>
                          <a:spcPts val="200"/>
                        </a:spcAft>
                      </a:pPr>
                      <a:r>
                        <a:rPr sz="1200" b="0">
                          <a:solidFill>
                            <a:srgbClr val="404040"/>
                          </a:solidFill>
                        </a:rPr>
                        <a:t>Phase 4 — Self-Reflective</a:t>
                      </a:r>
                    </a:p>
                  </a:txBody>
                  <a:tcPr>
                    <a:solidFill>
                      <a:srgbClr val="F2F2F2"/>
                    </a:solidFill>
                  </a:tcPr>
                </a:tc>
                <a:tc>
                  <a:txBody>
                    <a:bodyPr/>
                    <a:lstStyle/>
                    <a:p>
                      <a:pPr algn="ctr">
                        <a:spcBef>
                          <a:spcPts val="200"/>
                        </a:spcBef>
                        <a:spcAft>
                          <a:spcPts val="200"/>
                        </a:spcAft>
                      </a:pPr>
                      <a:r>
                        <a:rPr sz="1200" b="0">
                          <a:solidFill>
                            <a:srgbClr val="404040"/>
                          </a:solidFill>
                        </a:rPr>
                        <a:t>1.45%</a:t>
                      </a:r>
                    </a:p>
                  </a:txBody>
                  <a:tcPr>
                    <a:solidFill>
                      <a:srgbClr val="F2F2F2"/>
                    </a:solidFill>
                  </a:tcPr>
                </a:tc>
                <a:tc>
                  <a:txBody>
                    <a:bodyPr/>
                    <a:lstStyle/>
                    <a:p>
                      <a:pPr algn="ctr">
                        <a:spcBef>
                          <a:spcPts val="200"/>
                        </a:spcBef>
                        <a:spcAft>
                          <a:spcPts val="200"/>
                        </a:spcAft>
                      </a:pPr>
                      <a:r>
                        <a:rPr sz="1200" b="1">
                          <a:solidFill>
                            <a:srgbClr val="C00000"/>
                          </a:solidFill>
                        </a:rPr>
                        <a:t>+0.13pp</a:t>
                      </a:r>
                    </a:p>
                  </a:txBody>
                  <a:tcPr>
                    <a:solidFill>
                      <a:srgbClr val="F2F2F2"/>
                    </a:solidFill>
                  </a:tcPr>
                </a:tc>
                <a:tc>
                  <a:txBody>
                    <a:bodyPr/>
                    <a:lstStyle/>
                    <a:p>
                      <a:pPr algn="l">
                        <a:spcBef>
                          <a:spcPts val="200"/>
                        </a:spcBef>
                        <a:spcAft>
                          <a:spcPts val="200"/>
                        </a:spcAft>
                      </a:pPr>
                      <a:r>
                        <a:rPr sz="1100" b="0">
                          <a:solidFill>
                            <a:srgbClr val="404040"/>
                          </a:solidFill>
                        </a:rPr>
                        <a:t>Failure warnings → more edits</a:t>
                      </a:r>
                    </a:p>
                  </a:txBody>
                  <a:tcPr>
                    <a:solidFill>
                      <a:srgbClr val="F2F2F2"/>
                    </a:solidFill>
                  </a:tcPr>
                </a:tc>
              </a:tr>
              <a:tr h="512064">
                <a:tc>
                  <a:txBody>
                    <a:bodyPr/>
                    <a:lstStyle/>
                    <a:p>
                      <a:pPr algn="l">
                        <a:spcBef>
                          <a:spcPts val="200"/>
                        </a:spcBef>
                        <a:spcAft>
                          <a:spcPts val="200"/>
                        </a:spcAft>
                      </a:pPr>
                      <a:r>
                        <a:rPr sz="1200" b="0">
                          <a:solidFill>
                            <a:srgbClr val="404040"/>
                          </a:solidFill>
                        </a:rPr>
                        <a:t>Phase 6 — Conf+Self</a:t>
                      </a:r>
                    </a:p>
                  </a:txBody>
                  <a:tcPr>
                    <a:solidFill>
                      <a:srgbClr val="FFFFFF"/>
                    </a:solidFill>
                  </a:tcPr>
                </a:tc>
                <a:tc>
                  <a:txBody>
                    <a:bodyPr/>
                    <a:lstStyle/>
                    <a:p>
                      <a:pPr algn="ctr">
                        <a:spcBef>
                          <a:spcPts val="200"/>
                        </a:spcBef>
                        <a:spcAft>
                          <a:spcPts val="200"/>
                        </a:spcAft>
                      </a:pPr>
                      <a:r>
                        <a:rPr sz="1200" b="0">
                          <a:solidFill>
                            <a:srgbClr val="404040"/>
                          </a:solidFill>
                        </a:rPr>
                        <a:t>1.53%</a:t>
                      </a:r>
                    </a:p>
                  </a:txBody>
                  <a:tcPr>
                    <a:solidFill>
                      <a:srgbClr val="FFFFFF"/>
                    </a:solidFill>
                  </a:tcPr>
                </a:tc>
                <a:tc>
                  <a:txBody>
                    <a:bodyPr/>
                    <a:lstStyle/>
                    <a:p>
                      <a:pPr algn="ctr">
                        <a:spcBef>
                          <a:spcPts val="200"/>
                        </a:spcBef>
                        <a:spcAft>
                          <a:spcPts val="200"/>
                        </a:spcAft>
                      </a:pPr>
                      <a:r>
                        <a:rPr sz="1200" b="1">
                          <a:solidFill>
                            <a:srgbClr val="C00000"/>
                          </a:solidFill>
                        </a:rPr>
                        <a:t>+0.21pp</a:t>
                      </a:r>
                    </a:p>
                  </a:txBody>
                  <a:tcPr>
                    <a:solidFill>
                      <a:srgbClr val="FFFFFF"/>
                    </a:solidFill>
                  </a:tcPr>
                </a:tc>
                <a:tc>
                  <a:txBody>
                    <a:bodyPr/>
                    <a:lstStyle/>
                    <a:p>
                      <a:pPr algn="l">
                        <a:spcBef>
                          <a:spcPts val="200"/>
                        </a:spcBef>
                        <a:spcAft>
                          <a:spcPts val="200"/>
                        </a:spcAft>
                      </a:pPr>
                      <a:r>
                        <a:rPr sz="1100" b="0">
                          <a:solidFill>
                            <a:srgbClr val="404040"/>
                          </a:solidFill>
                        </a:rPr>
                        <a:t>Combined signals → worst of both</a:t>
                      </a:r>
                    </a:p>
                  </a:txBody>
                  <a:tcPr>
                    <a:solidFill>
                      <a:srgbClr val="FFFFFF"/>
                    </a:solidFill>
                  </a:tcPr>
                </a:tc>
              </a:tr>
            </a:tbl>
          </a:graphicData>
        </a:graphic>
      </p:graphicFrame>
      <p:sp>
        <p:nvSpPr>
          <p:cNvPr id="7" name="Rectangle 6"/>
          <p:cNvSpPr/>
          <p:nvPr/>
        </p:nvSpPr>
        <p:spPr>
          <a:xfrm>
            <a:off x="320040" y="4343400"/>
            <a:ext cx="11548872" cy="3657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4389120"/>
            <a:ext cx="11338560" cy="320040"/>
          </a:xfrm>
          <a:prstGeom prst="rect">
            <a:avLst/>
          </a:prstGeom>
          <a:noFill/>
        </p:spPr>
        <p:txBody>
          <a:bodyPr wrap="square">
            <a:spAutoFit/>
          </a:bodyPr>
          <a:lstStyle/>
          <a:p>
            <a:pPr algn="l"/>
            <a:r>
              <a:rPr sz="1600" b="1">
                <a:solidFill>
                  <a:srgbClr val="FFFFFF"/>
                </a:solidFill>
              </a:rPr>
              <a:t>Root Cause: Over-Correction at Low Error Rate</a:t>
            </a:r>
          </a:p>
        </p:txBody>
      </p:sp>
      <p:sp>
        <p:nvSpPr>
          <p:cNvPr id="9" name="Rectangle 8"/>
          <p:cNvSpPr/>
          <p:nvPr/>
        </p:nvSpPr>
        <p:spPr>
          <a:xfrm>
            <a:off x="365760" y="4846320"/>
            <a:ext cx="3749039" cy="1737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4892040"/>
            <a:ext cx="3566160" cy="320040"/>
          </a:xfrm>
          <a:prstGeom prst="rect">
            <a:avLst/>
          </a:prstGeom>
          <a:noFill/>
        </p:spPr>
        <p:txBody>
          <a:bodyPr wrap="square">
            <a:spAutoFit/>
          </a:bodyPr>
          <a:lstStyle/>
          <a:p>
            <a:pPr algn="l"/>
            <a:r>
              <a:rPr sz="1300" b="1">
                <a:solidFill>
                  <a:srgbClr val="1F3864"/>
                </a:solidFill>
              </a:rPr>
              <a:t>The floor effect</a:t>
            </a:r>
          </a:p>
        </p:txBody>
      </p:sp>
      <p:sp>
        <p:nvSpPr>
          <p:cNvPr id="11" name="TextBox 10"/>
          <p:cNvSpPr txBox="1"/>
          <p:nvPr/>
        </p:nvSpPr>
        <p:spPr>
          <a:xfrm>
            <a:off x="457200" y="5212080"/>
            <a:ext cx="3566160" cy="1280160"/>
          </a:xfrm>
          <a:prstGeom prst="rect">
            <a:avLst/>
          </a:prstGeom>
          <a:noFill/>
        </p:spPr>
        <p:txBody>
          <a:bodyPr wrap="square">
            <a:spAutoFit/>
          </a:bodyPr>
          <a:lstStyle/>
          <a:p>
            <a:pPr algn="l"/>
            <a:r>
              <a:rPr sz="1200" b="0">
                <a:solidFill>
                  <a:srgbClr val="404040"/>
                </a:solidFill>
              </a:rPr>
              <a:t>PATS CER is already 0.86%–1.54%. At this level, any
non-trivial correction strategy introduces more errors
than it fixes. Signal-to-noise ratio is very low.</a:t>
            </a:r>
          </a:p>
        </p:txBody>
      </p:sp>
      <p:sp>
        <p:nvSpPr>
          <p:cNvPr id="12" name="Rectangle 11"/>
          <p:cNvSpPr/>
          <p:nvPr/>
        </p:nvSpPr>
        <p:spPr>
          <a:xfrm>
            <a:off x="4297680" y="4846320"/>
            <a:ext cx="3749039" cy="1737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4892040"/>
            <a:ext cx="3566160" cy="320040"/>
          </a:xfrm>
          <a:prstGeom prst="rect">
            <a:avLst/>
          </a:prstGeom>
          <a:noFill/>
        </p:spPr>
        <p:txBody>
          <a:bodyPr wrap="square">
            <a:spAutoFit/>
          </a:bodyPr>
          <a:lstStyle/>
          <a:p>
            <a:pPr algn="l"/>
            <a:r>
              <a:rPr sz="1300" b="1">
                <a:solidFill>
                  <a:srgbClr val="1F3864"/>
                </a:solidFill>
              </a:rPr>
              <a:t>More context = more edits</a:t>
            </a:r>
          </a:p>
        </p:txBody>
      </p:sp>
      <p:sp>
        <p:nvSpPr>
          <p:cNvPr id="14" name="TextBox 13"/>
          <p:cNvSpPr txBox="1"/>
          <p:nvPr/>
        </p:nvSpPr>
        <p:spPr>
          <a:xfrm>
            <a:off x="4389120" y="5212080"/>
            <a:ext cx="3566160" cy="1280160"/>
          </a:xfrm>
          <a:prstGeom prst="rect">
            <a:avLst/>
          </a:prstGeom>
          <a:noFill/>
        </p:spPr>
        <p:txBody>
          <a:bodyPr wrap="square">
            <a:spAutoFit/>
          </a:bodyPr>
          <a:lstStyle/>
          <a:p>
            <a:pPr algn="l"/>
            <a:r>
              <a:rPr sz="1200" b="0">
                <a:solidFill>
                  <a:srgbClr val="404040"/>
                </a:solidFill>
              </a:rPr>
              <a:t>Confusion matrices and failure examples implicitly
encourage the model to make changes — even when
the OCR text is already correct.</a:t>
            </a:r>
          </a:p>
        </p:txBody>
      </p:sp>
      <p:sp>
        <p:nvSpPr>
          <p:cNvPr id="15" name="Rectangle 14"/>
          <p:cNvSpPr/>
          <p:nvPr/>
        </p:nvSpPr>
        <p:spPr>
          <a:xfrm>
            <a:off x="8229600" y="4846320"/>
            <a:ext cx="3749039" cy="1737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4892040"/>
            <a:ext cx="3566160" cy="320040"/>
          </a:xfrm>
          <a:prstGeom prst="rect">
            <a:avLst/>
          </a:prstGeom>
          <a:noFill/>
        </p:spPr>
        <p:txBody>
          <a:bodyPr wrap="square">
            <a:spAutoFit/>
          </a:bodyPr>
          <a:lstStyle/>
          <a:p>
            <a:pPr algn="l"/>
            <a:r>
              <a:rPr sz="1300" b="1">
                <a:solidFill>
                  <a:srgbClr val="1F3864"/>
                </a:solidFill>
              </a:rPr>
              <a:t>Exception: Tahoma</a:t>
            </a:r>
          </a:p>
        </p:txBody>
      </p:sp>
      <p:sp>
        <p:nvSpPr>
          <p:cNvPr id="17" name="TextBox 16"/>
          <p:cNvSpPr txBox="1"/>
          <p:nvPr/>
        </p:nvSpPr>
        <p:spPr>
          <a:xfrm>
            <a:off x="8321040" y="5212080"/>
            <a:ext cx="3566160" cy="1280160"/>
          </a:xfrm>
          <a:prstGeom prst="rect">
            <a:avLst/>
          </a:prstGeom>
          <a:noFill/>
        </p:spPr>
        <p:txBody>
          <a:bodyPr wrap="square">
            <a:spAutoFit/>
          </a:bodyPr>
          <a:lstStyle/>
          <a:p>
            <a:pPr algn="l"/>
            <a:r>
              <a:rPr sz="1200" b="0">
                <a:solidFill>
                  <a:srgbClr val="404040"/>
                </a:solidFill>
              </a:rPr>
              <a:t>CER 2.39% is high enough for LLM to help (Phase 2:
2.70%), suggesting a per-dataset difficulty threshold
below which LLM correction is net-harmful.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Key Finding 3 — LLM Post-Correction Strongly Benefits Handwritten Text (KHATT)</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8 / 15</a:t>
            </a:r>
          </a:p>
        </p:txBody>
      </p:sp>
      <p:sp>
        <p:nvSpPr>
          <p:cNvPr id="5" name="TextBox 4"/>
          <p:cNvSpPr txBox="1"/>
          <p:nvPr/>
        </p:nvSpPr>
        <p:spPr>
          <a:xfrm>
            <a:off x="320040" y="1188720"/>
            <a:ext cx="11548872" cy="365760"/>
          </a:xfrm>
          <a:prstGeom prst="rect">
            <a:avLst/>
          </a:prstGeom>
          <a:noFill/>
        </p:spPr>
        <p:txBody>
          <a:bodyPr wrap="square">
            <a:spAutoFit/>
          </a:bodyPr>
          <a:lstStyle/>
          <a:p>
            <a:pPr algn="l"/>
            <a:r>
              <a:rPr sz="1600" b="1">
                <a:solidFill>
                  <a:srgbClr val="1F3864"/>
                </a:solidFill>
              </a:rPr>
              <a:t>KHATT CER Progression   (WER follows similar pattern: 7.25% → 3.28%)</a:t>
            </a:r>
          </a:p>
        </p:txBody>
      </p:sp>
      <p:sp>
        <p:nvSpPr>
          <p:cNvPr id="6" name="Rectangle 5"/>
          <p:cNvSpPr/>
          <p:nvPr/>
        </p:nvSpPr>
        <p:spPr>
          <a:xfrm>
            <a:off x="1188720" y="1737360"/>
            <a:ext cx="2011680" cy="292608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1371600"/>
            <a:ext cx="2011680" cy="320040"/>
          </a:xfrm>
          <a:prstGeom prst="rect">
            <a:avLst/>
          </a:prstGeom>
          <a:noFill/>
        </p:spPr>
        <p:txBody>
          <a:bodyPr wrap="square">
            <a:spAutoFit/>
          </a:bodyPr>
          <a:lstStyle/>
          <a:p>
            <a:pPr algn="ctr"/>
            <a:r>
              <a:rPr sz="2000" b="1">
                <a:solidFill>
                  <a:srgbClr val="ED7D31"/>
                </a:solidFill>
              </a:rPr>
              <a:t>5.66%</a:t>
            </a:r>
          </a:p>
        </p:txBody>
      </p:sp>
      <p:sp>
        <p:nvSpPr>
          <p:cNvPr id="8" name="TextBox 7"/>
          <p:cNvSpPr txBox="1"/>
          <p:nvPr/>
        </p:nvSpPr>
        <p:spPr>
          <a:xfrm>
            <a:off x="1188720" y="4709160"/>
            <a:ext cx="2011680" cy="502920"/>
          </a:xfrm>
          <a:prstGeom prst="rect">
            <a:avLst/>
          </a:prstGeom>
          <a:noFill/>
        </p:spPr>
        <p:txBody>
          <a:bodyPr wrap="square">
            <a:spAutoFit/>
          </a:bodyPr>
          <a:lstStyle/>
          <a:p>
            <a:pPr algn="ctr"/>
            <a:r>
              <a:rPr sz="1200" b="0">
                <a:solidFill>
                  <a:srgbClr val="404040"/>
                </a:solidFill>
              </a:rPr>
              <a:t>OCR Baseline
(Phase 1)</a:t>
            </a:r>
          </a:p>
        </p:txBody>
      </p:sp>
      <p:sp>
        <p:nvSpPr>
          <p:cNvPr id="9" name="Rectangle 8"/>
          <p:cNvSpPr/>
          <p:nvPr/>
        </p:nvSpPr>
        <p:spPr>
          <a:xfrm>
            <a:off x="3840480" y="3003949"/>
            <a:ext cx="2011680" cy="165949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40480" y="2638189"/>
            <a:ext cx="2011680" cy="320040"/>
          </a:xfrm>
          <a:prstGeom prst="rect">
            <a:avLst/>
          </a:prstGeom>
          <a:noFill/>
        </p:spPr>
        <p:txBody>
          <a:bodyPr wrap="square">
            <a:spAutoFit/>
          </a:bodyPr>
          <a:lstStyle/>
          <a:p>
            <a:pPr algn="ctr"/>
            <a:r>
              <a:rPr sz="2000" b="1">
                <a:solidFill>
                  <a:srgbClr val="2774AE"/>
                </a:solidFill>
              </a:rPr>
              <a:t>3.21%</a:t>
            </a:r>
          </a:p>
        </p:txBody>
      </p:sp>
      <p:sp>
        <p:nvSpPr>
          <p:cNvPr id="11" name="TextBox 10"/>
          <p:cNvSpPr txBox="1"/>
          <p:nvPr/>
        </p:nvSpPr>
        <p:spPr>
          <a:xfrm>
            <a:off x="3840480" y="4709160"/>
            <a:ext cx="2011680" cy="502920"/>
          </a:xfrm>
          <a:prstGeom prst="rect">
            <a:avLst/>
          </a:prstGeom>
          <a:noFill/>
        </p:spPr>
        <p:txBody>
          <a:bodyPr wrap="square">
            <a:spAutoFit/>
          </a:bodyPr>
          <a:lstStyle/>
          <a:p>
            <a:pPr algn="ctr"/>
            <a:r>
              <a:rPr sz="1200" b="0">
                <a:solidFill>
                  <a:srgbClr val="404040"/>
                </a:solidFill>
              </a:rPr>
              <a:t>Zero-Shot
(Phase 2)</a:t>
            </a:r>
          </a:p>
        </p:txBody>
      </p:sp>
      <p:sp>
        <p:nvSpPr>
          <p:cNvPr id="12" name="Rectangle 11"/>
          <p:cNvSpPr/>
          <p:nvPr/>
        </p:nvSpPr>
        <p:spPr>
          <a:xfrm>
            <a:off x="6492240" y="3102174"/>
            <a:ext cx="2011680" cy="1561265"/>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736414"/>
            <a:ext cx="2011680" cy="320040"/>
          </a:xfrm>
          <a:prstGeom prst="rect">
            <a:avLst/>
          </a:prstGeom>
          <a:noFill/>
        </p:spPr>
        <p:txBody>
          <a:bodyPr wrap="square">
            <a:spAutoFit/>
          </a:bodyPr>
          <a:lstStyle/>
          <a:p>
            <a:pPr algn="ctr"/>
            <a:r>
              <a:rPr sz="2000" b="1">
                <a:solidFill>
                  <a:srgbClr val="2774AE"/>
                </a:solidFill>
              </a:rPr>
              <a:t>3.02%</a:t>
            </a:r>
          </a:p>
        </p:txBody>
      </p:sp>
      <p:sp>
        <p:nvSpPr>
          <p:cNvPr id="14" name="TextBox 13"/>
          <p:cNvSpPr txBox="1"/>
          <p:nvPr/>
        </p:nvSpPr>
        <p:spPr>
          <a:xfrm>
            <a:off x="6492240" y="4709160"/>
            <a:ext cx="2011680" cy="502920"/>
          </a:xfrm>
          <a:prstGeom prst="rect">
            <a:avLst/>
          </a:prstGeom>
          <a:noFill/>
        </p:spPr>
        <p:txBody>
          <a:bodyPr wrap="square">
            <a:spAutoFit/>
          </a:bodyPr>
          <a:lstStyle/>
          <a:p>
            <a:pPr algn="ctr"/>
            <a:r>
              <a:rPr sz="1200" b="0">
                <a:solidFill>
                  <a:srgbClr val="404040"/>
                </a:solidFill>
              </a:rPr>
              <a:t>Self-Reflect
(Phase 4)</a:t>
            </a:r>
          </a:p>
        </p:txBody>
      </p:sp>
      <p:sp>
        <p:nvSpPr>
          <p:cNvPr id="15" name="Rectangle 14"/>
          <p:cNvSpPr/>
          <p:nvPr/>
        </p:nvSpPr>
        <p:spPr>
          <a:xfrm>
            <a:off x="9144000" y="3231418"/>
            <a:ext cx="2011680" cy="1432021"/>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0" y="2865658"/>
            <a:ext cx="2011680" cy="320040"/>
          </a:xfrm>
          <a:prstGeom prst="rect">
            <a:avLst/>
          </a:prstGeom>
          <a:noFill/>
        </p:spPr>
        <p:txBody>
          <a:bodyPr wrap="square">
            <a:spAutoFit/>
          </a:bodyPr>
          <a:lstStyle/>
          <a:p>
            <a:pPr algn="ctr"/>
            <a:r>
              <a:rPr sz="2000" b="1">
                <a:solidFill>
                  <a:srgbClr val="378636"/>
                </a:solidFill>
              </a:rPr>
              <a:t>2.77%</a:t>
            </a:r>
          </a:p>
        </p:txBody>
      </p:sp>
      <p:sp>
        <p:nvSpPr>
          <p:cNvPr id="17" name="TextBox 16"/>
          <p:cNvSpPr txBox="1"/>
          <p:nvPr/>
        </p:nvSpPr>
        <p:spPr>
          <a:xfrm>
            <a:off x="9144000" y="4709160"/>
            <a:ext cx="2011680" cy="502920"/>
          </a:xfrm>
          <a:prstGeom prst="rect">
            <a:avLst/>
          </a:prstGeom>
          <a:noFill/>
        </p:spPr>
        <p:txBody>
          <a:bodyPr wrap="square">
            <a:spAutoFit/>
          </a:bodyPr>
          <a:lstStyle/>
          <a:p>
            <a:pPr algn="ctr"/>
            <a:r>
              <a:rPr sz="1200" b="0">
                <a:solidFill>
                  <a:srgbClr val="404040"/>
                </a:solidFill>
              </a:rPr>
              <a:t>RAG BM25
(Phase 8)</a:t>
            </a:r>
          </a:p>
        </p:txBody>
      </p:sp>
      <p:sp>
        <p:nvSpPr>
          <p:cNvPr id="18" name="Rectangle 17"/>
          <p:cNvSpPr/>
          <p:nvPr/>
        </p:nvSpPr>
        <p:spPr>
          <a:xfrm>
            <a:off x="320040" y="5257800"/>
            <a:ext cx="11548872"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5303520"/>
            <a:ext cx="11338560" cy="365760"/>
          </a:xfrm>
          <a:prstGeom prst="rect">
            <a:avLst/>
          </a:prstGeom>
          <a:noFill/>
        </p:spPr>
        <p:txBody>
          <a:bodyPr wrap="square">
            <a:spAutoFit/>
          </a:bodyPr>
          <a:lstStyle/>
          <a:p>
            <a:pPr algn="ctr"/>
            <a:r>
              <a:rPr sz="1500" b="1">
                <a:solidFill>
                  <a:srgbClr val="FFC000"/>
                </a:solidFill>
              </a:rPr>
              <a:t>Total CER reduction:  OCR → RAG =  5.66% → 2.77%  =  51% relative improvement  (WER: 7.25% → 3.28% = 55% relative improvement)</a:t>
            </a:r>
          </a:p>
        </p:txBody>
      </p:sp>
      <p:sp>
        <p:nvSpPr>
          <p:cNvPr id="20" name="TextBox 19"/>
          <p:cNvSpPr txBox="1"/>
          <p:nvPr/>
        </p:nvSpPr>
        <p:spPr>
          <a:xfrm>
            <a:off x="320040" y="5806440"/>
            <a:ext cx="11548872" cy="411480"/>
          </a:xfrm>
          <a:prstGeom prst="rect">
            <a:avLst/>
          </a:prstGeom>
          <a:noFill/>
        </p:spPr>
        <p:txBody>
          <a:bodyPr wrap="square">
            <a:spAutoFit/>
          </a:bodyPr>
          <a:lstStyle/>
          <a:p>
            <a:pPr algn="l"/>
            <a:r>
              <a:rPr sz="1300" b="0">
                <a:solidFill>
                  <a:srgbClr val="404040"/>
                </a:solidFill>
              </a:rPr>
              <a:t>KHATT is the real target domain: high error rate gives LLM enough signal to correct without excessive false positives. RAG amplifies this further via domain-matched examples.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Per-Font Breakdown — PATS-A01</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Not all fonts benefit equally; Tahoma uniquely resists LLM correction</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9 / 15</a:t>
            </a:r>
          </a:p>
        </p:txBody>
      </p:sp>
      <p:graphicFrame>
        <p:nvGraphicFramePr>
          <p:cNvPr id="6" name="Table 5"/>
          <p:cNvGraphicFramePr>
            <a:graphicFrameLocks noGrp="1"/>
          </p:cNvGraphicFramePr>
          <p:nvPr/>
        </p:nvGraphicFramePr>
        <p:xfrm>
          <a:off x="320040" y="1234440"/>
          <a:ext cx="11548872" cy="5349240"/>
        </p:xfrm>
        <a:graphic>
          <a:graphicData uri="http://schemas.openxmlformats.org/drawingml/2006/table">
            <a:tbl>
              <a:tblPr firstRow="1" bandRow="1">
                <a:tableStyleId>{5C22544A-7EE6-4342-B048-85BDC9FD1C3A}</a:tableStyleId>
              </a:tblPr>
              <a:tblGrid>
                <a:gridCol w="1828800"/>
                <a:gridCol w="1645920"/>
                <a:gridCol w="1645920"/>
                <a:gridCol w="1645920"/>
                <a:gridCol w="1645920"/>
                <a:gridCol w="3136392"/>
              </a:tblGrid>
              <a:tr h="534924">
                <a:tc>
                  <a:txBody>
                    <a:bodyPr/>
                    <a:lstStyle/>
                    <a:p>
                      <a:pPr algn="ctr">
                        <a:spcBef>
                          <a:spcPts val="200"/>
                        </a:spcBef>
                        <a:spcAft>
                          <a:spcPts val="200"/>
                        </a:spcAft>
                      </a:pPr>
                      <a:r>
                        <a:rPr sz="1200" b="1">
                          <a:solidFill>
                            <a:srgbClr val="FFFFFF"/>
                          </a:solidFill>
                        </a:rPr>
                        <a:t>Font</a:t>
                      </a:r>
                    </a:p>
                  </a:txBody>
                  <a:tcPr>
                    <a:solidFill>
                      <a:srgbClr val="1F3864"/>
                    </a:solidFill>
                  </a:tcPr>
                </a:tc>
                <a:tc>
                  <a:txBody>
                    <a:bodyPr/>
                    <a:lstStyle/>
                    <a:p>
                      <a:pPr algn="ctr">
                        <a:spcBef>
                          <a:spcPts val="200"/>
                        </a:spcBef>
                        <a:spcAft>
                          <a:spcPts val="200"/>
                        </a:spcAft>
                      </a:pPr>
                      <a:r>
                        <a:rPr sz="1200" b="1">
                          <a:solidFill>
                            <a:srgbClr val="FFFFFF"/>
                          </a:solidFill>
                        </a:rPr>
                        <a:t>P1 CER
(OCR)</a:t>
                      </a:r>
                    </a:p>
                  </a:txBody>
                  <a:tcPr>
                    <a:solidFill>
                      <a:srgbClr val="1F3864"/>
                    </a:solidFill>
                  </a:tcPr>
                </a:tc>
                <a:tc>
                  <a:txBody>
                    <a:bodyPr/>
                    <a:lstStyle/>
                    <a:p>
                      <a:pPr algn="ctr">
                        <a:spcBef>
                          <a:spcPts val="200"/>
                        </a:spcBef>
                        <a:spcAft>
                          <a:spcPts val="200"/>
                        </a:spcAft>
                      </a:pPr>
                      <a:r>
                        <a:rPr sz="1200" b="1">
                          <a:solidFill>
                            <a:srgbClr val="FFFFFF"/>
                          </a:solidFill>
                        </a:rPr>
                        <a:t>P2 CER
(ZeroShot)</a:t>
                      </a:r>
                    </a:p>
                  </a:txBody>
                  <a:tcPr>
                    <a:solidFill>
                      <a:srgbClr val="1F3864"/>
                    </a:solidFill>
                  </a:tcPr>
                </a:tc>
                <a:tc>
                  <a:txBody>
                    <a:bodyPr/>
                    <a:lstStyle/>
                    <a:p>
                      <a:pPr algn="ctr">
                        <a:spcBef>
                          <a:spcPts val="200"/>
                        </a:spcBef>
                        <a:spcAft>
                          <a:spcPts val="200"/>
                        </a:spcAft>
                      </a:pPr>
                      <a:r>
                        <a:rPr sz="1200" b="1">
                          <a:solidFill>
                            <a:srgbClr val="FFFFFF"/>
                          </a:solidFill>
                        </a:rPr>
                        <a:t>P8 CER
(RAG)</a:t>
                      </a:r>
                    </a:p>
                  </a:txBody>
                  <a:tcPr>
                    <a:solidFill>
                      <a:srgbClr val="1F3864"/>
                    </a:solidFill>
                  </a:tcPr>
                </a:tc>
                <a:tc>
                  <a:txBody>
                    <a:bodyPr/>
                    <a:lstStyle/>
                    <a:p>
                      <a:pPr algn="ctr">
                        <a:spcBef>
                          <a:spcPts val="200"/>
                        </a:spcBef>
                        <a:spcAft>
                          <a:spcPts val="200"/>
                        </a:spcAft>
                      </a:pPr>
                      <a:r>
                        <a:rPr sz="1200" b="1">
                          <a:solidFill>
                            <a:srgbClr val="FFFFFF"/>
                          </a:solidFill>
                        </a:rPr>
                        <a:t>Best Phase</a:t>
                      </a:r>
                    </a:p>
                  </a:txBody>
                  <a:tcPr>
                    <a:solidFill>
                      <a:srgbClr val="1F3864"/>
                    </a:solidFill>
                  </a:tcPr>
                </a:tc>
                <a:tc>
                  <a:txBody>
                    <a:bodyPr/>
                    <a:lstStyle/>
                    <a:p>
                      <a:pPr algn="ctr">
                        <a:spcBef>
                          <a:spcPts val="200"/>
                        </a:spcBef>
                        <a:spcAft>
                          <a:spcPts val="200"/>
                        </a:spcAft>
                      </a:pPr>
                      <a:r>
                        <a:rPr sz="1200" b="1">
                          <a:solidFill>
                            <a:srgbClr val="FFFFFF"/>
                          </a:solidFill>
                        </a:rPr>
                        <a:t>Observation</a:t>
                      </a:r>
                    </a:p>
                  </a:txBody>
                  <a:tcPr>
                    <a:solidFill>
                      <a:srgbClr val="1F3864"/>
                    </a:solidFill>
                  </a:tcPr>
                </a:tc>
              </a:tr>
              <a:tr h="534924">
                <a:tc>
                  <a:txBody>
                    <a:bodyPr/>
                    <a:lstStyle/>
                    <a:p>
                      <a:pPr algn="l">
                        <a:spcBef>
                          <a:spcPts val="200"/>
                        </a:spcBef>
                        <a:spcAft>
                          <a:spcPts val="200"/>
                        </a:spcAft>
                      </a:pPr>
                      <a:r>
                        <a:rPr sz="1200" b="0">
                          <a:solidFill>
                            <a:srgbClr val="404040"/>
                          </a:solidFill>
                        </a:rPr>
                        <a:t>Naskh</a:t>
                      </a:r>
                    </a:p>
                  </a:txBody>
                  <a:tcPr>
                    <a:solidFill>
                      <a:srgbClr val="F2F2F2"/>
                    </a:solidFill>
                  </a:tcPr>
                </a:tc>
                <a:tc>
                  <a:txBody>
                    <a:bodyPr/>
                    <a:lstStyle/>
                    <a:p>
                      <a:pPr algn="ctr">
                        <a:spcBef>
                          <a:spcPts val="200"/>
                        </a:spcBef>
                        <a:spcAft>
                          <a:spcPts val="200"/>
                        </a:spcAft>
                      </a:pPr>
                      <a:r>
                        <a:rPr sz="1200" b="0">
                          <a:solidFill>
                            <a:srgbClr val="404040"/>
                          </a:solidFill>
                        </a:rPr>
                        <a:t>0.86%</a:t>
                      </a:r>
                    </a:p>
                  </a:txBody>
                  <a:tcPr>
                    <a:solidFill>
                      <a:srgbClr val="F2F2F2"/>
                    </a:solidFill>
                  </a:tcPr>
                </a:tc>
                <a:tc>
                  <a:txBody>
                    <a:bodyPr/>
                    <a:lstStyle/>
                    <a:p>
                      <a:pPr algn="ctr">
                        <a:spcBef>
                          <a:spcPts val="200"/>
                        </a:spcBef>
                        <a:spcAft>
                          <a:spcPts val="200"/>
                        </a:spcAft>
                      </a:pPr>
                      <a:r>
                        <a:rPr sz="1200" b="0">
                          <a:solidFill>
                            <a:srgbClr val="404040"/>
                          </a:solidFill>
                        </a:rPr>
                        <a:t>1.01%</a:t>
                      </a:r>
                    </a:p>
                  </a:txBody>
                  <a:tcPr>
                    <a:solidFill>
                      <a:srgbClr val="F2F2F2"/>
                    </a:solidFill>
                  </a:tcPr>
                </a:tc>
                <a:tc>
                  <a:txBody>
                    <a:bodyPr/>
                    <a:lstStyle/>
                    <a:p>
                      <a:pPr algn="ctr">
                        <a:spcBef>
                          <a:spcPts val="200"/>
                        </a:spcBef>
                        <a:spcAft>
                          <a:spcPts val="200"/>
                        </a:spcAft>
                      </a:pPr>
                      <a:r>
                        <a:rPr sz="1200" b="0">
                          <a:solidFill>
                            <a:srgbClr val="404040"/>
                          </a:solidFill>
                        </a:rPr>
                        <a:t>0.90%</a:t>
                      </a:r>
                    </a:p>
                  </a:txBody>
                  <a:tcPr>
                    <a:solidFill>
                      <a:srgbClr val="F2F2F2"/>
                    </a:solidFill>
                  </a:tcPr>
                </a:tc>
                <a:tc>
                  <a:txBody>
                    <a:bodyPr/>
                    <a:lstStyle/>
                    <a:p>
                      <a:pPr algn="ctr">
                        <a:spcBef>
                          <a:spcPts val="200"/>
                        </a:spcBef>
                        <a:spcAft>
                          <a:spcPts val="200"/>
                        </a:spcAft>
                      </a:pPr>
                      <a:r>
                        <a:rPr sz="1200" b="1">
                          <a:solidFill>
                            <a:srgbClr val="C00000"/>
                          </a:solidFill>
                        </a:rPr>
                        <a:t>P1</a:t>
                      </a:r>
                    </a:p>
                  </a:txBody>
                  <a:tcPr>
                    <a:solidFill>
                      <a:srgbClr val="F2F2F2"/>
                    </a:solidFill>
                  </a:tcPr>
                </a:tc>
                <a:tc>
                  <a:txBody>
                    <a:bodyPr/>
                    <a:lstStyle/>
                    <a:p>
                      <a:pPr algn="l">
                        <a:spcBef>
                          <a:spcPts val="200"/>
                        </a:spcBef>
                        <a:spcAft>
                          <a:spcPts val="200"/>
                        </a:spcAft>
                      </a:pPr>
                      <a:r>
                        <a:rPr sz="1100" b="0">
                          <a:solidFill>
                            <a:srgbClr val="404040"/>
                          </a:solidFill>
                        </a:rPr>
                        <a:t>Already near-perfect; LLM hurts</a:t>
                      </a:r>
                    </a:p>
                  </a:txBody>
                  <a:tcPr>
                    <a:solidFill>
                      <a:srgbClr val="F2F2F2"/>
                    </a:solidFill>
                  </a:tcPr>
                </a:tc>
              </a:tr>
              <a:tr h="534924">
                <a:tc>
                  <a:txBody>
                    <a:bodyPr/>
                    <a:lstStyle/>
                    <a:p>
                      <a:pPr algn="l">
                        <a:spcBef>
                          <a:spcPts val="200"/>
                        </a:spcBef>
                        <a:spcAft>
                          <a:spcPts val="200"/>
                        </a:spcAft>
                      </a:pPr>
                      <a:r>
                        <a:rPr sz="1200" b="0">
                          <a:solidFill>
                            <a:srgbClr val="404040"/>
                          </a:solidFill>
                        </a:rPr>
                        <a:t>Thuluth</a:t>
                      </a:r>
                    </a:p>
                  </a:txBody>
                  <a:tcPr>
                    <a:solidFill>
                      <a:srgbClr val="FFFFFF"/>
                    </a:solidFill>
                  </a:tcPr>
                </a:tc>
                <a:tc>
                  <a:txBody>
                    <a:bodyPr/>
                    <a:lstStyle/>
                    <a:p>
                      <a:pPr algn="ctr">
                        <a:spcBef>
                          <a:spcPts val="200"/>
                        </a:spcBef>
                        <a:spcAft>
                          <a:spcPts val="200"/>
                        </a:spcAft>
                      </a:pPr>
                      <a:r>
                        <a:rPr sz="1200" b="0">
                          <a:solidFill>
                            <a:srgbClr val="404040"/>
                          </a:solidFill>
                        </a:rPr>
                        <a:t>1.02%</a:t>
                      </a:r>
                    </a:p>
                  </a:txBody>
                  <a:tcPr>
                    <a:solidFill>
                      <a:srgbClr val="FFFFFF"/>
                    </a:solidFill>
                  </a:tcPr>
                </a:tc>
                <a:tc>
                  <a:txBody>
                    <a:bodyPr/>
                    <a:lstStyle/>
                    <a:p>
                      <a:pPr algn="ctr">
                        <a:spcBef>
                          <a:spcPts val="200"/>
                        </a:spcBef>
                        <a:spcAft>
                          <a:spcPts val="200"/>
                        </a:spcAft>
                      </a:pPr>
                      <a:r>
                        <a:rPr sz="1200" b="0">
                          <a:solidFill>
                            <a:srgbClr val="404040"/>
                          </a:solidFill>
                        </a:rPr>
                        <a:t>0.83%</a:t>
                      </a:r>
                    </a:p>
                  </a:txBody>
                  <a:tcPr>
                    <a:solidFill>
                      <a:srgbClr val="FFFFFF"/>
                    </a:solidFill>
                  </a:tcPr>
                </a:tc>
                <a:tc>
                  <a:txBody>
                    <a:bodyPr/>
                    <a:lstStyle/>
                    <a:p>
                      <a:pPr algn="ctr">
                        <a:spcBef>
                          <a:spcPts val="200"/>
                        </a:spcBef>
                        <a:spcAft>
                          <a:spcPts val="200"/>
                        </a:spcAft>
                      </a:pPr>
                      <a:r>
                        <a:rPr sz="1200" b="0">
                          <a:solidFill>
                            <a:srgbClr val="378636"/>
                          </a:solidFill>
                        </a:rPr>
                        <a:t>0.75%</a:t>
                      </a:r>
                    </a:p>
                  </a:txBody>
                  <a:tcPr>
                    <a:solidFill>
                      <a:srgbClr val="FFFFFF"/>
                    </a:solidFill>
                  </a:tcPr>
                </a:tc>
                <a:tc>
                  <a:txBody>
                    <a:bodyPr/>
                    <a:lstStyle/>
                    <a:p>
                      <a:pPr algn="ctr">
                        <a:spcBef>
                          <a:spcPts val="200"/>
                        </a:spcBef>
                        <a:spcAft>
                          <a:spcPts val="200"/>
                        </a:spcAft>
                      </a:pPr>
                      <a:r>
                        <a:rPr sz="1200" b="1">
                          <a:solidFill>
                            <a:srgbClr val="378636"/>
                          </a:solidFill>
                        </a:rPr>
                        <a:t>P8 ★</a:t>
                      </a:r>
                    </a:p>
                  </a:txBody>
                  <a:tcPr>
                    <a:solidFill>
                      <a:srgbClr val="FFFFFF"/>
                    </a:solidFill>
                  </a:tcPr>
                </a:tc>
                <a:tc>
                  <a:txBody>
                    <a:bodyPr/>
                    <a:lstStyle/>
                    <a:p>
                      <a:pPr algn="l">
                        <a:spcBef>
                          <a:spcPts val="200"/>
                        </a:spcBef>
                        <a:spcAft>
                          <a:spcPts val="200"/>
                        </a:spcAft>
                      </a:pPr>
                      <a:r>
                        <a:rPr sz="1100" b="0">
                          <a:solidFill>
                            <a:srgbClr val="404040"/>
                          </a:solidFill>
                        </a:rPr>
                        <a:t>RAG most effective here</a:t>
                      </a:r>
                    </a:p>
                  </a:txBody>
                  <a:tcPr>
                    <a:solidFill>
                      <a:srgbClr val="FFFFFF"/>
                    </a:solidFill>
                  </a:tcPr>
                </a:tc>
              </a:tr>
              <a:tr h="534924">
                <a:tc>
                  <a:txBody>
                    <a:bodyPr/>
                    <a:lstStyle/>
                    <a:p>
                      <a:pPr algn="l">
                        <a:spcBef>
                          <a:spcPts val="200"/>
                        </a:spcBef>
                        <a:spcAft>
                          <a:spcPts val="200"/>
                        </a:spcAft>
                      </a:pPr>
                      <a:r>
                        <a:rPr sz="1200" b="0">
                          <a:solidFill>
                            <a:srgbClr val="404040"/>
                          </a:solidFill>
                        </a:rPr>
                        <a:t>Arial</a:t>
                      </a:r>
                    </a:p>
                  </a:txBody>
                  <a:tcPr>
                    <a:solidFill>
                      <a:srgbClr val="F2F2F2"/>
                    </a:solidFill>
                  </a:tcPr>
                </a:tc>
                <a:tc>
                  <a:txBody>
                    <a:bodyPr/>
                    <a:lstStyle/>
                    <a:p>
                      <a:pPr algn="ctr">
                        <a:spcBef>
                          <a:spcPts val="200"/>
                        </a:spcBef>
                        <a:spcAft>
                          <a:spcPts val="200"/>
                        </a:spcAft>
                      </a:pPr>
                      <a:r>
                        <a:rPr sz="1200" b="0">
                          <a:solidFill>
                            <a:srgbClr val="404040"/>
                          </a:solidFill>
                        </a:rPr>
                        <a:t>1.06%</a:t>
                      </a:r>
                    </a:p>
                  </a:txBody>
                  <a:tcPr>
                    <a:solidFill>
                      <a:srgbClr val="F2F2F2"/>
                    </a:solidFill>
                  </a:tcPr>
                </a:tc>
                <a:tc>
                  <a:txBody>
                    <a:bodyPr/>
                    <a:lstStyle/>
                    <a:p>
                      <a:pPr algn="ctr">
                        <a:spcBef>
                          <a:spcPts val="200"/>
                        </a:spcBef>
                        <a:spcAft>
                          <a:spcPts val="200"/>
                        </a:spcAft>
                      </a:pPr>
                      <a:r>
                        <a:rPr sz="1200" b="0">
                          <a:solidFill>
                            <a:srgbClr val="404040"/>
                          </a:solidFill>
                        </a:rPr>
                        <a:t>1.21%</a:t>
                      </a:r>
                    </a:p>
                  </a:txBody>
                  <a:tcPr>
                    <a:solidFill>
                      <a:srgbClr val="F2F2F2"/>
                    </a:solidFill>
                  </a:tcPr>
                </a:tc>
                <a:tc>
                  <a:txBody>
                    <a:bodyPr/>
                    <a:lstStyle/>
                    <a:p>
                      <a:pPr algn="ctr">
                        <a:spcBef>
                          <a:spcPts val="200"/>
                        </a:spcBef>
                        <a:spcAft>
                          <a:spcPts val="200"/>
                        </a:spcAft>
                      </a:pPr>
                      <a:r>
                        <a:rPr sz="1200" b="0">
                          <a:solidFill>
                            <a:srgbClr val="404040"/>
                          </a:solidFill>
                        </a:rPr>
                        <a:t>1.10%</a:t>
                      </a:r>
                    </a:p>
                  </a:txBody>
                  <a:tcPr>
                    <a:solidFill>
                      <a:srgbClr val="F2F2F2"/>
                    </a:solidFill>
                  </a:tcPr>
                </a:tc>
                <a:tc>
                  <a:txBody>
                    <a:bodyPr/>
                    <a:lstStyle/>
                    <a:p>
                      <a:pPr algn="ctr">
                        <a:spcBef>
                          <a:spcPts val="200"/>
                        </a:spcBef>
                        <a:spcAft>
                          <a:spcPts val="200"/>
                        </a:spcAft>
                      </a:pPr>
                      <a:r>
                        <a:rPr sz="1200" b="1">
                          <a:solidFill>
                            <a:srgbClr val="C00000"/>
                          </a:solidFill>
                        </a:rPr>
                        <a:t>P1</a:t>
                      </a:r>
                    </a:p>
                  </a:txBody>
                  <a:tcPr>
                    <a:solidFill>
                      <a:srgbClr val="F2F2F2"/>
                    </a:solidFill>
                  </a:tcPr>
                </a:tc>
                <a:tc>
                  <a:txBody>
                    <a:bodyPr/>
                    <a:lstStyle/>
                    <a:p>
                      <a:pPr algn="l">
                        <a:spcBef>
                          <a:spcPts val="200"/>
                        </a:spcBef>
                        <a:spcAft>
                          <a:spcPts val="200"/>
                        </a:spcAft>
                      </a:pPr>
                      <a:r>
                        <a:rPr sz="1100" b="0">
                          <a:solidFill>
                            <a:srgbClr val="404040"/>
                          </a:solidFill>
                        </a:rPr>
                        <a:t>LLM degrades accuracy</a:t>
                      </a:r>
                    </a:p>
                  </a:txBody>
                  <a:tcPr>
                    <a:solidFill>
                      <a:srgbClr val="F2F2F2"/>
                    </a:solidFill>
                  </a:tcPr>
                </a:tc>
              </a:tr>
              <a:tr h="534924">
                <a:tc>
                  <a:txBody>
                    <a:bodyPr/>
                    <a:lstStyle/>
                    <a:p>
                      <a:pPr algn="l">
                        <a:spcBef>
                          <a:spcPts val="200"/>
                        </a:spcBef>
                        <a:spcAft>
                          <a:spcPts val="200"/>
                        </a:spcAft>
                      </a:pPr>
                      <a:r>
                        <a:rPr sz="1200" b="0">
                          <a:solidFill>
                            <a:srgbClr val="404040"/>
                          </a:solidFill>
                        </a:rPr>
                        <a:t>Akhbar</a:t>
                      </a:r>
                    </a:p>
                  </a:txBody>
                  <a:tcPr>
                    <a:solidFill>
                      <a:srgbClr val="FFFFFF"/>
                    </a:solidFill>
                  </a:tcPr>
                </a:tc>
                <a:tc>
                  <a:txBody>
                    <a:bodyPr/>
                    <a:lstStyle/>
                    <a:p>
                      <a:pPr algn="ctr">
                        <a:spcBef>
                          <a:spcPts val="200"/>
                        </a:spcBef>
                        <a:spcAft>
                          <a:spcPts val="200"/>
                        </a:spcAft>
                      </a:pPr>
                      <a:r>
                        <a:rPr sz="1200" b="0">
                          <a:solidFill>
                            <a:srgbClr val="404040"/>
                          </a:solidFill>
                        </a:rPr>
                        <a:t>1.14%</a:t>
                      </a:r>
                    </a:p>
                  </a:txBody>
                  <a:tcPr>
                    <a:solidFill>
                      <a:srgbClr val="FFFFFF"/>
                    </a:solidFill>
                  </a:tcPr>
                </a:tc>
                <a:tc>
                  <a:txBody>
                    <a:bodyPr/>
                    <a:lstStyle/>
                    <a:p>
                      <a:pPr algn="ctr">
                        <a:spcBef>
                          <a:spcPts val="200"/>
                        </a:spcBef>
                        <a:spcAft>
                          <a:spcPts val="200"/>
                        </a:spcAft>
                      </a:pPr>
                      <a:r>
                        <a:rPr sz="1200" b="0">
                          <a:solidFill>
                            <a:srgbClr val="404040"/>
                          </a:solidFill>
                        </a:rPr>
                        <a:t>0.87%</a:t>
                      </a:r>
                    </a:p>
                  </a:txBody>
                  <a:tcPr>
                    <a:solidFill>
                      <a:srgbClr val="FFFFFF"/>
                    </a:solidFill>
                  </a:tcPr>
                </a:tc>
                <a:tc>
                  <a:txBody>
                    <a:bodyPr/>
                    <a:lstStyle/>
                    <a:p>
                      <a:pPr algn="ctr">
                        <a:spcBef>
                          <a:spcPts val="200"/>
                        </a:spcBef>
                        <a:spcAft>
                          <a:spcPts val="200"/>
                        </a:spcAft>
                      </a:pPr>
                      <a:r>
                        <a:rPr sz="1200" b="0">
                          <a:solidFill>
                            <a:srgbClr val="404040"/>
                          </a:solidFill>
                        </a:rPr>
                        <a:t>0.89%</a:t>
                      </a:r>
                    </a:p>
                  </a:txBody>
                  <a:tcPr>
                    <a:solidFill>
                      <a:srgbClr val="FFFFFF"/>
                    </a:solidFill>
                  </a:tcPr>
                </a:tc>
                <a:tc>
                  <a:txBody>
                    <a:bodyPr/>
                    <a:lstStyle/>
                    <a:p>
                      <a:pPr algn="ctr">
                        <a:spcBef>
                          <a:spcPts val="200"/>
                        </a:spcBef>
                        <a:spcAft>
                          <a:spcPts val="200"/>
                        </a:spcAft>
                      </a:pPr>
                      <a:r>
                        <a:rPr sz="1200" b="1">
                          <a:solidFill>
                            <a:srgbClr val="2774AE"/>
                          </a:solidFill>
                        </a:rPr>
                        <a:t>P2</a:t>
                      </a:r>
                    </a:p>
                  </a:txBody>
                  <a:tcPr>
                    <a:solidFill>
                      <a:srgbClr val="FFFFFF"/>
                    </a:solidFill>
                  </a:tcPr>
                </a:tc>
                <a:tc>
                  <a:txBody>
                    <a:bodyPr/>
                    <a:lstStyle/>
                    <a:p>
                      <a:pPr algn="l">
                        <a:spcBef>
                          <a:spcPts val="200"/>
                        </a:spcBef>
                        <a:spcAft>
                          <a:spcPts val="200"/>
                        </a:spcAft>
                      </a:pPr>
                      <a:r>
                        <a:rPr sz="1100" b="0">
                          <a:solidFill>
                            <a:srgbClr val="404040"/>
                          </a:solidFill>
                        </a:rPr>
                        <a:t>ZeroShot sufficient</a:t>
                      </a:r>
                    </a:p>
                  </a:txBody>
                  <a:tcPr>
                    <a:solidFill>
                      <a:srgbClr val="FFFFFF"/>
                    </a:solidFill>
                  </a:tcPr>
                </a:tc>
              </a:tr>
              <a:tr h="534924">
                <a:tc>
                  <a:txBody>
                    <a:bodyPr/>
                    <a:lstStyle/>
                    <a:p>
                      <a:pPr algn="l">
                        <a:spcBef>
                          <a:spcPts val="200"/>
                        </a:spcBef>
                        <a:spcAft>
                          <a:spcPts val="200"/>
                        </a:spcAft>
                      </a:pPr>
                      <a:r>
                        <a:rPr sz="1200" b="0">
                          <a:solidFill>
                            <a:srgbClr val="404040"/>
                          </a:solidFill>
                        </a:rPr>
                        <a:t>Traditional</a:t>
                      </a:r>
                    </a:p>
                  </a:txBody>
                  <a:tcPr>
                    <a:solidFill>
                      <a:srgbClr val="F2F2F2"/>
                    </a:solidFill>
                  </a:tcPr>
                </a:tc>
                <a:tc>
                  <a:txBody>
                    <a:bodyPr/>
                    <a:lstStyle/>
                    <a:p>
                      <a:pPr algn="ctr">
                        <a:spcBef>
                          <a:spcPts val="200"/>
                        </a:spcBef>
                        <a:spcAft>
                          <a:spcPts val="200"/>
                        </a:spcAft>
                      </a:pPr>
                      <a:r>
                        <a:rPr sz="1200" b="0">
                          <a:solidFill>
                            <a:srgbClr val="404040"/>
                          </a:solidFill>
                        </a:rPr>
                        <a:t>1.18%</a:t>
                      </a:r>
                    </a:p>
                  </a:txBody>
                  <a:tcPr>
                    <a:solidFill>
                      <a:srgbClr val="F2F2F2"/>
                    </a:solidFill>
                  </a:tcPr>
                </a:tc>
                <a:tc>
                  <a:txBody>
                    <a:bodyPr/>
                    <a:lstStyle/>
                    <a:p>
                      <a:pPr algn="ctr">
                        <a:spcBef>
                          <a:spcPts val="200"/>
                        </a:spcBef>
                        <a:spcAft>
                          <a:spcPts val="200"/>
                        </a:spcAft>
                      </a:pPr>
                      <a:r>
                        <a:rPr sz="1200" b="0">
                          <a:solidFill>
                            <a:srgbClr val="404040"/>
                          </a:solidFill>
                        </a:rPr>
                        <a:t>1.27%</a:t>
                      </a:r>
                    </a:p>
                  </a:txBody>
                  <a:tcPr>
                    <a:solidFill>
                      <a:srgbClr val="F2F2F2"/>
                    </a:solidFill>
                  </a:tcPr>
                </a:tc>
                <a:tc>
                  <a:txBody>
                    <a:bodyPr/>
                    <a:lstStyle/>
                    <a:p>
                      <a:pPr algn="ctr">
                        <a:spcBef>
                          <a:spcPts val="200"/>
                        </a:spcBef>
                        <a:spcAft>
                          <a:spcPts val="200"/>
                        </a:spcAft>
                      </a:pPr>
                      <a:r>
                        <a:rPr sz="1200" b="0">
                          <a:solidFill>
                            <a:srgbClr val="404040"/>
                          </a:solidFill>
                        </a:rPr>
                        <a:t>1.30%</a:t>
                      </a:r>
                    </a:p>
                  </a:txBody>
                  <a:tcPr>
                    <a:solidFill>
                      <a:srgbClr val="F2F2F2"/>
                    </a:solidFill>
                  </a:tcPr>
                </a:tc>
                <a:tc>
                  <a:txBody>
                    <a:bodyPr/>
                    <a:lstStyle/>
                    <a:p>
                      <a:pPr algn="ctr">
                        <a:spcBef>
                          <a:spcPts val="200"/>
                        </a:spcBef>
                        <a:spcAft>
                          <a:spcPts val="200"/>
                        </a:spcAft>
                      </a:pPr>
                      <a:r>
                        <a:rPr sz="1200" b="1">
                          <a:solidFill>
                            <a:srgbClr val="C00000"/>
                          </a:solidFill>
                        </a:rPr>
                        <a:t>P1</a:t>
                      </a:r>
                    </a:p>
                  </a:txBody>
                  <a:tcPr>
                    <a:solidFill>
                      <a:srgbClr val="F2F2F2"/>
                    </a:solidFill>
                  </a:tcPr>
                </a:tc>
                <a:tc>
                  <a:txBody>
                    <a:bodyPr/>
                    <a:lstStyle/>
                    <a:p>
                      <a:pPr algn="l">
                        <a:spcBef>
                          <a:spcPts val="200"/>
                        </a:spcBef>
                        <a:spcAft>
                          <a:spcPts val="200"/>
                        </a:spcAft>
                      </a:pPr>
                      <a:r>
                        <a:rPr sz="1100" b="0">
                          <a:solidFill>
                            <a:srgbClr val="404040"/>
                          </a:solidFill>
                        </a:rPr>
                        <a:t>Slight LLM regression</a:t>
                      </a:r>
                    </a:p>
                  </a:txBody>
                  <a:tcPr>
                    <a:solidFill>
                      <a:srgbClr val="F2F2F2"/>
                    </a:solidFill>
                  </a:tcPr>
                </a:tc>
              </a:tr>
              <a:tr h="534924">
                <a:tc>
                  <a:txBody>
                    <a:bodyPr/>
                    <a:lstStyle/>
                    <a:p>
                      <a:pPr algn="l">
                        <a:spcBef>
                          <a:spcPts val="200"/>
                        </a:spcBef>
                        <a:spcAft>
                          <a:spcPts val="200"/>
                        </a:spcAft>
                      </a:pPr>
                      <a:r>
                        <a:rPr sz="1200" b="0">
                          <a:solidFill>
                            <a:srgbClr val="404040"/>
                          </a:solidFill>
                        </a:rPr>
                        <a:t>Simplified</a:t>
                      </a:r>
                    </a:p>
                  </a:txBody>
                  <a:tcPr>
                    <a:solidFill>
                      <a:srgbClr val="FFFFFF"/>
                    </a:solidFill>
                  </a:tcPr>
                </a:tc>
                <a:tc>
                  <a:txBody>
                    <a:bodyPr/>
                    <a:lstStyle/>
                    <a:p>
                      <a:pPr algn="ctr">
                        <a:spcBef>
                          <a:spcPts val="200"/>
                        </a:spcBef>
                        <a:spcAft>
                          <a:spcPts val="200"/>
                        </a:spcAft>
                      </a:pPr>
                      <a:r>
                        <a:rPr sz="1200" b="0">
                          <a:solidFill>
                            <a:srgbClr val="404040"/>
                          </a:solidFill>
                        </a:rPr>
                        <a:t>1.32%</a:t>
                      </a:r>
                    </a:p>
                  </a:txBody>
                  <a:tcPr>
                    <a:solidFill>
                      <a:srgbClr val="FFFFFF"/>
                    </a:solidFill>
                  </a:tcPr>
                </a:tc>
                <a:tc>
                  <a:txBody>
                    <a:bodyPr/>
                    <a:lstStyle/>
                    <a:p>
                      <a:pPr algn="ctr">
                        <a:spcBef>
                          <a:spcPts val="200"/>
                        </a:spcBef>
                        <a:spcAft>
                          <a:spcPts val="200"/>
                        </a:spcAft>
                      </a:pPr>
                      <a:r>
                        <a:rPr sz="1200" b="0">
                          <a:solidFill>
                            <a:srgbClr val="404040"/>
                          </a:solidFill>
                        </a:rPr>
                        <a:t>1.61%</a:t>
                      </a:r>
                    </a:p>
                  </a:txBody>
                  <a:tcPr>
                    <a:solidFill>
                      <a:srgbClr val="FFFFFF"/>
                    </a:solidFill>
                  </a:tcPr>
                </a:tc>
                <a:tc>
                  <a:txBody>
                    <a:bodyPr/>
                    <a:lstStyle/>
                    <a:p>
                      <a:pPr algn="ctr">
                        <a:spcBef>
                          <a:spcPts val="200"/>
                        </a:spcBef>
                        <a:spcAft>
                          <a:spcPts val="200"/>
                        </a:spcAft>
                      </a:pPr>
                      <a:r>
                        <a:rPr sz="1200" b="0">
                          <a:solidFill>
                            <a:srgbClr val="378636"/>
                          </a:solidFill>
                        </a:rPr>
                        <a:t>1.26%</a:t>
                      </a:r>
                    </a:p>
                  </a:txBody>
                  <a:tcPr>
                    <a:solidFill>
                      <a:srgbClr val="FFFFFF"/>
                    </a:solidFill>
                  </a:tcPr>
                </a:tc>
                <a:tc>
                  <a:txBody>
                    <a:bodyPr/>
                    <a:lstStyle/>
                    <a:p>
                      <a:pPr algn="ctr">
                        <a:spcBef>
                          <a:spcPts val="200"/>
                        </a:spcBef>
                        <a:spcAft>
                          <a:spcPts val="200"/>
                        </a:spcAft>
                      </a:pPr>
                      <a:r>
                        <a:rPr sz="1200" b="1">
                          <a:solidFill>
                            <a:srgbClr val="378636"/>
                          </a:solidFill>
                        </a:rPr>
                        <a:t>P8</a:t>
                      </a:r>
                    </a:p>
                  </a:txBody>
                  <a:tcPr>
                    <a:solidFill>
                      <a:srgbClr val="FFFFFF"/>
                    </a:solidFill>
                  </a:tcPr>
                </a:tc>
                <a:tc>
                  <a:txBody>
                    <a:bodyPr/>
                    <a:lstStyle/>
                    <a:p>
                      <a:pPr algn="l">
                        <a:spcBef>
                          <a:spcPts val="200"/>
                        </a:spcBef>
                        <a:spcAft>
                          <a:spcPts val="200"/>
                        </a:spcAft>
                      </a:pPr>
                      <a:r>
                        <a:rPr sz="1100" b="0">
                          <a:solidFill>
                            <a:srgbClr val="404040"/>
                          </a:solidFill>
                        </a:rPr>
                        <a:t>RAG recovers from P2 regression</a:t>
                      </a:r>
                    </a:p>
                  </a:txBody>
                  <a:tcPr>
                    <a:solidFill>
                      <a:srgbClr val="FFFFFF"/>
                    </a:solidFill>
                  </a:tcPr>
                </a:tc>
              </a:tr>
              <a:tr h="534924">
                <a:tc>
                  <a:txBody>
                    <a:bodyPr/>
                    <a:lstStyle/>
                    <a:p>
                      <a:pPr algn="l">
                        <a:spcBef>
                          <a:spcPts val="200"/>
                        </a:spcBef>
                        <a:spcAft>
                          <a:spcPts val="200"/>
                        </a:spcAft>
                      </a:pPr>
                      <a:r>
                        <a:rPr sz="1200" b="0">
                          <a:solidFill>
                            <a:srgbClr val="404040"/>
                          </a:solidFill>
                        </a:rPr>
                        <a:t>Andalus</a:t>
                      </a:r>
                    </a:p>
                  </a:txBody>
                  <a:tcPr>
                    <a:solidFill>
                      <a:srgbClr val="F2F2F2"/>
                    </a:solidFill>
                  </a:tcPr>
                </a:tc>
                <a:tc>
                  <a:txBody>
                    <a:bodyPr/>
                    <a:lstStyle/>
                    <a:p>
                      <a:pPr algn="ctr">
                        <a:spcBef>
                          <a:spcPts val="200"/>
                        </a:spcBef>
                        <a:spcAft>
                          <a:spcPts val="200"/>
                        </a:spcAft>
                      </a:pPr>
                      <a:r>
                        <a:rPr sz="1200" b="0">
                          <a:solidFill>
                            <a:srgbClr val="404040"/>
                          </a:solidFill>
                        </a:rPr>
                        <a:t>1.54%</a:t>
                      </a:r>
                    </a:p>
                  </a:txBody>
                  <a:tcPr>
                    <a:solidFill>
                      <a:srgbClr val="F2F2F2"/>
                    </a:solidFill>
                  </a:tcPr>
                </a:tc>
                <a:tc>
                  <a:txBody>
                    <a:bodyPr/>
                    <a:lstStyle/>
                    <a:p>
                      <a:pPr algn="ctr">
                        <a:spcBef>
                          <a:spcPts val="200"/>
                        </a:spcBef>
                        <a:spcAft>
                          <a:spcPts val="200"/>
                        </a:spcAft>
                      </a:pPr>
                      <a:r>
                        <a:rPr sz="1200" b="0">
                          <a:solidFill>
                            <a:srgbClr val="404040"/>
                          </a:solidFill>
                        </a:rPr>
                        <a:t>1.08%</a:t>
                      </a:r>
                    </a:p>
                  </a:txBody>
                  <a:tcPr>
                    <a:solidFill>
                      <a:srgbClr val="F2F2F2"/>
                    </a:solidFill>
                  </a:tcPr>
                </a:tc>
                <a:tc>
                  <a:txBody>
                    <a:bodyPr/>
                    <a:lstStyle/>
                    <a:p>
                      <a:pPr algn="ctr">
                        <a:spcBef>
                          <a:spcPts val="200"/>
                        </a:spcBef>
                        <a:spcAft>
                          <a:spcPts val="200"/>
                        </a:spcAft>
                      </a:pPr>
                      <a:r>
                        <a:rPr sz="1200" b="0">
                          <a:solidFill>
                            <a:srgbClr val="404040"/>
                          </a:solidFill>
                        </a:rPr>
                        <a:t>1.28%</a:t>
                      </a:r>
                    </a:p>
                  </a:txBody>
                  <a:tcPr>
                    <a:solidFill>
                      <a:srgbClr val="F2F2F2"/>
                    </a:solidFill>
                  </a:tcPr>
                </a:tc>
                <a:tc>
                  <a:txBody>
                    <a:bodyPr/>
                    <a:lstStyle/>
                    <a:p>
                      <a:pPr algn="ctr">
                        <a:spcBef>
                          <a:spcPts val="200"/>
                        </a:spcBef>
                        <a:spcAft>
                          <a:spcPts val="200"/>
                        </a:spcAft>
                      </a:pPr>
                      <a:r>
                        <a:rPr sz="1200" b="1">
                          <a:solidFill>
                            <a:srgbClr val="2774AE"/>
                          </a:solidFill>
                        </a:rPr>
                        <a:t>P2</a:t>
                      </a:r>
                    </a:p>
                  </a:txBody>
                  <a:tcPr>
                    <a:solidFill>
                      <a:srgbClr val="F2F2F2"/>
                    </a:solidFill>
                  </a:tcPr>
                </a:tc>
                <a:tc>
                  <a:txBody>
                    <a:bodyPr/>
                    <a:lstStyle/>
                    <a:p>
                      <a:pPr algn="l">
                        <a:spcBef>
                          <a:spcPts val="200"/>
                        </a:spcBef>
                        <a:spcAft>
                          <a:spcPts val="200"/>
                        </a:spcAft>
                      </a:pPr>
                      <a:r>
                        <a:rPr sz="1100" b="0">
                          <a:solidFill>
                            <a:srgbClr val="404040"/>
                          </a:solidFill>
                        </a:rPr>
                        <a:t>ZeroShot helps most</a:t>
                      </a:r>
                    </a:p>
                  </a:txBody>
                  <a:tcPr>
                    <a:solidFill>
                      <a:srgbClr val="F2F2F2"/>
                    </a:solidFill>
                  </a:tcPr>
                </a:tc>
              </a:tr>
              <a:tr h="534924">
                <a:tc>
                  <a:txBody>
                    <a:bodyPr/>
                    <a:lstStyle/>
                    <a:p>
                      <a:pPr algn="l">
                        <a:spcBef>
                          <a:spcPts val="200"/>
                        </a:spcBef>
                        <a:spcAft>
                          <a:spcPts val="200"/>
                        </a:spcAft>
                      </a:pPr>
                      <a:r>
                        <a:rPr sz="1200" b="0">
                          <a:solidFill>
                            <a:srgbClr val="404040"/>
                          </a:solidFill>
                        </a:rPr>
                        <a:t>Tahoma</a:t>
                      </a:r>
                    </a:p>
                  </a:txBody>
                  <a:tcPr>
                    <a:solidFill>
                      <a:srgbClr val="FFE6E6"/>
                    </a:solidFill>
                  </a:tcPr>
                </a:tc>
                <a:tc>
                  <a:txBody>
                    <a:bodyPr/>
                    <a:lstStyle/>
                    <a:p>
                      <a:pPr algn="ctr">
                        <a:spcBef>
                          <a:spcPts val="200"/>
                        </a:spcBef>
                        <a:spcAft>
                          <a:spcPts val="200"/>
                        </a:spcAft>
                      </a:pPr>
                      <a:r>
                        <a:rPr sz="1200" b="0">
                          <a:solidFill>
                            <a:srgbClr val="404040"/>
                          </a:solidFill>
                        </a:rPr>
                        <a:t>2.39%</a:t>
                      </a:r>
                    </a:p>
                  </a:txBody>
                  <a:tcPr>
                    <a:solidFill>
                      <a:srgbClr val="FFE6E6"/>
                    </a:solidFill>
                  </a:tcPr>
                </a:tc>
                <a:tc>
                  <a:txBody>
                    <a:bodyPr/>
                    <a:lstStyle/>
                    <a:p>
                      <a:pPr algn="ctr">
                        <a:spcBef>
                          <a:spcPts val="200"/>
                        </a:spcBef>
                        <a:spcAft>
                          <a:spcPts val="200"/>
                        </a:spcAft>
                      </a:pPr>
                      <a:r>
                        <a:rPr sz="1200" b="0">
                          <a:solidFill>
                            <a:srgbClr val="404040"/>
                          </a:solidFill>
                        </a:rPr>
                        <a:t>2.70%</a:t>
                      </a:r>
                    </a:p>
                  </a:txBody>
                  <a:tcPr>
                    <a:solidFill>
                      <a:srgbClr val="FFE6E6"/>
                    </a:solidFill>
                  </a:tcPr>
                </a:tc>
                <a:tc>
                  <a:txBody>
                    <a:bodyPr/>
                    <a:lstStyle/>
                    <a:p>
                      <a:pPr algn="ctr">
                        <a:spcBef>
                          <a:spcPts val="200"/>
                        </a:spcBef>
                        <a:spcAft>
                          <a:spcPts val="200"/>
                        </a:spcAft>
                      </a:pPr>
                      <a:r>
                        <a:rPr sz="1200" b="0">
                          <a:solidFill>
                            <a:srgbClr val="404040"/>
                          </a:solidFill>
                        </a:rPr>
                        <a:t>2.81%</a:t>
                      </a:r>
                    </a:p>
                  </a:txBody>
                  <a:tcPr>
                    <a:solidFill>
                      <a:srgbClr val="FFE6E6"/>
                    </a:solidFill>
                  </a:tcPr>
                </a:tc>
                <a:tc>
                  <a:txBody>
                    <a:bodyPr/>
                    <a:lstStyle/>
                    <a:p>
                      <a:pPr algn="ctr">
                        <a:spcBef>
                          <a:spcPts val="200"/>
                        </a:spcBef>
                        <a:spcAft>
                          <a:spcPts val="200"/>
                        </a:spcAft>
                      </a:pPr>
                      <a:r>
                        <a:rPr sz="1200" b="1">
                          <a:solidFill>
                            <a:srgbClr val="C00000"/>
                          </a:solidFill>
                        </a:rPr>
                        <a:t>P1</a:t>
                      </a:r>
                    </a:p>
                  </a:txBody>
                  <a:tcPr>
                    <a:solidFill>
                      <a:srgbClr val="FFE6E6"/>
                    </a:solidFill>
                  </a:tcPr>
                </a:tc>
                <a:tc>
                  <a:txBody>
                    <a:bodyPr/>
                    <a:lstStyle/>
                    <a:p>
                      <a:pPr algn="l">
                        <a:spcBef>
                          <a:spcPts val="200"/>
                        </a:spcBef>
                        <a:spcAft>
                          <a:spcPts val="200"/>
                        </a:spcAft>
                      </a:pPr>
                      <a:r>
                        <a:rPr sz="1100" b="0">
                          <a:solidFill>
                            <a:srgbClr val="404040"/>
                          </a:solidFill>
                        </a:rPr>
                        <a:t>No phase beats OCR baseline!</a:t>
                      </a:r>
                    </a:p>
                  </a:txBody>
                  <a:tcPr>
                    <a:solidFill>
                      <a:srgbClr val="FFE6E6"/>
                    </a:solidFill>
                  </a:tcPr>
                </a:tc>
              </a:tr>
              <a:tr h="534924">
                <a:tc>
                  <a:txBody>
                    <a:bodyPr/>
                    <a:lstStyle/>
                    <a:p>
                      <a:pPr algn="l">
                        <a:spcBef>
                          <a:spcPts val="200"/>
                        </a:spcBef>
                        <a:spcAft>
                          <a:spcPts val="200"/>
                        </a:spcAft>
                      </a:pPr>
                      <a:r>
                        <a:rPr sz="1200" b="1">
                          <a:solidFill>
                            <a:srgbClr val="404040"/>
                          </a:solidFill>
                        </a:rPr>
                        <a:t>PATS avg</a:t>
                      </a:r>
                    </a:p>
                  </a:txBody>
                  <a:tcPr>
                    <a:solidFill>
                      <a:srgbClr val="BDD7EE"/>
                    </a:solidFill>
                  </a:tcPr>
                </a:tc>
                <a:tc>
                  <a:txBody>
                    <a:bodyPr/>
                    <a:lstStyle/>
                    <a:p>
                      <a:pPr algn="ctr">
                        <a:spcBef>
                          <a:spcPts val="200"/>
                        </a:spcBef>
                        <a:spcAft>
                          <a:spcPts val="200"/>
                        </a:spcAft>
                      </a:pPr>
                      <a:r>
                        <a:rPr sz="1200" b="0">
                          <a:solidFill>
                            <a:srgbClr val="404040"/>
                          </a:solidFill>
                        </a:rPr>
                        <a:t>1.31%</a:t>
                      </a:r>
                    </a:p>
                  </a:txBody>
                  <a:tcPr>
                    <a:solidFill>
                      <a:srgbClr val="BDD7EE"/>
                    </a:solidFill>
                  </a:tcPr>
                </a:tc>
                <a:tc>
                  <a:txBody>
                    <a:bodyPr/>
                    <a:lstStyle/>
                    <a:p>
                      <a:pPr algn="ctr">
                        <a:spcBef>
                          <a:spcPts val="200"/>
                        </a:spcBef>
                        <a:spcAft>
                          <a:spcPts val="200"/>
                        </a:spcAft>
                      </a:pPr>
                      <a:r>
                        <a:rPr sz="1200" b="0">
                          <a:solidFill>
                            <a:srgbClr val="404040"/>
                          </a:solidFill>
                        </a:rPr>
                        <a:t>1.32%</a:t>
                      </a:r>
                    </a:p>
                  </a:txBody>
                  <a:tcPr>
                    <a:solidFill>
                      <a:srgbClr val="BDD7EE"/>
                    </a:solidFill>
                  </a:tcPr>
                </a:tc>
                <a:tc>
                  <a:txBody>
                    <a:bodyPr/>
                    <a:lstStyle/>
                    <a:p>
                      <a:pPr algn="ctr">
                        <a:spcBef>
                          <a:spcPts val="200"/>
                        </a:spcBef>
                        <a:spcAft>
                          <a:spcPts val="200"/>
                        </a:spcAft>
                      </a:pPr>
                      <a:r>
                        <a:rPr sz="1200" b="0">
                          <a:solidFill>
                            <a:srgbClr val="378636"/>
                          </a:solidFill>
                        </a:rPr>
                        <a:t>1.29%</a:t>
                      </a:r>
                    </a:p>
                  </a:txBody>
                  <a:tcPr>
                    <a:solidFill>
                      <a:srgbClr val="BDD7EE"/>
                    </a:solidFill>
                  </a:tcPr>
                </a:tc>
                <a:tc>
                  <a:txBody>
                    <a:bodyPr/>
                    <a:lstStyle/>
                    <a:p>
                      <a:pPr algn="ctr">
                        <a:spcBef>
                          <a:spcPts val="200"/>
                        </a:spcBef>
                        <a:spcAft>
                          <a:spcPts val="200"/>
                        </a:spcAft>
                      </a:pPr>
                      <a:r>
                        <a:rPr sz="1200" b="1">
                          <a:solidFill>
                            <a:srgbClr val="378636"/>
                          </a:solidFill>
                        </a:rPr>
                        <a:t>P8</a:t>
                      </a:r>
                    </a:p>
                  </a:txBody>
                  <a:tcPr>
                    <a:solidFill>
                      <a:srgbClr val="BDD7EE"/>
                    </a:solidFill>
                  </a:tcPr>
                </a:tc>
                <a:tc>
                  <a:txBody>
                    <a:bodyPr/>
                    <a:lstStyle/>
                    <a:p>
                      <a:pPr algn="l">
                        <a:spcBef>
                          <a:spcPts val="200"/>
                        </a:spcBef>
                        <a:spcAft>
                          <a:spcPts val="200"/>
                        </a:spcAft>
                      </a:pPr>
                      <a:r>
                        <a:rPr sz="1100" b="0">
                          <a:solidFill>
                            <a:srgbClr val="404040"/>
                          </a:solidFill>
                        </a:rPr>
                        <a:t>RAG is only phase to beat P1</a:t>
                      </a:r>
                    </a:p>
                  </a:txBody>
                  <a:tcPr>
                    <a:solidFill>
                      <a:srgbClr val="BDD7EE"/>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Analysis — The Error-Rate Threshold Effect</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LLM correction is beneficial only when OCR error rate exceeds a critical threshold</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10 / 15</a:t>
            </a:r>
          </a:p>
        </p:txBody>
      </p:sp>
      <p:sp>
        <p:nvSpPr>
          <p:cNvPr id="6" name="TextBox 5"/>
          <p:cNvSpPr txBox="1"/>
          <p:nvPr/>
        </p:nvSpPr>
        <p:spPr>
          <a:xfrm>
            <a:off x="320040" y="1188720"/>
            <a:ext cx="11548872" cy="365760"/>
          </a:xfrm>
          <a:prstGeom prst="rect">
            <a:avLst/>
          </a:prstGeom>
          <a:noFill/>
        </p:spPr>
        <p:txBody>
          <a:bodyPr wrap="square">
            <a:spAutoFit/>
          </a:bodyPr>
          <a:lstStyle/>
          <a:p>
            <a:pPr algn="l"/>
            <a:r>
              <a:rPr sz="1600" b="1">
                <a:solidFill>
                  <a:srgbClr val="1F3864"/>
                </a:solidFill>
              </a:rPr>
              <a:t>Hypothesis: below ~2% CER, LLM correction introduces more errors than it fixes.</a:t>
            </a:r>
          </a:p>
        </p:txBody>
      </p:sp>
      <p:sp>
        <p:nvSpPr>
          <p:cNvPr id="7" name="Rectangle 6"/>
          <p:cNvSpPr/>
          <p:nvPr/>
        </p:nvSpPr>
        <p:spPr>
          <a:xfrm>
            <a:off x="320040" y="1691640"/>
            <a:ext cx="3657600" cy="3200400"/>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783080"/>
            <a:ext cx="3474720" cy="731520"/>
          </a:xfrm>
          <a:prstGeom prst="rect">
            <a:avLst/>
          </a:prstGeom>
          <a:noFill/>
        </p:spPr>
        <p:txBody>
          <a:bodyPr wrap="square">
            <a:spAutoFit/>
          </a:bodyPr>
          <a:lstStyle/>
          <a:p>
            <a:pPr algn="ctr"/>
            <a:r>
              <a:rPr sz="1500" b="1">
                <a:solidFill>
                  <a:srgbClr val="1F3864"/>
                </a:solidFill>
              </a:rPr>
              <a:t>HARMFUL ZONE
CER &lt; ~1.5%</a:t>
            </a:r>
          </a:p>
        </p:txBody>
      </p:sp>
      <p:sp>
        <p:nvSpPr>
          <p:cNvPr id="9" name="TextBox 8"/>
          <p:cNvSpPr txBox="1"/>
          <p:nvPr/>
        </p:nvSpPr>
        <p:spPr>
          <a:xfrm>
            <a:off x="411480" y="2560320"/>
            <a:ext cx="3474720" cy="2194560"/>
          </a:xfrm>
          <a:prstGeom prst="rect">
            <a:avLst/>
          </a:prstGeom>
          <a:noFill/>
        </p:spPr>
        <p:txBody>
          <a:bodyPr wrap="square">
            <a:spAutoFit/>
          </a:bodyPr>
          <a:lstStyle/>
          <a:p>
            <a:pPr algn="ctr"/>
            <a:r>
              <a:rPr sz="1300" b="0">
                <a:solidFill>
                  <a:srgbClr val="404040"/>
                </a:solidFill>
              </a:rPr>
              <a:t>LLM makes text worse
Naskh, Arial, Traditional
Best strategy: return unchanged</a:t>
            </a:r>
          </a:p>
        </p:txBody>
      </p:sp>
      <p:sp>
        <p:nvSpPr>
          <p:cNvPr id="10" name="Rectangle 9"/>
          <p:cNvSpPr/>
          <p:nvPr/>
        </p:nvSpPr>
        <p:spPr>
          <a:xfrm>
            <a:off x="4114800" y="1691640"/>
            <a:ext cx="3657600" cy="3200400"/>
          </a:xfrm>
          <a:prstGeom prst="rect">
            <a:avLst/>
          </a:prstGeom>
          <a:solidFill>
            <a:srgbClr val="FFF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06240" y="1783080"/>
            <a:ext cx="3474720" cy="731520"/>
          </a:xfrm>
          <a:prstGeom prst="rect">
            <a:avLst/>
          </a:prstGeom>
          <a:noFill/>
        </p:spPr>
        <p:txBody>
          <a:bodyPr wrap="square">
            <a:spAutoFit/>
          </a:bodyPr>
          <a:lstStyle/>
          <a:p>
            <a:pPr algn="ctr"/>
            <a:r>
              <a:rPr sz="1500" b="1">
                <a:solidFill>
                  <a:srgbClr val="1F3864"/>
                </a:solidFill>
              </a:rPr>
              <a:t>MIXED ZONE
CER 1.5 – 2.5%</a:t>
            </a:r>
          </a:p>
        </p:txBody>
      </p:sp>
      <p:sp>
        <p:nvSpPr>
          <p:cNvPr id="12" name="TextBox 11"/>
          <p:cNvSpPr txBox="1"/>
          <p:nvPr/>
        </p:nvSpPr>
        <p:spPr>
          <a:xfrm>
            <a:off x="4206240" y="2560320"/>
            <a:ext cx="3474720" cy="2194560"/>
          </a:xfrm>
          <a:prstGeom prst="rect">
            <a:avLst/>
          </a:prstGeom>
          <a:noFill/>
        </p:spPr>
        <p:txBody>
          <a:bodyPr wrap="square">
            <a:spAutoFit/>
          </a:bodyPr>
          <a:lstStyle/>
          <a:p>
            <a:pPr algn="ctr"/>
            <a:r>
              <a:rPr sz="1300" b="0">
                <a:solidFill>
                  <a:srgbClr val="404040"/>
                </a:solidFill>
              </a:rPr>
              <a:t>Depends on strategy
Andalus, Simplified, Tahoma
RAG and ZeroShot can help</a:t>
            </a:r>
          </a:p>
        </p:txBody>
      </p:sp>
      <p:sp>
        <p:nvSpPr>
          <p:cNvPr id="13" name="Rectangle 12"/>
          <p:cNvSpPr/>
          <p:nvPr/>
        </p:nvSpPr>
        <p:spPr>
          <a:xfrm>
            <a:off x="8229600" y="1691640"/>
            <a:ext cx="3657600" cy="32004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1783080"/>
            <a:ext cx="3474720" cy="731520"/>
          </a:xfrm>
          <a:prstGeom prst="rect">
            <a:avLst/>
          </a:prstGeom>
          <a:noFill/>
        </p:spPr>
        <p:txBody>
          <a:bodyPr wrap="square">
            <a:spAutoFit/>
          </a:bodyPr>
          <a:lstStyle/>
          <a:p>
            <a:pPr algn="ctr"/>
            <a:r>
              <a:rPr sz="1500" b="1">
                <a:solidFill>
                  <a:srgbClr val="1F3864"/>
                </a:solidFill>
              </a:rPr>
              <a:t>BENEFICIAL ZONE
CER &gt; ~2.5%</a:t>
            </a:r>
          </a:p>
        </p:txBody>
      </p:sp>
      <p:sp>
        <p:nvSpPr>
          <p:cNvPr id="15" name="TextBox 14"/>
          <p:cNvSpPr txBox="1"/>
          <p:nvPr/>
        </p:nvSpPr>
        <p:spPr>
          <a:xfrm>
            <a:off x="8321040" y="2560320"/>
            <a:ext cx="3474720" cy="2194560"/>
          </a:xfrm>
          <a:prstGeom prst="rect">
            <a:avLst/>
          </a:prstGeom>
          <a:noFill/>
        </p:spPr>
        <p:txBody>
          <a:bodyPr wrap="square">
            <a:spAutoFit/>
          </a:bodyPr>
          <a:lstStyle/>
          <a:p>
            <a:pPr algn="ctr"/>
            <a:r>
              <a:rPr sz="1300" b="0">
                <a:solidFill>
                  <a:srgbClr val="404040"/>
                </a:solidFill>
              </a:rPr>
              <a:t>LLM significantly improves
KHATT (5.66%), Tahoma (2.39%)
RAG gives best results</a:t>
            </a:r>
          </a:p>
        </p:txBody>
      </p:sp>
      <p:sp>
        <p:nvSpPr>
          <p:cNvPr id="16" name="TextBox 15"/>
          <p:cNvSpPr txBox="1"/>
          <p:nvPr/>
        </p:nvSpPr>
        <p:spPr>
          <a:xfrm>
            <a:off x="320040" y="5074920"/>
            <a:ext cx="11548872" cy="365760"/>
          </a:xfrm>
          <a:prstGeom prst="rect">
            <a:avLst/>
          </a:prstGeom>
          <a:noFill/>
        </p:spPr>
        <p:txBody>
          <a:bodyPr wrap="square">
            <a:spAutoFit/>
          </a:bodyPr>
          <a:lstStyle/>
          <a:p>
            <a:pPr algn="l"/>
            <a:r>
              <a:rPr sz="1500" b="1">
                <a:solidFill>
                  <a:srgbClr val="1F3864"/>
                </a:solidFill>
              </a:rPr>
              <a:t>Implication for thesis:</a:t>
            </a:r>
          </a:p>
        </p:txBody>
      </p:sp>
      <p:sp>
        <p:nvSpPr>
          <p:cNvPr id="17" name="TextBox 16"/>
          <p:cNvSpPr txBox="1"/>
          <p:nvPr/>
        </p:nvSpPr>
        <p:spPr>
          <a:xfrm>
            <a:off x="457200" y="5532120"/>
            <a:ext cx="11338560" cy="274320"/>
          </a:xfrm>
          <a:prstGeom prst="rect">
            <a:avLst/>
          </a:prstGeom>
          <a:noFill/>
        </p:spPr>
        <p:txBody>
          <a:bodyPr wrap="square">
            <a:spAutoFit/>
          </a:bodyPr>
          <a:lstStyle/>
          <a:p>
            <a:pPr algn="l"/>
            <a:r>
              <a:rPr sz="1300" b="0">
                <a:solidFill>
                  <a:srgbClr val="404040"/>
                </a:solidFill>
              </a:rPr>
              <a:t>1. Dataset difficulty must be reported alongside CER/WER improvements.</a:t>
            </a:r>
          </a:p>
        </p:txBody>
      </p:sp>
      <p:sp>
        <p:nvSpPr>
          <p:cNvPr id="18" name="TextBox 17"/>
          <p:cNvSpPr txBox="1"/>
          <p:nvPr/>
        </p:nvSpPr>
        <p:spPr>
          <a:xfrm>
            <a:off x="457200" y="5806440"/>
            <a:ext cx="11338560" cy="274320"/>
          </a:xfrm>
          <a:prstGeom prst="rect">
            <a:avLst/>
          </a:prstGeom>
          <a:noFill/>
        </p:spPr>
        <p:txBody>
          <a:bodyPr wrap="square">
            <a:spAutoFit/>
          </a:bodyPr>
          <a:lstStyle/>
          <a:p>
            <a:pPr algn="l"/>
            <a:r>
              <a:rPr sz="1300" b="0">
                <a:solidFill>
                  <a:srgbClr val="404040"/>
                </a:solidFill>
              </a:rPr>
              <a:t>2. A selective-correction strategy (detect high-error samples, then apply LLM) could unlock gains on PATS.</a:t>
            </a:r>
          </a:p>
        </p:txBody>
      </p:sp>
      <p:sp>
        <p:nvSpPr>
          <p:cNvPr id="19" name="TextBox 18"/>
          <p:cNvSpPr txBox="1"/>
          <p:nvPr/>
        </p:nvSpPr>
        <p:spPr>
          <a:xfrm>
            <a:off x="457200" y="6080760"/>
            <a:ext cx="11338560" cy="274320"/>
          </a:xfrm>
          <a:prstGeom prst="rect">
            <a:avLst/>
          </a:prstGeom>
          <a:noFill/>
        </p:spPr>
        <p:txBody>
          <a:bodyPr wrap="square">
            <a:spAutoFit/>
          </a:bodyPr>
          <a:lstStyle/>
          <a:p>
            <a:pPr algn="l"/>
            <a:r>
              <a:rPr sz="1300" b="0">
                <a:solidFill>
                  <a:srgbClr val="404040"/>
                </a:solidFill>
              </a:rPr>
              <a:t>3. Phase 2 (zero-shot) already achieves diminishing returns — advanced methods mainly help KHATT.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Next Step 1 — Conservative Prompt (p2v3)</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Hypothesis: an even stricter 'do-nothing-when-unsure' policy will reduce PATS over-correction</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11 / 15</a:t>
            </a:r>
          </a:p>
        </p:txBody>
      </p:sp>
      <p:sp>
        <p:nvSpPr>
          <p:cNvPr id="6" name="Rectangle 5"/>
          <p:cNvSpPr/>
          <p:nvPr/>
        </p:nvSpPr>
        <p:spPr>
          <a:xfrm>
            <a:off x="320040" y="1234440"/>
            <a:ext cx="5394960" cy="5349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80160"/>
            <a:ext cx="5212080" cy="320040"/>
          </a:xfrm>
          <a:prstGeom prst="rect">
            <a:avLst/>
          </a:prstGeom>
          <a:noFill/>
        </p:spPr>
        <p:txBody>
          <a:bodyPr wrap="square">
            <a:spAutoFit/>
          </a:bodyPr>
          <a:lstStyle/>
          <a:p>
            <a:pPr algn="l"/>
            <a:r>
              <a:rPr sz="1600" b="1">
                <a:solidFill>
                  <a:srgbClr val="1F3864"/>
                </a:solidFill>
              </a:rPr>
              <a:t>Current prompts</a:t>
            </a:r>
          </a:p>
        </p:txBody>
      </p:sp>
      <p:sp>
        <p:nvSpPr>
          <p:cNvPr id="8" name="TextBox 7"/>
          <p:cNvSpPr txBox="1"/>
          <p:nvPr/>
        </p:nvSpPr>
        <p:spPr>
          <a:xfrm>
            <a:off x="457200" y="1691640"/>
            <a:ext cx="5212080" cy="274320"/>
          </a:xfrm>
          <a:prstGeom prst="rect">
            <a:avLst/>
          </a:prstGeom>
          <a:noFill/>
        </p:spPr>
        <p:txBody>
          <a:bodyPr wrap="square">
            <a:spAutoFit/>
          </a:bodyPr>
          <a:lstStyle/>
          <a:p>
            <a:pPr algn="l"/>
            <a:r>
              <a:rPr sz="1300" b="1">
                <a:solidFill>
                  <a:srgbClr val="C00000"/>
                </a:solidFill>
              </a:rPr>
              <a:t>p2v1 (aggressive):</a:t>
            </a:r>
          </a:p>
        </p:txBody>
      </p:sp>
      <p:sp>
        <p:nvSpPr>
          <p:cNvPr id="9" name="TextBox 8"/>
          <p:cNvSpPr txBox="1"/>
          <p:nvPr/>
        </p:nvSpPr>
        <p:spPr>
          <a:xfrm>
            <a:off x="457200" y="1965960"/>
            <a:ext cx="5212080" cy="594360"/>
          </a:xfrm>
          <a:prstGeom prst="rect">
            <a:avLst/>
          </a:prstGeom>
          <a:noFill/>
        </p:spPr>
        <p:txBody>
          <a:bodyPr wrap="square">
            <a:spAutoFit/>
          </a:bodyPr>
          <a:lstStyle/>
          <a:p>
            <a:pPr algn="l"/>
            <a:r>
              <a:rPr sz="1200" b="0">
                <a:solidFill>
                  <a:srgbClr val="404040"/>
                </a:solidFill>
              </a:rPr>
              <a:t>"Fix OCR errors in this Arabic text. Return only the corrected text."</a:t>
            </a:r>
          </a:p>
        </p:txBody>
      </p:sp>
      <p:sp>
        <p:nvSpPr>
          <p:cNvPr id="10" name="TextBox 9"/>
          <p:cNvSpPr txBox="1"/>
          <p:nvPr/>
        </p:nvSpPr>
        <p:spPr>
          <a:xfrm>
            <a:off x="457200" y="2651760"/>
            <a:ext cx="5212080" cy="274320"/>
          </a:xfrm>
          <a:prstGeom prst="rect">
            <a:avLst/>
          </a:prstGeom>
          <a:noFill/>
        </p:spPr>
        <p:txBody>
          <a:bodyPr wrap="square">
            <a:spAutoFit/>
          </a:bodyPr>
          <a:lstStyle/>
          <a:p>
            <a:pPr algn="l"/>
            <a:r>
              <a:rPr sz="1300" b="1">
                <a:solidFill>
                  <a:srgbClr val="ED7D31"/>
                </a:solidFill>
              </a:rPr>
              <a:t>p2v2 (conservative, current):</a:t>
            </a:r>
          </a:p>
        </p:txBody>
      </p:sp>
      <p:sp>
        <p:nvSpPr>
          <p:cNvPr id="11" name="TextBox 10"/>
          <p:cNvSpPr txBox="1"/>
          <p:nvPr/>
        </p:nvSpPr>
        <p:spPr>
          <a:xfrm>
            <a:off x="457200" y="2926080"/>
            <a:ext cx="5212080" cy="1097280"/>
          </a:xfrm>
          <a:prstGeom prst="rect">
            <a:avLst/>
          </a:prstGeom>
          <a:noFill/>
        </p:spPr>
        <p:txBody>
          <a:bodyPr wrap="square">
            <a:spAutoFit/>
          </a:bodyPr>
          <a:lstStyle/>
          <a:p>
            <a:pPr algn="l"/>
            <a:r>
              <a:rPr sz="1200" b="0">
                <a:solidFill>
                  <a:srgbClr val="404040"/>
                </a:solidFill>
              </a:rPr>
              <a:t>"You are an Arabic OCR corrector. If the text looks correct, return it unchanged. Only fix clear OCR errors such as wrong characters, missing characters, or obvious character confusions. Do not rephrase or paraphrase."</a:t>
            </a:r>
          </a:p>
        </p:txBody>
      </p:sp>
      <p:sp>
        <p:nvSpPr>
          <p:cNvPr id="12" name="TextBox 11"/>
          <p:cNvSpPr txBox="1"/>
          <p:nvPr/>
        </p:nvSpPr>
        <p:spPr>
          <a:xfrm>
            <a:off x="457200" y="4114800"/>
            <a:ext cx="5212080" cy="320040"/>
          </a:xfrm>
          <a:prstGeom prst="rect">
            <a:avLst/>
          </a:prstGeom>
          <a:noFill/>
        </p:spPr>
        <p:txBody>
          <a:bodyPr wrap="square">
            <a:spAutoFit/>
          </a:bodyPr>
          <a:lstStyle/>
          <a:p>
            <a:pPr algn="l"/>
            <a:r>
              <a:rPr sz="1300" b="1">
                <a:solidFill>
                  <a:srgbClr val="C00000"/>
                </a:solidFill>
              </a:rPr>
              <a:t>Problem with p2v2:</a:t>
            </a:r>
          </a:p>
        </p:txBody>
      </p:sp>
      <p:sp>
        <p:nvSpPr>
          <p:cNvPr id="13" name="TextBox 12"/>
          <p:cNvSpPr txBox="1"/>
          <p:nvPr/>
        </p:nvSpPr>
        <p:spPr>
          <a:xfrm>
            <a:off x="457200" y="4434840"/>
            <a:ext cx="5212080" cy="640080"/>
          </a:xfrm>
          <a:prstGeom prst="rect">
            <a:avLst/>
          </a:prstGeom>
          <a:noFill/>
        </p:spPr>
        <p:txBody>
          <a:bodyPr wrap="square">
            <a:spAutoFit/>
          </a:bodyPr>
          <a:lstStyle/>
          <a:p>
            <a:pPr algn="l"/>
            <a:r>
              <a:rPr sz="1200" b="0">
                <a:solidFill>
                  <a:srgbClr val="404040"/>
                </a:solidFill>
              </a:rPr>
              <a:t>Still triggers too many edits on PATS fonts (Arial, Traditional, Naskh) where OCR is already highly accurate. CER increases vs baseline.</a:t>
            </a:r>
          </a:p>
        </p:txBody>
      </p:sp>
      <p:sp>
        <p:nvSpPr>
          <p:cNvPr id="14" name="Rectangle 13"/>
          <p:cNvSpPr/>
          <p:nvPr/>
        </p:nvSpPr>
        <p:spPr>
          <a:xfrm>
            <a:off x="5943600" y="1234440"/>
            <a:ext cx="5925312" cy="5349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80760" y="1280160"/>
            <a:ext cx="5669280" cy="320040"/>
          </a:xfrm>
          <a:prstGeom prst="rect">
            <a:avLst/>
          </a:prstGeom>
          <a:noFill/>
        </p:spPr>
        <p:txBody>
          <a:bodyPr wrap="square">
            <a:spAutoFit/>
          </a:bodyPr>
          <a:lstStyle/>
          <a:p>
            <a:pPr algn="l"/>
            <a:r>
              <a:rPr sz="1600" b="1">
                <a:solidFill>
                  <a:srgbClr val="FFC000"/>
                </a:solidFill>
              </a:rPr>
              <a:t>Proposed: p2v3 (ultra-conservative)</a:t>
            </a:r>
          </a:p>
        </p:txBody>
      </p:sp>
      <p:sp>
        <p:nvSpPr>
          <p:cNvPr id="16" name="TextBox 15"/>
          <p:cNvSpPr txBox="1"/>
          <p:nvPr/>
        </p:nvSpPr>
        <p:spPr>
          <a:xfrm>
            <a:off x="6080760" y="1691640"/>
            <a:ext cx="5669280" cy="2011680"/>
          </a:xfrm>
          <a:prstGeom prst="rect">
            <a:avLst/>
          </a:prstGeom>
          <a:noFill/>
        </p:spPr>
        <p:txBody>
          <a:bodyPr wrap="square">
            <a:spAutoFit/>
          </a:bodyPr>
          <a:lstStyle/>
          <a:p>
            <a:pPr algn="l"/>
            <a:r>
              <a:rPr sz="1250" b="0">
                <a:solidFill>
                  <a:srgbClr val="FFFFFF"/>
                </a:solidFill>
              </a:rPr>
              <a:t>"You are an Arabic OCR post-processor. Your ONLY job is to fix unambiguous character-substitution errors caused by the OCR scanner — where a character was clearly misread due to visual similarity. Do NOT change: word choice, spelling variants, diacritics, punctuation, spacing, or any word that could be a valid Arabic word. If you are unsure whether something is an OCR error or correct Arabic, leave it unchanged. Return ONLY the corrected text, nothing else."</a:t>
            </a:r>
          </a:p>
        </p:txBody>
      </p:sp>
      <p:sp>
        <p:nvSpPr>
          <p:cNvPr id="17" name="TextBox 16"/>
          <p:cNvSpPr txBox="1"/>
          <p:nvPr/>
        </p:nvSpPr>
        <p:spPr>
          <a:xfrm>
            <a:off x="6080760" y="3794760"/>
            <a:ext cx="5669280" cy="320040"/>
          </a:xfrm>
          <a:prstGeom prst="rect">
            <a:avLst/>
          </a:prstGeom>
          <a:noFill/>
        </p:spPr>
        <p:txBody>
          <a:bodyPr wrap="square">
            <a:spAutoFit/>
          </a:bodyPr>
          <a:lstStyle/>
          <a:p>
            <a:pPr algn="l"/>
            <a:r>
              <a:rPr sz="1300" b="1">
                <a:solidFill>
                  <a:srgbClr val="FFC000"/>
                </a:solidFill>
              </a:rPr>
              <a:t>Key differences from p2v2:</a:t>
            </a:r>
          </a:p>
        </p:txBody>
      </p:sp>
      <p:sp>
        <p:nvSpPr>
          <p:cNvPr id="18" name="TextBox 17"/>
          <p:cNvSpPr txBox="1"/>
          <p:nvPr/>
        </p:nvSpPr>
        <p:spPr>
          <a:xfrm>
            <a:off x="6080760" y="4160520"/>
            <a:ext cx="5669280" cy="256032"/>
          </a:xfrm>
          <a:prstGeom prst="rect">
            <a:avLst/>
          </a:prstGeom>
          <a:noFill/>
        </p:spPr>
        <p:txBody>
          <a:bodyPr wrap="square">
            <a:spAutoFit/>
          </a:bodyPr>
          <a:lstStyle/>
          <a:p>
            <a:pPr algn="l"/>
            <a:r>
              <a:rPr sz="1300" b="0">
                <a:solidFill>
                  <a:srgbClr val="BDD7EE"/>
                </a:solidFill>
              </a:rPr>
              <a:t>• Explicit list of what NOT to change</a:t>
            </a:r>
          </a:p>
        </p:txBody>
      </p:sp>
      <p:sp>
        <p:nvSpPr>
          <p:cNvPr id="19" name="TextBox 18"/>
          <p:cNvSpPr txBox="1"/>
          <p:nvPr/>
        </p:nvSpPr>
        <p:spPr>
          <a:xfrm>
            <a:off x="6080760" y="4416552"/>
            <a:ext cx="5669280" cy="256032"/>
          </a:xfrm>
          <a:prstGeom prst="rect">
            <a:avLst/>
          </a:prstGeom>
          <a:noFill/>
        </p:spPr>
        <p:txBody>
          <a:bodyPr wrap="square">
            <a:spAutoFit/>
          </a:bodyPr>
          <a:lstStyle/>
          <a:p>
            <a:pPr algn="l"/>
            <a:r>
              <a:rPr sz="1300" b="0">
                <a:solidFill>
                  <a:srgbClr val="BDD7EE"/>
                </a:solidFill>
              </a:rPr>
              <a:t>• Uncertainty → do nothing (conservative default)</a:t>
            </a:r>
          </a:p>
        </p:txBody>
      </p:sp>
      <p:sp>
        <p:nvSpPr>
          <p:cNvPr id="20" name="TextBox 19"/>
          <p:cNvSpPr txBox="1"/>
          <p:nvPr/>
        </p:nvSpPr>
        <p:spPr>
          <a:xfrm>
            <a:off x="6080760" y="4672584"/>
            <a:ext cx="5669280" cy="256032"/>
          </a:xfrm>
          <a:prstGeom prst="rect">
            <a:avLst/>
          </a:prstGeom>
          <a:noFill/>
        </p:spPr>
        <p:txBody>
          <a:bodyPr wrap="square">
            <a:spAutoFit/>
          </a:bodyPr>
          <a:lstStyle/>
          <a:p>
            <a:pPr algn="l"/>
            <a:r>
              <a:rPr sz="1300" b="0">
                <a:solidFill>
                  <a:srgbClr val="BDD7EE"/>
                </a:solidFill>
              </a:rPr>
              <a:t>• 'Valid Arabic word' test blocks grammar 'fixes'</a:t>
            </a:r>
          </a:p>
        </p:txBody>
      </p:sp>
      <p:sp>
        <p:nvSpPr>
          <p:cNvPr id="21" name="TextBox 20"/>
          <p:cNvSpPr txBox="1"/>
          <p:nvPr/>
        </p:nvSpPr>
        <p:spPr>
          <a:xfrm>
            <a:off x="6080760" y="4928616"/>
            <a:ext cx="5669280" cy="256032"/>
          </a:xfrm>
          <a:prstGeom prst="rect">
            <a:avLst/>
          </a:prstGeom>
          <a:noFill/>
        </p:spPr>
        <p:txBody>
          <a:bodyPr wrap="square">
            <a:spAutoFit/>
          </a:bodyPr>
          <a:lstStyle/>
          <a:p>
            <a:pPr algn="l"/>
            <a:r>
              <a:rPr sz="1300" b="0">
                <a:solidFill>
                  <a:srgbClr val="BDD7EE"/>
                </a:solidFill>
              </a:rPr>
              <a:t>• Targets only visual confusion errors</a:t>
            </a:r>
          </a:p>
        </p:txBody>
      </p:sp>
      <p:sp>
        <p:nvSpPr>
          <p:cNvPr id="22" name="TextBox 21"/>
          <p:cNvSpPr txBox="1"/>
          <p:nvPr/>
        </p:nvSpPr>
        <p:spPr>
          <a:xfrm>
            <a:off x="6080760" y="5394960"/>
            <a:ext cx="5669280" cy="365760"/>
          </a:xfrm>
          <a:prstGeom prst="rect">
            <a:avLst/>
          </a:prstGeom>
          <a:noFill/>
        </p:spPr>
        <p:txBody>
          <a:bodyPr wrap="square">
            <a:spAutoFit/>
          </a:bodyPr>
          <a:lstStyle/>
          <a:p>
            <a:pPr algn="l"/>
            <a:r>
              <a:rPr sz="1200" b="1">
                <a:solidFill>
                  <a:srgbClr val="FFC000"/>
                </a:solidFill>
              </a:rPr>
              <a:t>Expected: PATS CER holds at baseline; KHATT may trade recall for precision</a:t>
            </a:r>
          </a:p>
        </p:txBody>
      </p:sp>
      <p:sp>
        <p:nvSpPr>
          <p:cNvPr id="23" name="TextBox 22"/>
          <p:cNvSpPr txBox="1"/>
          <p:nvPr/>
        </p:nvSpPr>
        <p:spPr>
          <a:xfrm>
            <a:off x="320040" y="6510528"/>
            <a:ext cx="11548872" cy="274320"/>
          </a:xfrm>
          <a:prstGeom prst="rect">
            <a:avLst/>
          </a:prstGeom>
          <a:noFill/>
        </p:spPr>
        <p:txBody>
          <a:bodyPr wrap="square">
            <a:spAutoFit/>
          </a:bodyPr>
          <a:lstStyle/>
          <a:p>
            <a:pPr algn="l"/>
            <a:r>
              <a:rPr sz="1200" b="1">
                <a:solidFill>
                  <a:srgbClr val="404040"/>
                </a:solidFill>
              </a:rPr>
              <a:t>Action: implement p2v3, run on all 9 datasets, compare to p2v2 and OCR baseline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Next Step 2 — Larger LLM Model</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Hypothesis: a larger model has better Arabic orthographic knowledge → fewer over-corrections</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12 / 15</a:t>
            </a:r>
          </a:p>
        </p:txBody>
      </p:sp>
      <p:sp>
        <p:nvSpPr>
          <p:cNvPr id="6" name="Rectangle 5"/>
          <p:cNvSpPr/>
          <p:nvPr/>
        </p:nvSpPr>
        <p:spPr>
          <a:xfrm>
            <a:off x="320040" y="1234440"/>
            <a:ext cx="5394960" cy="5349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80160"/>
            <a:ext cx="5212080" cy="320040"/>
          </a:xfrm>
          <a:prstGeom prst="rect">
            <a:avLst/>
          </a:prstGeom>
          <a:noFill/>
        </p:spPr>
        <p:txBody>
          <a:bodyPr wrap="square">
            <a:spAutoFit/>
          </a:bodyPr>
          <a:lstStyle/>
          <a:p>
            <a:pPr algn="l"/>
            <a:r>
              <a:rPr sz="1600" b="1">
                <a:solidFill>
                  <a:srgbClr val="1F3864"/>
                </a:solidFill>
              </a:rPr>
              <a:t>Current Model</a:t>
            </a:r>
          </a:p>
        </p:txBody>
      </p:sp>
      <p:sp>
        <p:nvSpPr>
          <p:cNvPr id="8" name="TextBox 7"/>
          <p:cNvSpPr txBox="1"/>
          <p:nvPr/>
        </p:nvSpPr>
        <p:spPr>
          <a:xfrm>
            <a:off x="457200" y="1737360"/>
            <a:ext cx="1645920" cy="347472"/>
          </a:xfrm>
          <a:prstGeom prst="rect">
            <a:avLst/>
          </a:prstGeom>
          <a:noFill/>
        </p:spPr>
        <p:txBody>
          <a:bodyPr wrap="square">
            <a:spAutoFit/>
          </a:bodyPr>
          <a:lstStyle/>
          <a:p>
            <a:pPr algn="l"/>
            <a:r>
              <a:rPr sz="1200" b="1">
                <a:solidFill>
                  <a:srgbClr val="404040"/>
                </a:solidFill>
              </a:rPr>
              <a:t>Model:</a:t>
            </a:r>
          </a:p>
        </p:txBody>
      </p:sp>
      <p:sp>
        <p:nvSpPr>
          <p:cNvPr id="9" name="TextBox 8"/>
          <p:cNvSpPr txBox="1"/>
          <p:nvPr/>
        </p:nvSpPr>
        <p:spPr>
          <a:xfrm>
            <a:off x="2194560" y="1737360"/>
            <a:ext cx="3291840" cy="347472"/>
          </a:xfrm>
          <a:prstGeom prst="rect">
            <a:avLst/>
          </a:prstGeom>
          <a:noFill/>
        </p:spPr>
        <p:txBody>
          <a:bodyPr wrap="square">
            <a:spAutoFit/>
          </a:bodyPr>
          <a:lstStyle/>
          <a:p>
            <a:pPr algn="l"/>
            <a:r>
              <a:rPr sz="1200" b="0">
                <a:solidFill>
                  <a:srgbClr val="404040"/>
                </a:solidFill>
              </a:rPr>
              <a:t>Qwen3-4B-Instruct-2507</a:t>
            </a:r>
          </a:p>
        </p:txBody>
      </p:sp>
      <p:sp>
        <p:nvSpPr>
          <p:cNvPr id="10" name="TextBox 9"/>
          <p:cNvSpPr txBox="1"/>
          <p:nvPr/>
        </p:nvSpPr>
        <p:spPr>
          <a:xfrm>
            <a:off x="457200" y="2121408"/>
            <a:ext cx="1645920" cy="347472"/>
          </a:xfrm>
          <a:prstGeom prst="rect">
            <a:avLst/>
          </a:prstGeom>
          <a:noFill/>
        </p:spPr>
        <p:txBody>
          <a:bodyPr wrap="square">
            <a:spAutoFit/>
          </a:bodyPr>
          <a:lstStyle/>
          <a:p>
            <a:pPr algn="l"/>
            <a:r>
              <a:rPr sz="1200" b="1">
                <a:solidFill>
                  <a:srgbClr val="404040"/>
                </a:solidFill>
              </a:rPr>
              <a:t>Parameters:</a:t>
            </a:r>
          </a:p>
        </p:txBody>
      </p:sp>
      <p:sp>
        <p:nvSpPr>
          <p:cNvPr id="11" name="TextBox 10"/>
          <p:cNvSpPr txBox="1"/>
          <p:nvPr/>
        </p:nvSpPr>
        <p:spPr>
          <a:xfrm>
            <a:off x="2194560" y="2121408"/>
            <a:ext cx="3291840" cy="347472"/>
          </a:xfrm>
          <a:prstGeom prst="rect">
            <a:avLst/>
          </a:prstGeom>
          <a:noFill/>
        </p:spPr>
        <p:txBody>
          <a:bodyPr wrap="square">
            <a:spAutoFit/>
          </a:bodyPr>
          <a:lstStyle/>
          <a:p>
            <a:pPr algn="l"/>
            <a:r>
              <a:rPr sz="1200" b="0">
                <a:solidFill>
                  <a:srgbClr val="404040"/>
                </a:solidFill>
              </a:rPr>
              <a:t>4 Billion (dense)</a:t>
            </a:r>
          </a:p>
        </p:txBody>
      </p:sp>
      <p:sp>
        <p:nvSpPr>
          <p:cNvPr id="12" name="TextBox 11"/>
          <p:cNvSpPr txBox="1"/>
          <p:nvPr/>
        </p:nvSpPr>
        <p:spPr>
          <a:xfrm>
            <a:off x="457200" y="2505456"/>
            <a:ext cx="1645920" cy="347472"/>
          </a:xfrm>
          <a:prstGeom prst="rect">
            <a:avLst/>
          </a:prstGeom>
          <a:noFill/>
        </p:spPr>
        <p:txBody>
          <a:bodyPr wrap="square">
            <a:spAutoFit/>
          </a:bodyPr>
          <a:lstStyle/>
          <a:p>
            <a:pPr algn="l"/>
            <a:r>
              <a:rPr sz="1200" b="1">
                <a:solidFill>
                  <a:srgbClr val="404040"/>
                </a:solidFill>
              </a:rPr>
              <a:t>Platform:</a:t>
            </a:r>
          </a:p>
        </p:txBody>
      </p:sp>
      <p:sp>
        <p:nvSpPr>
          <p:cNvPr id="13" name="TextBox 12"/>
          <p:cNvSpPr txBox="1"/>
          <p:nvPr/>
        </p:nvSpPr>
        <p:spPr>
          <a:xfrm>
            <a:off x="2194560" y="2505456"/>
            <a:ext cx="3291840" cy="347472"/>
          </a:xfrm>
          <a:prstGeom prst="rect">
            <a:avLst/>
          </a:prstGeom>
          <a:noFill/>
        </p:spPr>
        <p:txBody>
          <a:bodyPr wrap="square">
            <a:spAutoFit/>
          </a:bodyPr>
          <a:lstStyle/>
          <a:p>
            <a:pPr algn="l"/>
            <a:r>
              <a:rPr sz="1200" b="0">
                <a:solidFill>
                  <a:srgbClr val="404040"/>
                </a:solidFill>
              </a:rPr>
              <a:t>Kaggle T4 GPU (~15 GB VRAM)</a:t>
            </a:r>
          </a:p>
        </p:txBody>
      </p:sp>
      <p:sp>
        <p:nvSpPr>
          <p:cNvPr id="14" name="TextBox 13"/>
          <p:cNvSpPr txBox="1"/>
          <p:nvPr/>
        </p:nvSpPr>
        <p:spPr>
          <a:xfrm>
            <a:off x="457200" y="2889504"/>
            <a:ext cx="1645920" cy="347472"/>
          </a:xfrm>
          <a:prstGeom prst="rect">
            <a:avLst/>
          </a:prstGeom>
          <a:noFill/>
        </p:spPr>
        <p:txBody>
          <a:bodyPr wrap="square">
            <a:spAutoFit/>
          </a:bodyPr>
          <a:lstStyle/>
          <a:p>
            <a:pPr algn="l"/>
            <a:r>
              <a:rPr sz="1200" b="1">
                <a:solidFill>
                  <a:srgbClr val="404040"/>
                </a:solidFill>
              </a:rPr>
              <a:t>Speed:</a:t>
            </a:r>
          </a:p>
        </p:txBody>
      </p:sp>
      <p:sp>
        <p:nvSpPr>
          <p:cNvPr id="15" name="TextBox 14"/>
          <p:cNvSpPr txBox="1"/>
          <p:nvPr/>
        </p:nvSpPr>
        <p:spPr>
          <a:xfrm>
            <a:off x="2194560" y="2889504"/>
            <a:ext cx="3291840" cy="347472"/>
          </a:xfrm>
          <a:prstGeom prst="rect">
            <a:avLst/>
          </a:prstGeom>
          <a:noFill/>
        </p:spPr>
        <p:txBody>
          <a:bodyPr wrap="square">
            <a:spAutoFit/>
          </a:bodyPr>
          <a:lstStyle/>
          <a:p>
            <a:pPr algn="l"/>
            <a:r>
              <a:rPr sz="1200" b="0">
                <a:solidFill>
                  <a:srgbClr val="404040"/>
                </a:solidFill>
              </a:rPr>
              <a:t>~3–5 samples / second</a:t>
            </a:r>
          </a:p>
        </p:txBody>
      </p:sp>
      <p:sp>
        <p:nvSpPr>
          <p:cNvPr id="16" name="TextBox 15"/>
          <p:cNvSpPr txBox="1"/>
          <p:nvPr/>
        </p:nvSpPr>
        <p:spPr>
          <a:xfrm>
            <a:off x="457200" y="3273552"/>
            <a:ext cx="1645920" cy="347472"/>
          </a:xfrm>
          <a:prstGeom prst="rect">
            <a:avLst/>
          </a:prstGeom>
          <a:noFill/>
        </p:spPr>
        <p:txBody>
          <a:bodyPr wrap="square">
            <a:spAutoFit/>
          </a:bodyPr>
          <a:lstStyle/>
          <a:p>
            <a:pPr algn="l"/>
            <a:r>
              <a:rPr sz="1200" b="1">
                <a:solidFill>
                  <a:srgbClr val="404040"/>
                </a:solidFill>
              </a:rPr>
              <a:t>Arabic skill:</a:t>
            </a:r>
          </a:p>
        </p:txBody>
      </p:sp>
      <p:sp>
        <p:nvSpPr>
          <p:cNvPr id="17" name="TextBox 16"/>
          <p:cNvSpPr txBox="1"/>
          <p:nvPr/>
        </p:nvSpPr>
        <p:spPr>
          <a:xfrm>
            <a:off x="2194560" y="3273552"/>
            <a:ext cx="3291840" cy="347472"/>
          </a:xfrm>
          <a:prstGeom prst="rect">
            <a:avLst/>
          </a:prstGeom>
          <a:noFill/>
        </p:spPr>
        <p:txBody>
          <a:bodyPr wrap="square">
            <a:spAutoFit/>
          </a:bodyPr>
          <a:lstStyle/>
          <a:p>
            <a:pPr algn="l"/>
            <a:r>
              <a:rPr sz="1200" b="0">
                <a:solidFill>
                  <a:srgbClr val="404040"/>
                </a:solidFill>
              </a:rPr>
              <a:t>Good — multilingual training data</a:t>
            </a:r>
          </a:p>
        </p:txBody>
      </p:sp>
      <p:sp>
        <p:nvSpPr>
          <p:cNvPr id="18" name="TextBox 17"/>
          <p:cNvSpPr txBox="1"/>
          <p:nvPr/>
        </p:nvSpPr>
        <p:spPr>
          <a:xfrm>
            <a:off x="457200" y="3657600"/>
            <a:ext cx="1645920" cy="347472"/>
          </a:xfrm>
          <a:prstGeom prst="rect">
            <a:avLst/>
          </a:prstGeom>
          <a:noFill/>
        </p:spPr>
        <p:txBody>
          <a:bodyPr wrap="square">
            <a:spAutoFit/>
          </a:bodyPr>
          <a:lstStyle/>
          <a:p>
            <a:pPr algn="l"/>
            <a:r>
              <a:rPr sz="1200" b="1">
                <a:solidFill>
                  <a:srgbClr val="404040"/>
                </a:solidFill>
              </a:rPr>
              <a:t>Limitation:</a:t>
            </a:r>
          </a:p>
        </p:txBody>
      </p:sp>
      <p:sp>
        <p:nvSpPr>
          <p:cNvPr id="19" name="TextBox 18"/>
          <p:cNvSpPr txBox="1"/>
          <p:nvPr/>
        </p:nvSpPr>
        <p:spPr>
          <a:xfrm>
            <a:off x="2194560" y="3657600"/>
            <a:ext cx="3291840" cy="347472"/>
          </a:xfrm>
          <a:prstGeom prst="rect">
            <a:avLst/>
          </a:prstGeom>
          <a:noFill/>
        </p:spPr>
        <p:txBody>
          <a:bodyPr wrap="square">
            <a:spAutoFit/>
          </a:bodyPr>
          <a:lstStyle/>
          <a:p>
            <a:pPr algn="l"/>
            <a:r>
              <a:rPr sz="1200" b="0">
                <a:solidFill>
                  <a:srgbClr val="404040"/>
                </a:solidFill>
              </a:rPr>
              <a:t>Borderline word-validity decisions;
limited orthographic certainty → over-corrects</a:t>
            </a:r>
          </a:p>
        </p:txBody>
      </p:sp>
      <p:sp>
        <p:nvSpPr>
          <p:cNvPr id="20" name="Rectangle 19"/>
          <p:cNvSpPr/>
          <p:nvPr/>
        </p:nvSpPr>
        <p:spPr>
          <a:xfrm>
            <a:off x="320040" y="4526280"/>
            <a:ext cx="5394960" cy="20574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4572000"/>
            <a:ext cx="5212080" cy="320040"/>
          </a:xfrm>
          <a:prstGeom prst="rect">
            <a:avLst/>
          </a:prstGeom>
          <a:noFill/>
        </p:spPr>
        <p:txBody>
          <a:bodyPr wrap="square">
            <a:spAutoFit/>
          </a:bodyPr>
          <a:lstStyle/>
          <a:p>
            <a:pPr algn="l"/>
            <a:r>
              <a:rPr sz="1400" b="1">
                <a:solidFill>
                  <a:srgbClr val="1F3864"/>
                </a:solidFill>
              </a:rPr>
              <a:t>Expected Impact of Larger Model</a:t>
            </a:r>
          </a:p>
        </p:txBody>
      </p:sp>
      <p:sp>
        <p:nvSpPr>
          <p:cNvPr id="22" name="TextBox 21"/>
          <p:cNvSpPr txBox="1"/>
          <p:nvPr/>
        </p:nvSpPr>
        <p:spPr>
          <a:xfrm>
            <a:off x="457200" y="4983480"/>
            <a:ext cx="1005840" cy="457200"/>
          </a:xfrm>
          <a:prstGeom prst="rect">
            <a:avLst/>
          </a:prstGeom>
          <a:noFill/>
        </p:spPr>
        <p:txBody>
          <a:bodyPr wrap="square">
            <a:spAutoFit/>
          </a:bodyPr>
          <a:lstStyle/>
          <a:p>
            <a:pPr algn="l"/>
            <a:r>
              <a:rPr sz="1200" b="1">
                <a:solidFill>
                  <a:srgbClr val="1F3864"/>
                </a:solidFill>
              </a:rPr>
              <a:t>PATS:  </a:t>
            </a:r>
          </a:p>
        </p:txBody>
      </p:sp>
      <p:sp>
        <p:nvSpPr>
          <p:cNvPr id="23" name="TextBox 22"/>
          <p:cNvSpPr txBox="1"/>
          <p:nvPr/>
        </p:nvSpPr>
        <p:spPr>
          <a:xfrm>
            <a:off x="1463040" y="4983480"/>
            <a:ext cx="4114800" cy="457200"/>
          </a:xfrm>
          <a:prstGeom prst="rect">
            <a:avLst/>
          </a:prstGeom>
          <a:noFill/>
        </p:spPr>
        <p:txBody>
          <a:bodyPr wrap="square">
            <a:spAutoFit/>
          </a:bodyPr>
          <a:lstStyle/>
          <a:p>
            <a:pPr algn="l"/>
            <a:r>
              <a:rPr sz="1200" b="0">
                <a:solidFill>
                  <a:srgbClr val="404040"/>
                </a:solidFill>
              </a:rPr>
              <a:t>Better morphological knowledge → fewer false
positives → CER closer to baseline</a:t>
            </a:r>
          </a:p>
        </p:txBody>
      </p:sp>
      <p:sp>
        <p:nvSpPr>
          <p:cNvPr id="24" name="TextBox 23"/>
          <p:cNvSpPr txBox="1"/>
          <p:nvPr/>
        </p:nvSpPr>
        <p:spPr>
          <a:xfrm>
            <a:off x="457200" y="5486400"/>
            <a:ext cx="1005840" cy="457200"/>
          </a:xfrm>
          <a:prstGeom prst="rect">
            <a:avLst/>
          </a:prstGeom>
          <a:noFill/>
        </p:spPr>
        <p:txBody>
          <a:bodyPr wrap="square">
            <a:spAutoFit/>
          </a:bodyPr>
          <a:lstStyle/>
          <a:p>
            <a:pPr algn="l"/>
            <a:r>
              <a:rPr sz="1200" b="1">
                <a:solidFill>
                  <a:srgbClr val="1F3864"/>
                </a:solidFill>
              </a:rPr>
              <a:t>KHATT: </a:t>
            </a:r>
          </a:p>
        </p:txBody>
      </p:sp>
      <p:sp>
        <p:nvSpPr>
          <p:cNvPr id="25" name="TextBox 24"/>
          <p:cNvSpPr txBox="1"/>
          <p:nvPr/>
        </p:nvSpPr>
        <p:spPr>
          <a:xfrm>
            <a:off x="1463040" y="5486400"/>
            <a:ext cx="4114800" cy="457200"/>
          </a:xfrm>
          <a:prstGeom prst="rect">
            <a:avLst/>
          </a:prstGeom>
          <a:noFill/>
        </p:spPr>
        <p:txBody>
          <a:bodyPr wrap="square">
            <a:spAutoFit/>
          </a:bodyPr>
          <a:lstStyle/>
          <a:p>
            <a:pPr algn="l"/>
            <a:r>
              <a:rPr sz="1200" b="0">
                <a:solidFill>
                  <a:srgbClr val="404040"/>
                </a:solidFill>
              </a:rPr>
              <a:t>Stronger context modelling → better error detection</a:t>
            </a:r>
          </a:p>
        </p:txBody>
      </p:sp>
      <p:sp>
        <p:nvSpPr>
          <p:cNvPr id="26" name="TextBox 25"/>
          <p:cNvSpPr txBox="1"/>
          <p:nvPr/>
        </p:nvSpPr>
        <p:spPr>
          <a:xfrm>
            <a:off x="457200" y="5989320"/>
            <a:ext cx="1005840" cy="457200"/>
          </a:xfrm>
          <a:prstGeom prst="rect">
            <a:avLst/>
          </a:prstGeom>
          <a:noFill/>
        </p:spPr>
        <p:txBody>
          <a:bodyPr wrap="square">
            <a:spAutoFit/>
          </a:bodyPr>
          <a:lstStyle/>
          <a:p>
            <a:pPr algn="l"/>
            <a:r>
              <a:rPr sz="1200" b="1">
                <a:solidFill>
                  <a:srgbClr val="1F3864"/>
                </a:solidFill>
              </a:rPr>
              <a:t>RAG:   </a:t>
            </a:r>
          </a:p>
        </p:txBody>
      </p:sp>
      <p:sp>
        <p:nvSpPr>
          <p:cNvPr id="27" name="TextBox 26"/>
          <p:cNvSpPr txBox="1"/>
          <p:nvPr/>
        </p:nvSpPr>
        <p:spPr>
          <a:xfrm>
            <a:off x="1463040" y="5989320"/>
            <a:ext cx="4114800" cy="457200"/>
          </a:xfrm>
          <a:prstGeom prst="rect">
            <a:avLst/>
          </a:prstGeom>
          <a:noFill/>
        </p:spPr>
        <p:txBody>
          <a:bodyPr wrap="square">
            <a:spAutoFit/>
          </a:bodyPr>
          <a:lstStyle/>
          <a:p>
            <a:pPr algn="l"/>
            <a:r>
              <a:rPr sz="1200" b="0">
                <a:solidFill>
                  <a:srgbClr val="404040"/>
                </a:solidFill>
              </a:rPr>
              <a:t>Higher reasoning capacity → better use of examples</a:t>
            </a:r>
          </a:p>
        </p:txBody>
      </p:sp>
      <p:sp>
        <p:nvSpPr>
          <p:cNvPr id="28" name="Rectangle 27"/>
          <p:cNvSpPr/>
          <p:nvPr/>
        </p:nvSpPr>
        <p:spPr>
          <a:xfrm>
            <a:off x="5943600" y="1234440"/>
            <a:ext cx="5925312" cy="5349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80760" y="1280160"/>
            <a:ext cx="5669280" cy="320040"/>
          </a:xfrm>
          <a:prstGeom prst="rect">
            <a:avLst/>
          </a:prstGeom>
          <a:noFill/>
        </p:spPr>
        <p:txBody>
          <a:bodyPr wrap="square">
            <a:spAutoFit/>
          </a:bodyPr>
          <a:lstStyle/>
          <a:p>
            <a:pPr algn="l"/>
            <a:r>
              <a:rPr sz="1600" b="1">
                <a:solidFill>
                  <a:srgbClr val="FFC000"/>
                </a:solidFill>
              </a:rPr>
              <a:t>Candidate Larger Models</a:t>
            </a:r>
          </a:p>
        </p:txBody>
      </p:sp>
      <p:sp>
        <p:nvSpPr>
          <p:cNvPr id="30" name="Rectangle 29"/>
          <p:cNvSpPr/>
          <p:nvPr/>
        </p:nvSpPr>
        <p:spPr>
          <a:xfrm>
            <a:off x="6035040" y="171907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172200" y="1773936"/>
            <a:ext cx="5486400" cy="320040"/>
          </a:xfrm>
          <a:prstGeom prst="rect">
            <a:avLst/>
          </a:prstGeom>
          <a:noFill/>
        </p:spPr>
        <p:txBody>
          <a:bodyPr wrap="square">
            <a:spAutoFit/>
          </a:bodyPr>
          <a:lstStyle/>
          <a:p>
            <a:pPr algn="l"/>
            <a:r>
              <a:rPr sz="1400" b="1">
                <a:solidFill>
                  <a:srgbClr val="FFFFFF"/>
                </a:solidFill>
              </a:rPr>
              <a:t>Qwen3-14B</a:t>
            </a:r>
          </a:p>
        </p:txBody>
      </p:sp>
      <p:sp>
        <p:nvSpPr>
          <p:cNvPr id="32" name="TextBox 31"/>
          <p:cNvSpPr txBox="1"/>
          <p:nvPr/>
        </p:nvSpPr>
        <p:spPr>
          <a:xfrm>
            <a:off x="6172200" y="2112264"/>
            <a:ext cx="5486400" cy="256032"/>
          </a:xfrm>
          <a:prstGeom prst="rect">
            <a:avLst/>
          </a:prstGeom>
          <a:noFill/>
        </p:spPr>
        <p:txBody>
          <a:bodyPr wrap="square">
            <a:spAutoFit/>
          </a:bodyPr>
          <a:lstStyle/>
          <a:p>
            <a:pPr algn="l"/>
            <a:r>
              <a:rPr sz="1100" b="0">
                <a:solidFill>
                  <a:srgbClr val="BDD7EE"/>
                </a:solidFill>
              </a:rPr>
              <a:t>Size: 14B dense  ·  Platform: Kaggle A100</a:t>
            </a:r>
          </a:p>
        </p:txBody>
      </p:sp>
      <p:sp>
        <p:nvSpPr>
          <p:cNvPr id="33" name="TextBox 32"/>
          <p:cNvSpPr txBox="1"/>
          <p:nvPr/>
        </p:nvSpPr>
        <p:spPr>
          <a:xfrm>
            <a:off x="6172200" y="2386584"/>
            <a:ext cx="5486400" cy="347472"/>
          </a:xfrm>
          <a:prstGeom prst="rect">
            <a:avLst/>
          </a:prstGeom>
          <a:noFill/>
        </p:spPr>
        <p:txBody>
          <a:bodyPr wrap="square">
            <a:spAutoFit/>
          </a:bodyPr>
          <a:lstStyle/>
          <a:p>
            <a:pPr algn="l"/>
            <a:r>
              <a:rPr sz="1100" b="0">
                <a:solidFill>
                  <a:srgbClr val="F2F2F2"/>
                </a:solidFill>
              </a:rPr>
              <a:t>Recommended: same family as current;
3.5x parameters, direct comparison</a:t>
            </a:r>
          </a:p>
        </p:txBody>
      </p:sp>
      <p:sp>
        <p:nvSpPr>
          <p:cNvPr id="34" name="Rectangle 33"/>
          <p:cNvSpPr/>
          <p:nvPr/>
        </p:nvSpPr>
        <p:spPr>
          <a:xfrm>
            <a:off x="6035040" y="295351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72200" y="3008376"/>
            <a:ext cx="5486400" cy="320040"/>
          </a:xfrm>
          <a:prstGeom prst="rect">
            <a:avLst/>
          </a:prstGeom>
          <a:noFill/>
        </p:spPr>
        <p:txBody>
          <a:bodyPr wrap="square">
            <a:spAutoFit/>
          </a:bodyPr>
          <a:lstStyle/>
          <a:p>
            <a:pPr algn="l"/>
            <a:r>
              <a:rPr sz="1400" b="1">
                <a:solidFill>
                  <a:srgbClr val="FFFFFF"/>
                </a:solidFill>
              </a:rPr>
              <a:t>Qwen3-30B-A3B (MoE)</a:t>
            </a:r>
          </a:p>
        </p:txBody>
      </p:sp>
      <p:sp>
        <p:nvSpPr>
          <p:cNvPr id="36" name="TextBox 35"/>
          <p:cNvSpPr txBox="1"/>
          <p:nvPr/>
        </p:nvSpPr>
        <p:spPr>
          <a:xfrm>
            <a:off x="6172200" y="3346704"/>
            <a:ext cx="5486400" cy="256032"/>
          </a:xfrm>
          <a:prstGeom prst="rect">
            <a:avLst/>
          </a:prstGeom>
          <a:noFill/>
        </p:spPr>
        <p:txBody>
          <a:bodyPr wrap="square">
            <a:spAutoFit/>
          </a:bodyPr>
          <a:lstStyle/>
          <a:p>
            <a:pPr algn="l"/>
            <a:r>
              <a:rPr sz="1100" b="0">
                <a:solidFill>
                  <a:srgbClr val="BDD7EE"/>
                </a:solidFill>
              </a:rPr>
              <a:t>Size: 30B / 3B active  ·  Platform: Kaggle A100</a:t>
            </a:r>
          </a:p>
        </p:txBody>
      </p:sp>
      <p:sp>
        <p:nvSpPr>
          <p:cNvPr id="37" name="TextBox 36"/>
          <p:cNvSpPr txBox="1"/>
          <p:nvPr/>
        </p:nvSpPr>
        <p:spPr>
          <a:xfrm>
            <a:off x="6172200" y="3621024"/>
            <a:ext cx="5486400" cy="347472"/>
          </a:xfrm>
          <a:prstGeom prst="rect">
            <a:avLst/>
          </a:prstGeom>
          <a:noFill/>
        </p:spPr>
        <p:txBody>
          <a:bodyPr wrap="square">
            <a:spAutoFit/>
          </a:bodyPr>
          <a:lstStyle/>
          <a:p>
            <a:pPr algn="l"/>
            <a:r>
              <a:rPr sz="1100" b="0">
                <a:solidFill>
                  <a:srgbClr val="F2F2F2"/>
                </a:solidFill>
              </a:rPr>
              <a:t>Efficient MoE; near 14B quality
at fraction of compute</a:t>
            </a:r>
          </a:p>
        </p:txBody>
      </p:sp>
      <p:sp>
        <p:nvSpPr>
          <p:cNvPr id="38" name="Rectangle 37"/>
          <p:cNvSpPr/>
          <p:nvPr/>
        </p:nvSpPr>
        <p:spPr>
          <a:xfrm>
            <a:off x="6035040" y="418795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172200" y="4242816"/>
            <a:ext cx="5486400" cy="320040"/>
          </a:xfrm>
          <a:prstGeom prst="rect">
            <a:avLst/>
          </a:prstGeom>
          <a:noFill/>
        </p:spPr>
        <p:txBody>
          <a:bodyPr wrap="square">
            <a:spAutoFit/>
          </a:bodyPr>
          <a:lstStyle/>
          <a:p>
            <a:pPr algn="l"/>
            <a:r>
              <a:rPr sz="1400" b="1">
                <a:solidFill>
                  <a:srgbClr val="FFFFFF"/>
                </a:solidFill>
              </a:rPr>
              <a:t>Qwen3-32B</a:t>
            </a:r>
          </a:p>
        </p:txBody>
      </p:sp>
      <p:sp>
        <p:nvSpPr>
          <p:cNvPr id="40" name="TextBox 39"/>
          <p:cNvSpPr txBox="1"/>
          <p:nvPr/>
        </p:nvSpPr>
        <p:spPr>
          <a:xfrm>
            <a:off x="6172200" y="4581144"/>
            <a:ext cx="5486400" cy="256032"/>
          </a:xfrm>
          <a:prstGeom prst="rect">
            <a:avLst/>
          </a:prstGeom>
          <a:noFill/>
        </p:spPr>
        <p:txBody>
          <a:bodyPr wrap="square">
            <a:spAutoFit/>
          </a:bodyPr>
          <a:lstStyle/>
          <a:p>
            <a:pPr algn="l"/>
            <a:r>
              <a:rPr sz="1100" b="0">
                <a:solidFill>
                  <a:srgbClr val="BDD7EE"/>
                </a:solidFill>
              </a:rPr>
              <a:t>Size: 32B dense  ·  Platform: 2x Kaggle A100</a:t>
            </a:r>
          </a:p>
        </p:txBody>
      </p:sp>
      <p:sp>
        <p:nvSpPr>
          <p:cNvPr id="41" name="TextBox 40"/>
          <p:cNvSpPr txBox="1"/>
          <p:nvPr/>
        </p:nvSpPr>
        <p:spPr>
          <a:xfrm>
            <a:off x="6172200" y="4855464"/>
            <a:ext cx="5486400" cy="347472"/>
          </a:xfrm>
          <a:prstGeom prst="rect">
            <a:avLst/>
          </a:prstGeom>
          <a:noFill/>
        </p:spPr>
        <p:txBody>
          <a:bodyPr wrap="square">
            <a:spAutoFit/>
          </a:bodyPr>
          <a:lstStyle/>
          <a:p>
            <a:pPr algn="l"/>
            <a:r>
              <a:rPr sz="1100" b="0">
                <a:solidFill>
                  <a:srgbClr val="F2F2F2"/>
                </a:solidFill>
              </a:rPr>
              <a:t>Largest accessible Qwen3;
may need quantization</a:t>
            </a:r>
          </a:p>
        </p:txBody>
      </p:sp>
      <p:sp>
        <p:nvSpPr>
          <p:cNvPr id="42" name="Rectangle 41"/>
          <p:cNvSpPr/>
          <p:nvPr/>
        </p:nvSpPr>
        <p:spPr>
          <a:xfrm>
            <a:off x="6035040" y="542239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172200" y="5477256"/>
            <a:ext cx="5486400" cy="320040"/>
          </a:xfrm>
          <a:prstGeom prst="rect">
            <a:avLst/>
          </a:prstGeom>
          <a:noFill/>
        </p:spPr>
        <p:txBody>
          <a:bodyPr wrap="square">
            <a:spAutoFit/>
          </a:bodyPr>
          <a:lstStyle/>
          <a:p>
            <a:pPr algn="l"/>
            <a:r>
              <a:rPr sz="1400" b="1">
                <a:solidFill>
                  <a:srgbClr val="FFFFFF"/>
                </a:solidFill>
              </a:rPr>
              <a:t>Llama-3.3-70B-Q4</a:t>
            </a:r>
          </a:p>
        </p:txBody>
      </p:sp>
      <p:sp>
        <p:nvSpPr>
          <p:cNvPr id="44" name="TextBox 43"/>
          <p:cNvSpPr txBox="1"/>
          <p:nvPr/>
        </p:nvSpPr>
        <p:spPr>
          <a:xfrm>
            <a:off x="6172200" y="5815584"/>
            <a:ext cx="5486400" cy="256032"/>
          </a:xfrm>
          <a:prstGeom prst="rect">
            <a:avLst/>
          </a:prstGeom>
          <a:noFill/>
        </p:spPr>
        <p:txBody>
          <a:bodyPr wrap="square">
            <a:spAutoFit/>
          </a:bodyPr>
          <a:lstStyle/>
          <a:p>
            <a:pPr algn="l"/>
            <a:r>
              <a:rPr sz="1100" b="0">
                <a:solidFill>
                  <a:srgbClr val="BDD7EE"/>
                </a:solidFill>
              </a:rPr>
              <a:t>Size: 70B (4-bit)  ·  Platform: Colab Pro+</a:t>
            </a:r>
          </a:p>
        </p:txBody>
      </p:sp>
      <p:sp>
        <p:nvSpPr>
          <p:cNvPr id="45" name="TextBox 44"/>
          <p:cNvSpPr txBox="1"/>
          <p:nvPr/>
        </p:nvSpPr>
        <p:spPr>
          <a:xfrm>
            <a:off x="6172200" y="6089904"/>
            <a:ext cx="5486400" cy="347472"/>
          </a:xfrm>
          <a:prstGeom prst="rect">
            <a:avLst/>
          </a:prstGeom>
          <a:noFill/>
        </p:spPr>
        <p:txBody>
          <a:bodyPr wrap="square">
            <a:spAutoFit/>
          </a:bodyPr>
          <a:lstStyle/>
          <a:p>
            <a:pPr algn="l"/>
            <a:r>
              <a:rPr sz="1100" b="0">
                <a:solidFill>
                  <a:srgbClr val="F2F2F2"/>
                </a:solidFill>
              </a:rPr>
              <a:t>Strong Arabic; higher cost;
different architecture</a:t>
            </a:r>
          </a:p>
        </p:txBody>
      </p:sp>
      <p:sp>
        <p:nvSpPr>
          <p:cNvPr id="46" name="TextBox 45"/>
          <p:cNvSpPr txBox="1"/>
          <p:nvPr/>
        </p:nvSpPr>
        <p:spPr>
          <a:xfrm>
            <a:off x="6080760" y="6510528"/>
            <a:ext cx="5669280" cy="274320"/>
          </a:xfrm>
          <a:prstGeom prst="rect">
            <a:avLst/>
          </a:prstGeom>
          <a:noFill/>
        </p:spPr>
        <p:txBody>
          <a:bodyPr wrap="square">
            <a:spAutoFit/>
          </a:bodyPr>
          <a:lstStyle/>
          <a:p>
            <a:pPr algn="l"/>
            <a:r>
              <a:rPr sz="1200" b="1">
                <a:solidFill>
                  <a:srgbClr val="FFC000"/>
                </a:solidFill>
              </a:rPr>
              <a:t>Start with Qwen3-14B — same tokenizer, minimal code changes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Next Steps &amp; Timeline</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Two targeted experiments before thesis finalisation</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13 / 15</a:t>
            </a:r>
          </a:p>
        </p:txBody>
      </p:sp>
      <p:sp>
        <p:nvSpPr>
          <p:cNvPr id="6" name="Rectangle 5"/>
          <p:cNvSpPr/>
          <p:nvPr/>
        </p:nvSpPr>
        <p:spPr>
          <a:xfrm>
            <a:off x="320040" y="1280160"/>
            <a:ext cx="502920" cy="1188720"/>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600200"/>
            <a:ext cx="502920" cy="502920"/>
          </a:xfrm>
          <a:prstGeom prst="rect">
            <a:avLst/>
          </a:prstGeom>
          <a:noFill/>
        </p:spPr>
        <p:txBody>
          <a:bodyPr wrap="square">
            <a:spAutoFit/>
          </a:bodyPr>
          <a:lstStyle/>
          <a:p>
            <a:pPr algn="ctr"/>
            <a:r>
              <a:rPr sz="2800" b="1">
                <a:solidFill>
                  <a:srgbClr val="FFFFFF"/>
                </a:solidFill>
              </a:rPr>
              <a:t>1</a:t>
            </a:r>
          </a:p>
        </p:txBody>
      </p:sp>
      <p:sp>
        <p:nvSpPr>
          <p:cNvPr id="8" name="Rectangle 7"/>
          <p:cNvSpPr/>
          <p:nvPr/>
        </p:nvSpPr>
        <p:spPr>
          <a:xfrm>
            <a:off x="868680" y="1280160"/>
            <a:ext cx="9921240" cy="1188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325880"/>
            <a:ext cx="7772400" cy="347472"/>
          </a:xfrm>
          <a:prstGeom prst="rect">
            <a:avLst/>
          </a:prstGeom>
          <a:noFill/>
        </p:spPr>
        <p:txBody>
          <a:bodyPr wrap="square">
            <a:spAutoFit/>
          </a:bodyPr>
          <a:lstStyle/>
          <a:p>
            <a:pPr algn="l"/>
            <a:r>
              <a:rPr sz="1400" b="1">
                <a:solidFill>
                  <a:srgbClr val="1F3864"/>
                </a:solidFill>
              </a:rPr>
              <a:t>Implement p2v3 (ultra-conservative prompt)</a:t>
            </a:r>
          </a:p>
        </p:txBody>
      </p:sp>
      <p:sp>
        <p:nvSpPr>
          <p:cNvPr id="10" name="TextBox 9"/>
          <p:cNvSpPr txBox="1"/>
          <p:nvPr/>
        </p:nvSpPr>
        <p:spPr>
          <a:xfrm>
            <a:off x="960120" y="1691640"/>
            <a:ext cx="7772400" cy="685800"/>
          </a:xfrm>
          <a:prstGeom prst="rect">
            <a:avLst/>
          </a:prstGeom>
          <a:noFill/>
        </p:spPr>
        <p:txBody>
          <a:bodyPr wrap="square">
            <a:spAutoFit/>
          </a:bodyPr>
          <a:lstStyle/>
          <a:p>
            <a:pPr algn="l"/>
            <a:r>
              <a:rPr sz="1100" b="0">
                <a:solidFill>
                  <a:srgbClr val="404040"/>
                </a:solidFill>
              </a:rPr>
              <a:t>Add prompt version to PromptBuilder.build_zero_shot(version='v3')
Update config to allow phase2.prompt_version: p2v3
Run export → infer → analyze on all 9 datasets</a:t>
            </a:r>
          </a:p>
        </p:txBody>
      </p:sp>
      <p:sp>
        <p:nvSpPr>
          <p:cNvPr id="11" name="Rectangle 10"/>
          <p:cNvSpPr/>
          <p:nvPr/>
        </p:nvSpPr>
        <p:spPr>
          <a:xfrm>
            <a:off x="10835640" y="1280160"/>
            <a:ext cx="987552" cy="1188720"/>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835640" y="1600200"/>
            <a:ext cx="987552" cy="548640"/>
          </a:xfrm>
          <a:prstGeom prst="rect">
            <a:avLst/>
          </a:prstGeom>
          <a:noFill/>
        </p:spPr>
        <p:txBody>
          <a:bodyPr wrap="square">
            <a:spAutoFit/>
          </a:bodyPr>
          <a:lstStyle/>
          <a:p>
            <a:pPr algn="ctr"/>
            <a:r>
              <a:rPr sz="1100" b="1">
                <a:solidFill>
                  <a:srgbClr val="FFFFFF"/>
                </a:solidFill>
              </a:rPr>
              <a:t>~1 week</a:t>
            </a:r>
          </a:p>
        </p:txBody>
      </p:sp>
      <p:sp>
        <p:nvSpPr>
          <p:cNvPr id="13" name="Rectangle 12"/>
          <p:cNvSpPr/>
          <p:nvPr/>
        </p:nvSpPr>
        <p:spPr>
          <a:xfrm>
            <a:off x="320040" y="2651760"/>
            <a:ext cx="502920" cy="118872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2971800"/>
            <a:ext cx="502920" cy="502920"/>
          </a:xfrm>
          <a:prstGeom prst="rect">
            <a:avLst/>
          </a:prstGeom>
          <a:noFill/>
        </p:spPr>
        <p:txBody>
          <a:bodyPr wrap="square">
            <a:spAutoFit/>
          </a:bodyPr>
          <a:lstStyle/>
          <a:p>
            <a:pPr algn="ctr"/>
            <a:r>
              <a:rPr sz="2800" b="1">
                <a:solidFill>
                  <a:srgbClr val="FFFFFF"/>
                </a:solidFill>
              </a:rPr>
              <a:t>2</a:t>
            </a:r>
          </a:p>
        </p:txBody>
      </p:sp>
      <p:sp>
        <p:nvSpPr>
          <p:cNvPr id="15" name="Rectangle 14"/>
          <p:cNvSpPr/>
          <p:nvPr/>
        </p:nvSpPr>
        <p:spPr>
          <a:xfrm>
            <a:off x="868680" y="2651760"/>
            <a:ext cx="9921240" cy="1188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2697480"/>
            <a:ext cx="7772400" cy="347472"/>
          </a:xfrm>
          <a:prstGeom prst="rect">
            <a:avLst/>
          </a:prstGeom>
          <a:noFill/>
        </p:spPr>
        <p:txBody>
          <a:bodyPr wrap="square">
            <a:spAutoFit/>
          </a:bodyPr>
          <a:lstStyle/>
          <a:p>
            <a:pPr algn="l"/>
            <a:r>
              <a:rPr sz="1400" b="1">
                <a:solidFill>
                  <a:srgbClr val="1F3864"/>
                </a:solidFill>
              </a:rPr>
              <a:t>Run p2v2 + p2v3 on Qwen3-14B</a:t>
            </a:r>
          </a:p>
        </p:txBody>
      </p:sp>
      <p:sp>
        <p:nvSpPr>
          <p:cNvPr id="17" name="TextBox 16"/>
          <p:cNvSpPr txBox="1"/>
          <p:nvPr/>
        </p:nvSpPr>
        <p:spPr>
          <a:xfrm>
            <a:off x="960120" y="3063240"/>
            <a:ext cx="7772400" cy="685800"/>
          </a:xfrm>
          <a:prstGeom prst="rect">
            <a:avLst/>
          </a:prstGeom>
          <a:noFill/>
        </p:spPr>
        <p:txBody>
          <a:bodyPr wrap="square">
            <a:spAutoFit/>
          </a:bodyPr>
          <a:lstStyle/>
          <a:p>
            <a:pPr algn="l"/>
            <a:r>
              <a:rPr sz="1100" b="0">
                <a:solidFill>
                  <a:srgbClr val="404040"/>
                </a:solidFill>
              </a:rPr>
              <a:t>Use same 3-stage pipeline (export → infer on Kaggle A100 → analyze)
Compare: 4B-p2v2, 4B-p2v3, 14B-p2v2, 14B-p2v3 (2x2 design)
Also run Phase 8 (RAG) with 14B to measure retrieval interaction</a:t>
            </a:r>
          </a:p>
        </p:txBody>
      </p:sp>
      <p:sp>
        <p:nvSpPr>
          <p:cNvPr id="18" name="Rectangle 17"/>
          <p:cNvSpPr/>
          <p:nvPr/>
        </p:nvSpPr>
        <p:spPr>
          <a:xfrm>
            <a:off x="10835640" y="2651760"/>
            <a:ext cx="987552" cy="118872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2971800"/>
            <a:ext cx="987552" cy="548640"/>
          </a:xfrm>
          <a:prstGeom prst="rect">
            <a:avLst/>
          </a:prstGeom>
          <a:noFill/>
        </p:spPr>
        <p:txBody>
          <a:bodyPr wrap="square">
            <a:spAutoFit/>
          </a:bodyPr>
          <a:lstStyle/>
          <a:p>
            <a:pPr algn="ctr"/>
            <a:r>
              <a:rPr sz="1100" b="1">
                <a:solidFill>
                  <a:srgbClr val="FFFFFF"/>
                </a:solidFill>
              </a:rPr>
              <a:t>~2 weeks</a:t>
            </a:r>
          </a:p>
        </p:txBody>
      </p:sp>
      <p:sp>
        <p:nvSpPr>
          <p:cNvPr id="20" name="Rectangle 19"/>
          <p:cNvSpPr/>
          <p:nvPr/>
        </p:nvSpPr>
        <p:spPr>
          <a:xfrm>
            <a:off x="320040" y="4023360"/>
            <a:ext cx="502920" cy="11887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 y="4343400"/>
            <a:ext cx="502920" cy="502920"/>
          </a:xfrm>
          <a:prstGeom prst="rect">
            <a:avLst/>
          </a:prstGeom>
          <a:noFill/>
        </p:spPr>
        <p:txBody>
          <a:bodyPr wrap="square">
            <a:spAutoFit/>
          </a:bodyPr>
          <a:lstStyle/>
          <a:p>
            <a:pPr algn="ctr"/>
            <a:r>
              <a:rPr sz="2800" b="1">
                <a:solidFill>
                  <a:srgbClr val="FFFFFF"/>
                </a:solidFill>
              </a:rPr>
              <a:t>3</a:t>
            </a:r>
          </a:p>
        </p:txBody>
      </p:sp>
      <p:sp>
        <p:nvSpPr>
          <p:cNvPr id="22" name="Rectangle 21"/>
          <p:cNvSpPr/>
          <p:nvPr/>
        </p:nvSpPr>
        <p:spPr>
          <a:xfrm>
            <a:off x="868680" y="4023360"/>
            <a:ext cx="9921240" cy="1188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0120" y="4069080"/>
            <a:ext cx="7772400" cy="347472"/>
          </a:xfrm>
          <a:prstGeom prst="rect">
            <a:avLst/>
          </a:prstGeom>
          <a:noFill/>
        </p:spPr>
        <p:txBody>
          <a:bodyPr wrap="square">
            <a:spAutoFit/>
          </a:bodyPr>
          <a:lstStyle/>
          <a:p>
            <a:pPr algn="l"/>
            <a:r>
              <a:rPr sz="1400" b="1">
                <a:solidFill>
                  <a:srgbClr val="1F3864"/>
                </a:solidFill>
              </a:rPr>
              <a:t>Statistical significance testing</a:t>
            </a:r>
          </a:p>
        </p:txBody>
      </p:sp>
      <p:sp>
        <p:nvSpPr>
          <p:cNvPr id="24" name="TextBox 23"/>
          <p:cNvSpPr txBox="1"/>
          <p:nvPr/>
        </p:nvSpPr>
        <p:spPr>
          <a:xfrm>
            <a:off x="960120" y="4434840"/>
            <a:ext cx="7772400" cy="685800"/>
          </a:xfrm>
          <a:prstGeom prst="rect">
            <a:avLst/>
          </a:prstGeom>
          <a:noFill/>
        </p:spPr>
        <p:txBody>
          <a:bodyPr wrap="square">
            <a:spAutoFit/>
          </a:bodyPr>
          <a:lstStyle/>
          <a:p>
            <a:pPr algn="l"/>
            <a:r>
              <a:rPr sz="1100" b="0">
                <a:solidFill>
                  <a:srgbClr val="404040"/>
                </a:solidFill>
              </a:rPr>
              <a:t>Run bootstrap CIs + paired t-test for best results vs Phase 2 baseline
Bonferroni correction for multiple comparisons across 9 datasets
Also: Wilcoxon signed-rank for non-normal per-sample CER distributions</a:t>
            </a:r>
          </a:p>
        </p:txBody>
      </p:sp>
      <p:sp>
        <p:nvSpPr>
          <p:cNvPr id="25" name="Rectangle 24"/>
          <p:cNvSpPr/>
          <p:nvPr/>
        </p:nvSpPr>
        <p:spPr>
          <a:xfrm>
            <a:off x="10835640" y="4023360"/>
            <a:ext cx="987552" cy="11887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835640" y="4343400"/>
            <a:ext cx="987552" cy="548640"/>
          </a:xfrm>
          <a:prstGeom prst="rect">
            <a:avLst/>
          </a:prstGeom>
          <a:noFill/>
        </p:spPr>
        <p:txBody>
          <a:bodyPr wrap="square">
            <a:spAutoFit/>
          </a:bodyPr>
          <a:lstStyle/>
          <a:p>
            <a:pPr algn="ctr"/>
            <a:r>
              <a:rPr sz="1100" b="1">
                <a:solidFill>
                  <a:srgbClr val="FFFFFF"/>
                </a:solidFill>
              </a:rPr>
              <a:t>~3 days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Discussion Points for Professor Meeting</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14 / 15</a:t>
            </a:r>
          </a:p>
        </p:txBody>
      </p:sp>
      <p:sp>
        <p:nvSpPr>
          <p:cNvPr id="5" name="Rectangle 4"/>
          <p:cNvSpPr/>
          <p:nvPr/>
        </p:nvSpPr>
        <p:spPr>
          <a:xfrm>
            <a:off x="320040" y="1234440"/>
            <a:ext cx="11548872" cy="914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71016"/>
            <a:ext cx="11338560" cy="320040"/>
          </a:xfrm>
          <a:prstGeom prst="rect">
            <a:avLst/>
          </a:prstGeom>
          <a:noFill/>
        </p:spPr>
        <p:txBody>
          <a:bodyPr wrap="square">
            <a:spAutoFit/>
          </a:bodyPr>
          <a:lstStyle/>
          <a:p>
            <a:pPr algn="l"/>
            <a:r>
              <a:rPr sz="1400" b="1">
                <a:solidFill>
                  <a:srgbClr val="1F3864"/>
                </a:solidFill>
              </a:rPr>
              <a:t>1. Scope of next experiments</a:t>
            </a:r>
          </a:p>
        </p:txBody>
      </p:sp>
      <p:sp>
        <p:nvSpPr>
          <p:cNvPr id="7" name="TextBox 6"/>
          <p:cNvSpPr txBox="1"/>
          <p:nvPr/>
        </p:nvSpPr>
        <p:spPr>
          <a:xfrm>
            <a:off x="457200" y="1618488"/>
            <a:ext cx="11338560" cy="457200"/>
          </a:xfrm>
          <a:prstGeom prst="rect">
            <a:avLst/>
          </a:prstGeom>
          <a:noFill/>
        </p:spPr>
        <p:txBody>
          <a:bodyPr wrap="square">
            <a:spAutoFit/>
          </a:bodyPr>
          <a:lstStyle/>
          <a:p>
            <a:pPr algn="l"/>
            <a:r>
              <a:rPr sz="1200" b="0">
                <a:solidFill>
                  <a:srgbClr val="404040"/>
                </a:solidFill>
              </a:rPr>
              <a:t>Should p2v3 and Qwen3-14B runs be included in the thesis as separate phases, or positioned as ablations/sensitivity analyses within existing chapters?</a:t>
            </a:r>
          </a:p>
        </p:txBody>
      </p:sp>
      <p:sp>
        <p:nvSpPr>
          <p:cNvPr id="8" name="Rectangle 7"/>
          <p:cNvSpPr/>
          <p:nvPr/>
        </p:nvSpPr>
        <p:spPr>
          <a:xfrm>
            <a:off x="320040" y="2240280"/>
            <a:ext cx="11548872" cy="914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276856"/>
            <a:ext cx="11338560" cy="320040"/>
          </a:xfrm>
          <a:prstGeom prst="rect">
            <a:avLst/>
          </a:prstGeom>
          <a:noFill/>
        </p:spPr>
        <p:txBody>
          <a:bodyPr wrap="square">
            <a:spAutoFit/>
          </a:bodyPr>
          <a:lstStyle/>
          <a:p>
            <a:pPr algn="l"/>
            <a:r>
              <a:rPr sz="1400" b="1">
                <a:solidFill>
                  <a:srgbClr val="1F3864"/>
                </a:solidFill>
              </a:rPr>
              <a:t>2. Tahoma anomaly</a:t>
            </a:r>
          </a:p>
        </p:txBody>
      </p:sp>
      <p:sp>
        <p:nvSpPr>
          <p:cNvPr id="10" name="TextBox 9"/>
          <p:cNvSpPr txBox="1"/>
          <p:nvPr/>
        </p:nvSpPr>
        <p:spPr>
          <a:xfrm>
            <a:off x="457200" y="2624328"/>
            <a:ext cx="11338560" cy="457200"/>
          </a:xfrm>
          <a:prstGeom prst="rect">
            <a:avLst/>
          </a:prstGeom>
          <a:noFill/>
        </p:spPr>
        <p:txBody>
          <a:bodyPr wrap="square">
            <a:spAutoFit/>
          </a:bodyPr>
          <a:lstStyle/>
          <a:p>
            <a:pPr algn="l"/>
            <a:r>
              <a:rPr sz="1200" b="0">
                <a:solidFill>
                  <a:srgbClr val="404040"/>
                </a:solidFill>
              </a:rPr>
              <a:t>Tahoma is the only font where NO phase beats the OCR baseline. Should we investigate why (font-specific confusion patterns, runaway rate 10.4%) or treat it as a limitation?</a:t>
            </a:r>
          </a:p>
        </p:txBody>
      </p:sp>
      <p:sp>
        <p:nvSpPr>
          <p:cNvPr id="11" name="Rectangle 10"/>
          <p:cNvSpPr/>
          <p:nvPr/>
        </p:nvSpPr>
        <p:spPr>
          <a:xfrm>
            <a:off x="320040" y="3246120"/>
            <a:ext cx="11548872" cy="914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3282696"/>
            <a:ext cx="11338560" cy="320040"/>
          </a:xfrm>
          <a:prstGeom prst="rect">
            <a:avLst/>
          </a:prstGeom>
          <a:noFill/>
        </p:spPr>
        <p:txBody>
          <a:bodyPr wrap="square">
            <a:spAutoFit/>
          </a:bodyPr>
          <a:lstStyle/>
          <a:p>
            <a:pPr algn="l"/>
            <a:r>
              <a:rPr sz="1400" b="1">
                <a:solidFill>
                  <a:srgbClr val="1F3864"/>
                </a:solidFill>
              </a:rPr>
              <a:t>3. KHATT vs PATS reporting</a:t>
            </a:r>
          </a:p>
        </p:txBody>
      </p:sp>
      <p:sp>
        <p:nvSpPr>
          <p:cNvPr id="13" name="TextBox 12"/>
          <p:cNvSpPr txBox="1"/>
          <p:nvPr/>
        </p:nvSpPr>
        <p:spPr>
          <a:xfrm>
            <a:off x="457200" y="3630168"/>
            <a:ext cx="11338560" cy="457200"/>
          </a:xfrm>
          <a:prstGeom prst="rect">
            <a:avLst/>
          </a:prstGeom>
          <a:noFill/>
        </p:spPr>
        <p:txBody>
          <a:bodyPr wrap="square">
            <a:spAutoFit/>
          </a:bodyPr>
          <a:lstStyle/>
          <a:p>
            <a:pPr algn="l"/>
            <a:r>
              <a:rPr sz="1200" b="0">
                <a:solidFill>
                  <a:srgbClr val="404040"/>
                </a:solidFill>
              </a:rPr>
              <a:t>Given the two domains behave so differently, should we report them separately throughout the thesis rather than averaging across all datasets?</a:t>
            </a:r>
          </a:p>
        </p:txBody>
      </p:sp>
      <p:sp>
        <p:nvSpPr>
          <p:cNvPr id="14" name="Rectangle 13"/>
          <p:cNvSpPr/>
          <p:nvPr/>
        </p:nvSpPr>
        <p:spPr>
          <a:xfrm>
            <a:off x="320040" y="4251960"/>
            <a:ext cx="11548872" cy="914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4288536"/>
            <a:ext cx="11338560" cy="320040"/>
          </a:xfrm>
          <a:prstGeom prst="rect">
            <a:avLst/>
          </a:prstGeom>
          <a:noFill/>
        </p:spPr>
        <p:txBody>
          <a:bodyPr wrap="square">
            <a:spAutoFit/>
          </a:bodyPr>
          <a:lstStyle/>
          <a:p>
            <a:pPr algn="l"/>
            <a:r>
              <a:rPr sz="1400" b="1">
                <a:solidFill>
                  <a:srgbClr val="1F3864"/>
                </a:solidFill>
              </a:rPr>
              <a:t>4. Statistical testing</a:t>
            </a:r>
          </a:p>
        </p:txBody>
      </p:sp>
      <p:sp>
        <p:nvSpPr>
          <p:cNvPr id="16" name="TextBox 15"/>
          <p:cNvSpPr txBox="1"/>
          <p:nvPr/>
        </p:nvSpPr>
        <p:spPr>
          <a:xfrm>
            <a:off x="457200" y="4636008"/>
            <a:ext cx="11338560" cy="457200"/>
          </a:xfrm>
          <a:prstGeom prst="rect">
            <a:avLst/>
          </a:prstGeom>
          <a:noFill/>
        </p:spPr>
        <p:txBody>
          <a:bodyPr wrap="square">
            <a:spAutoFit/>
          </a:bodyPr>
          <a:lstStyle/>
          <a:p>
            <a:pPr algn="l"/>
            <a:r>
              <a:rPr sz="1200" b="0">
                <a:solidFill>
                  <a:srgbClr val="404040"/>
                </a:solidFill>
              </a:rPr>
              <a:t>Bootstrap CI + paired t-test on Phase 7 (RAG) vs Phase 2: is this sufficient, or should we use a non-parametric test (Wilcoxon signed-rank) given the non-normal distribution of per-sample CER?</a:t>
            </a:r>
          </a:p>
        </p:txBody>
      </p:sp>
      <p:sp>
        <p:nvSpPr>
          <p:cNvPr id="17" name="Rectangle 16"/>
          <p:cNvSpPr/>
          <p:nvPr/>
        </p:nvSpPr>
        <p:spPr>
          <a:xfrm>
            <a:off x="320040" y="5257800"/>
            <a:ext cx="11548872" cy="914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5294376"/>
            <a:ext cx="11338560" cy="320040"/>
          </a:xfrm>
          <a:prstGeom prst="rect">
            <a:avLst/>
          </a:prstGeom>
          <a:noFill/>
        </p:spPr>
        <p:txBody>
          <a:bodyPr wrap="square">
            <a:spAutoFit/>
          </a:bodyPr>
          <a:lstStyle/>
          <a:p>
            <a:pPr algn="l"/>
            <a:r>
              <a:rPr sz="1400" b="1">
                <a:solidFill>
                  <a:srgbClr val="1F3864"/>
                </a:solidFill>
              </a:rPr>
              <a:t>5. Selective correction strategy</a:t>
            </a:r>
          </a:p>
        </p:txBody>
      </p:sp>
      <p:sp>
        <p:nvSpPr>
          <p:cNvPr id="19" name="TextBox 18"/>
          <p:cNvSpPr txBox="1"/>
          <p:nvPr/>
        </p:nvSpPr>
        <p:spPr>
          <a:xfrm>
            <a:off x="457200" y="5641848"/>
            <a:ext cx="11338560" cy="457200"/>
          </a:xfrm>
          <a:prstGeom prst="rect">
            <a:avLst/>
          </a:prstGeom>
          <a:noFill/>
        </p:spPr>
        <p:txBody>
          <a:bodyPr wrap="square">
            <a:spAutoFit/>
          </a:bodyPr>
          <a:lstStyle/>
          <a:p>
            <a:pPr algn="l"/>
            <a:r>
              <a:rPr sz="1200" b="0">
                <a:solidFill>
                  <a:srgbClr val="404040"/>
                </a:solidFill>
              </a:rPr>
              <a:t>Results show LLM correction is harmful below ~1.5% CER. Is it worth adding a sample-level confidence gate (detect high-error samples first, then apply LLM only where beneficial) before finalising the thesis?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560320"/>
            <a:ext cx="12188952" cy="7315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698480" cy="822960"/>
          </a:xfrm>
          <a:prstGeom prst="rect">
            <a:avLst/>
          </a:prstGeom>
          <a:noFill/>
        </p:spPr>
        <p:txBody>
          <a:bodyPr wrap="square">
            <a:spAutoFit/>
          </a:bodyPr>
          <a:lstStyle/>
          <a:p>
            <a:pPr algn="ctr"/>
            <a:r>
              <a:rPr sz="3600" b="1">
                <a:solidFill>
                  <a:srgbClr val="FFFFFF"/>
                </a:solidFill>
              </a:rPr>
              <a:t>Summary</a:t>
            </a:r>
          </a:p>
        </p:txBody>
      </p:sp>
      <p:sp>
        <p:nvSpPr>
          <p:cNvPr id="5" name="Rectangle 4"/>
          <p:cNvSpPr/>
          <p:nvPr/>
        </p:nvSpPr>
        <p:spPr>
          <a:xfrm>
            <a:off x="548640" y="3017520"/>
            <a:ext cx="457200" cy="822960"/>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51560" y="301752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3054096"/>
            <a:ext cx="10332720" cy="320040"/>
          </a:xfrm>
          <a:prstGeom prst="rect">
            <a:avLst/>
          </a:prstGeom>
          <a:noFill/>
        </p:spPr>
        <p:txBody>
          <a:bodyPr wrap="square">
            <a:spAutoFit/>
          </a:bodyPr>
          <a:lstStyle/>
          <a:p>
            <a:pPr algn="l"/>
            <a:r>
              <a:rPr sz="1500" b="1">
                <a:solidFill>
                  <a:srgbClr val="FFFFFF"/>
                </a:solidFill>
              </a:rPr>
              <a:t>LLMs work well on high-error Arabic OCR</a:t>
            </a:r>
          </a:p>
        </p:txBody>
      </p:sp>
      <p:sp>
        <p:nvSpPr>
          <p:cNvPr id="8" name="TextBox 7"/>
          <p:cNvSpPr txBox="1"/>
          <p:nvPr/>
        </p:nvSpPr>
        <p:spPr>
          <a:xfrm>
            <a:off x="1188720" y="3429000"/>
            <a:ext cx="10332720" cy="347472"/>
          </a:xfrm>
          <a:prstGeom prst="rect">
            <a:avLst/>
          </a:prstGeom>
          <a:noFill/>
        </p:spPr>
        <p:txBody>
          <a:bodyPr wrap="square">
            <a:spAutoFit/>
          </a:bodyPr>
          <a:lstStyle/>
          <a:p>
            <a:pPr algn="l"/>
            <a:r>
              <a:rPr sz="1300" b="0">
                <a:solidFill>
                  <a:srgbClr val="BDD7EE"/>
                </a:solidFill>
              </a:rPr>
              <a:t>KHATT: 51% CER reduction (5.66% → 2.77%) using RAG + Qwen3-4B</a:t>
            </a:r>
          </a:p>
        </p:txBody>
      </p:sp>
      <p:sp>
        <p:nvSpPr>
          <p:cNvPr id="9" name="Rectangle 8"/>
          <p:cNvSpPr/>
          <p:nvPr/>
        </p:nvSpPr>
        <p:spPr>
          <a:xfrm>
            <a:off x="548640" y="3977640"/>
            <a:ext cx="457200" cy="8229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51560" y="397764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88720" y="4014216"/>
            <a:ext cx="10332720" cy="320040"/>
          </a:xfrm>
          <a:prstGeom prst="rect">
            <a:avLst/>
          </a:prstGeom>
          <a:noFill/>
        </p:spPr>
        <p:txBody>
          <a:bodyPr wrap="square">
            <a:spAutoFit/>
          </a:bodyPr>
          <a:lstStyle/>
          <a:p>
            <a:pPr algn="l"/>
            <a:r>
              <a:rPr sz="1500" b="1">
                <a:solidFill>
                  <a:srgbClr val="FFFFFF"/>
                </a:solidFill>
              </a:rPr>
              <a:t>Prompt engineering regresses on low-error text</a:t>
            </a:r>
          </a:p>
        </p:txBody>
      </p:sp>
      <p:sp>
        <p:nvSpPr>
          <p:cNvPr id="12" name="TextBox 11"/>
          <p:cNvSpPr txBox="1"/>
          <p:nvPr/>
        </p:nvSpPr>
        <p:spPr>
          <a:xfrm>
            <a:off x="1188720" y="4389120"/>
            <a:ext cx="10332720" cy="347472"/>
          </a:xfrm>
          <a:prstGeom prst="rect">
            <a:avLst/>
          </a:prstGeom>
          <a:noFill/>
        </p:spPr>
        <p:txBody>
          <a:bodyPr wrap="square">
            <a:spAutoFit/>
          </a:bodyPr>
          <a:lstStyle/>
          <a:p>
            <a:pPr algn="l"/>
            <a:r>
              <a:rPr sz="1300" b="0">
                <a:solidFill>
                  <a:srgbClr val="BDD7EE"/>
                </a:solidFill>
              </a:rPr>
              <a:t>PATS phases 3/4/6 increase CER vs zero-shot — over-correction at low noise floor</a:t>
            </a:r>
          </a:p>
        </p:txBody>
      </p:sp>
      <p:sp>
        <p:nvSpPr>
          <p:cNvPr id="13" name="Rectangle 12"/>
          <p:cNvSpPr/>
          <p:nvPr/>
        </p:nvSpPr>
        <p:spPr>
          <a:xfrm>
            <a:off x="548640" y="4937760"/>
            <a:ext cx="457200" cy="82296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51560" y="493776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88720" y="4974336"/>
            <a:ext cx="10332720" cy="320040"/>
          </a:xfrm>
          <a:prstGeom prst="rect">
            <a:avLst/>
          </a:prstGeom>
          <a:noFill/>
        </p:spPr>
        <p:txBody>
          <a:bodyPr wrap="square">
            <a:spAutoFit/>
          </a:bodyPr>
          <a:lstStyle/>
          <a:p>
            <a:pPr algn="l"/>
            <a:r>
              <a:rPr sz="1500" b="1">
                <a:solidFill>
                  <a:srgbClr val="FFFFFF"/>
                </a:solidFill>
              </a:rPr>
              <a:t>RAG (BM25) is the best strategy overall</a:t>
            </a:r>
          </a:p>
        </p:txBody>
      </p:sp>
      <p:sp>
        <p:nvSpPr>
          <p:cNvPr id="16" name="TextBox 15"/>
          <p:cNvSpPr txBox="1"/>
          <p:nvPr/>
        </p:nvSpPr>
        <p:spPr>
          <a:xfrm>
            <a:off x="1188720" y="5349240"/>
            <a:ext cx="10332720" cy="347472"/>
          </a:xfrm>
          <a:prstGeom prst="rect">
            <a:avLst/>
          </a:prstGeom>
          <a:noFill/>
        </p:spPr>
        <p:txBody>
          <a:bodyPr wrap="square">
            <a:spAutoFit/>
          </a:bodyPr>
          <a:lstStyle/>
          <a:p>
            <a:pPr algn="l"/>
            <a:r>
              <a:rPr sz="1300" b="0">
                <a:solidFill>
                  <a:srgbClr val="BDD7EE"/>
                </a:solidFill>
              </a:rPr>
              <a:t>Domain-matched training examples outperform all pure-prompt approaches</a:t>
            </a:r>
          </a:p>
        </p:txBody>
      </p:sp>
      <p:sp>
        <p:nvSpPr>
          <p:cNvPr id="17" name="Rectangle 16"/>
          <p:cNvSpPr/>
          <p:nvPr/>
        </p:nvSpPr>
        <p:spPr>
          <a:xfrm>
            <a:off x="548640" y="5897880"/>
            <a:ext cx="457200" cy="8229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51560" y="589788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5934456"/>
            <a:ext cx="10332720" cy="320040"/>
          </a:xfrm>
          <a:prstGeom prst="rect">
            <a:avLst/>
          </a:prstGeom>
          <a:noFill/>
        </p:spPr>
        <p:txBody>
          <a:bodyPr wrap="square">
            <a:spAutoFit/>
          </a:bodyPr>
          <a:lstStyle/>
          <a:p>
            <a:pPr algn="l"/>
            <a:r>
              <a:rPr sz="1500" b="1">
                <a:solidFill>
                  <a:srgbClr val="FFFFFF"/>
                </a:solidFill>
              </a:rPr>
              <a:t>Next: conservative prompt + Qwen3-14B</a:t>
            </a:r>
          </a:p>
        </p:txBody>
      </p:sp>
      <p:sp>
        <p:nvSpPr>
          <p:cNvPr id="20" name="TextBox 19"/>
          <p:cNvSpPr txBox="1"/>
          <p:nvPr/>
        </p:nvSpPr>
        <p:spPr>
          <a:xfrm>
            <a:off x="1188720" y="6309360"/>
            <a:ext cx="10332720" cy="347472"/>
          </a:xfrm>
          <a:prstGeom prst="rect">
            <a:avLst/>
          </a:prstGeom>
          <a:noFill/>
        </p:spPr>
        <p:txBody>
          <a:bodyPr wrap="square">
            <a:spAutoFit/>
          </a:bodyPr>
          <a:lstStyle/>
          <a:p>
            <a:pPr algn="l"/>
            <a:r>
              <a:rPr sz="1300" b="0">
                <a:solidFill>
                  <a:srgbClr val="BDD7EE"/>
                </a:solidFill>
              </a:rPr>
              <a:t>p2v3 to reduce false positives; 14B for stronger Arabic orthographic knowledge</a:t>
            </a:r>
          </a:p>
        </p:txBody>
      </p:sp>
      <p:sp>
        <p:nvSpPr>
          <p:cNvPr id="21" name="TextBox 20"/>
          <p:cNvSpPr txBox="1"/>
          <p:nvPr/>
        </p:nvSpPr>
        <p:spPr>
          <a:xfrm>
            <a:off x="731520" y="6492240"/>
            <a:ext cx="10698480" cy="274320"/>
          </a:xfrm>
          <a:prstGeom prst="rect">
            <a:avLst/>
          </a:prstGeom>
          <a:noFill/>
        </p:spPr>
        <p:txBody>
          <a:bodyPr wrap="square">
            <a:spAutoFit/>
          </a:bodyPr>
          <a:lstStyle/>
          <a:p>
            <a:pPr algn="ctr"/>
            <a:r>
              <a:rPr sz="1200" b="0">
                <a:solidFill>
                  <a:srgbClr val="BDD7EE"/>
                </a:solidFill>
              </a:rPr>
              <a:t>Mohamed Sabry · Master's Thesis · May 2026</a:t>
            </a:r>
          </a:p>
        </p:txBody>
      </p:sp>
      <p:sp>
        <p:nvSpPr>
          <p:cNvPr id="22" name="TextBox 21"/>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2113</Words>
  <Application>Microsoft Office PowerPoint</Application>
  <PresentationFormat>Custom</PresentationFormat>
  <Paragraphs>393</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mohamed sabry</cp:lastModifiedBy>
  <cp:revision>2</cp:revision>
  <dcterms:created xsi:type="dcterms:W3CDTF">2013-01-27T09:14:16Z</dcterms:created>
  <dcterms:modified xsi:type="dcterms:W3CDTF">2026-05-04T16:33:26Z</dcterms:modified>
  <cp:category/>
</cp:coreProperties>
</file>
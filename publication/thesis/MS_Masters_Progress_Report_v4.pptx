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Arabic Post-OCR Correction with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DD7EE"/>
                </a:solidFill>
              </a:rPr>
              <a:t>Can LLMs bridge the performance gap between open-source and closed-source Arabic OCR?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FFC000"/>
                </a:solidFill>
              </a:rPr>
              <a:t>Progress </a:t>
            </a:r>
            <a:r>
              <a:rPr sz="1800" b="0" dirty="0" smtClean="0">
                <a:solidFill>
                  <a:srgbClr val="FFC000"/>
                </a:solidFill>
              </a:rPr>
              <a:t>Report</a:t>
            </a:r>
            <a:endParaRPr sz="1800" b="0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BDD7EE"/>
                </a:solidFill>
              </a:rPr>
              <a:t>Mohamed Sabry </a:t>
            </a:r>
            <a:r>
              <a:rPr sz="1500" b="0" dirty="0" smtClean="0">
                <a:solidFill>
                  <a:srgbClr val="BDD7EE"/>
                </a:solidFill>
              </a:rPr>
              <a:t>· </a:t>
            </a:r>
            <a:r>
              <a:rPr sz="1500" b="0" dirty="0">
                <a:solidFill>
                  <a:srgbClr val="BDD7EE"/>
                </a:solidFill>
              </a:rP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Model: Qwen3-4B-Instruct-2507  ·  Datasets: PATS-A01 (typewritten) + KHATT (handwritten)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Research Question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79"/>
            <a:ext cx="5486400" cy="24140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• Arabic OCR (Qaari) is open-source &amp; accessible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6654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• But makes systematic character-level errors: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   - Similar-shape confusions (ب / ت / 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   - Missing/extra diacritics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1693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   - Punctuation &amp; spacing artefacts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• Closed-source VLMs are far more accurate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8386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  but expensive and API-dependent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83387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4173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Research Question
Can a small open-source LLM (4B) post-process Qaari OCR output to approach the accuracy of closed-source VLMs?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651760"/>
            <a:ext cx="5833872" cy="100584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27432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Hypothesis
LLMs can exploit linguistic context to fix OCR errors cheaply — making open-source OCR competitive.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49039"/>
            <a:ext cx="11548872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</a:rPr>
              <a:t>Why It Matters:  Digitising Arabic manuscripts, newspapers, and historical archives at low cost requires accurate open-source OCR — LLM post-correction is a practical bridge.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846320"/>
            <a:ext cx="11548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F3864"/>
                </a:solidFill>
              </a:rPr>
              <a:t>Approach:  8 experiments test progressively richer prompting strategies (zero-shot → prompt engineering → </a:t>
            </a:r>
            <a:r>
              <a:rPr sz="1400" b="1" dirty="0" smtClean="0">
                <a:solidFill>
                  <a:srgbClr val="1F3864"/>
                </a:solidFill>
              </a:rPr>
              <a:t>RAG)</a:t>
            </a:r>
            <a:endParaRPr sz="1400" b="1" dirty="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Datasets &amp; OCR Baseline (Phase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Two domains: typewritten (PATS-A01) vs handwritten (KHATT)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66928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PATS-A01  (Typewritten / Synthetic)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8 Arabic fonts  ·  ~2766 pages/font  ·  85/15 train/val split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205740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00200"/>
                <a:gridCol w="1600200"/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Font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Val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Val 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Naskh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Thuluth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Akhbar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1.14%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1.11%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Traditional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Tahoma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2.39%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2.35%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04040"/>
                          </a:solidFill>
                        </a:rPr>
                        <a:t>PATS avg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04040"/>
                          </a:solidFill>
                        </a:rPr>
                        <a:t>1.31%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04040"/>
                          </a:solidFill>
                        </a:rPr>
                        <a:t>1.34%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1280160"/>
            <a:ext cx="5742432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KHATT  (Handwritten /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Writers of varied styles  ·  226 validation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00000"/>
                </a:solidFill>
              </a:rPr>
              <a:t>CER: 5.66%   |   WER: 7.25%   |   Runaway: 17.7%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Key Observations: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08960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KHATT CER is 4.3x higher than PATS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74136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Runaway samples (Qaari repetition bug):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39312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  KHATT: 17.7%,  Tahoma: 10.4%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04488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  Most PATS fonts: 3.5 – 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69664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Tahoma is hardest typewritten font (CER 2.39%)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434840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Naskh is easiest typewritten font (CER 0.86%)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700016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4965192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Two very different correction challenges: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230368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  PATS — already accurate, LLM risks over-correction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495544"/>
            <a:ext cx="5486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  KHATT — high noise, LLM has more to gain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8-Phase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Each phase isolates one variable; all compare to Phase 2 (zero-shot)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4887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4114800"/>
                <a:gridCol w="4233672"/>
              </a:tblGrid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tests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Key signal added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Raw Qaari OCR quality, error taxonomy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None (reference)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Zero-Shot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Can vanilla LLM fix OCR without any extra context?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None (base prompt p2v2)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OCR-Aware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Does confusion-matrix knowledge help?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Top-10 char confusions + LLM failure filter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Self-Reflective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Do error-pattern warnings reduce over-correction?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Training failure pairs + overcorrection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CAMeL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Does morphological revert save over-corrected words?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CAMeL morph check + known-OC revert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Combinations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Do Phase 3+4 signals synergize?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Confusion + self-reflective fused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RAG (BM25)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Does per-sample retrieval of similar corrections help?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Top-5 (OCR→GT) pairs from training 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04040"/>
                          </a:solidFill>
                        </a:rPr>
                        <a:t>Error-Sig RAG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Does structural similarity retrieval beat surface?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CAMeL + confusion-matrix error signature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Main Results — All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CER = Character Error Rate  ·  WER = Word Error Rate  ·  Lower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Validation set  ·  Diacritics stripped before evaluation  ·  Model: Qwen3-4B-Instruct-2507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4887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2286000"/>
                <a:gridCol w="2679192"/>
              </a:tblGrid>
              <a:tr h="55880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PATS avg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PATS avg 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KHATT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KHATT 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1  (OCR Baseline)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5.66%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7.25%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2  (Zero-Shot)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4.53%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3  (OCR-Aware)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1.51%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4  (Self-Reflective)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6  (Conf+Self)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1.53%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1.57%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404040"/>
                          </a:solidFill>
                        </a:rPr>
                        <a:t>Phase 7  (RAG BM25)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1.29%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1.32%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2.77%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3.28%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8  (Error-Sig RAG)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Phase 5  (CAMeL revert)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see note*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4.64%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653796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* Phase 5 (CAMeL): only normal-subset metrics reported (excludes runaway samples).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 1 — RAG (BM25) Is the Best Overall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6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834640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KHATT CER reduction
vs OCR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78636"/>
                </a:solidFill>
              </a:rPr>
              <a:t>−51%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5.66% → 2.77%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34440"/>
            <a:ext cx="2834640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KHATT CER reduction
vs Zero-Shot (P2)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83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774AE"/>
                </a:solidFill>
              </a:rPr>
              <a:t>−14%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3.21% → 2.77%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2834640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KHATT WER reduction
vs OCR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78636"/>
                </a:solidFill>
              </a:rPr>
              <a:t>−55%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7.25% → 3.28%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34440"/>
            <a:ext cx="2834640" cy="2011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PATS avg CER
(only phase to beat P2)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783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70C0"/>
                </a:solidFill>
              </a:rPr>
              <a:t>1.29%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P1=1.31%, P2=1.32%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11548872" cy="36576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Why RAG (BM25) 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57784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Domain-matched 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Top-5 (OCR→GT) pairs from Phase 2 training corrections —
same domain, same font family, same error patterns.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557784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Grounded few-shot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976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Instead of abstract prompting, the model sees concrete
examples of what the correction should look like.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20640"/>
            <a:ext cx="557784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Reduces hallucination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Ground-truth anchors prevent the model from inventing
changes unsupported by training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120640"/>
            <a:ext cx="557784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5166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BM25 char n-grams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4864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Character-level matching captures OCR-specific confusable
character patterns rather than word-level semantics.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 2 — Prompt Engineering Regresses on Typewritten Text (PATS)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</a:rPr>
              <a:t>Phases 3, 4, 6 all increase PATS CER compared to zero-shot (Phase 2). More prompt context = more incorrect changes on already-accurate text.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645920"/>
          <a:ext cx="115488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862072"/>
              </a:tblGrid>
              <a:tr h="512064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PATS avg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vs Zero-Shot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Phase 2 — Zero-Shot (baseline)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Reference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Phase 3 — OCR-Aware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+0.15pp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Confusion matrix → over-corrects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Phase 4 — Self-Reflective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1.45%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+0.13pp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Failure warnings → more edits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Phase 6 — Conf+Self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+0.21pp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Combined signals → worst of 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4343400"/>
            <a:ext cx="11548872" cy="365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Root Cause: Over-Correction at Low Error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84632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The floor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PATS CER is already 0.86%–1.54%. At this level, any
non-trivial correction strategy introduces more errors
than it fixes. Signal-to-noise ratio is very 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84632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4892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More context = more 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2120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Confusion matrices and failure examples implicitly
encourage the model to make changes — even when
the OCR text is already correct.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84632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4892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Exception: Tahoma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2120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CER 2.39% is high enough for LLM to help (Phase 2:
2.70%), suggesting a per-dataset difficulty threshold
below which LLM correction is net-harmful.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 3 — LLM Post-Correction Strongly Benefits Handwritten Text (KHATT)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KHATT CER Progression   (WER follows similar pattern: 7.25% → 3.28%)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737360"/>
            <a:ext cx="2011680" cy="2926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</a:rPr>
              <a:t>5.66%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709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OCR Baseline
(Phase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003949"/>
            <a:ext cx="2011680" cy="165949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63818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74AE"/>
                </a:solidFill>
              </a:rPr>
              <a:t>3.21%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709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Zero-Shot
(Phase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102174"/>
            <a:ext cx="2011680" cy="1561265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73641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74AE"/>
                </a:solidFill>
              </a:rPr>
              <a:t>3.02%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Self-Reflect
(Phase 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3231418"/>
            <a:ext cx="2011680" cy="1432021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286565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78636"/>
                </a:solidFill>
              </a:rPr>
              <a:t>2.77%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709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RAG BM25
(Phase 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257800"/>
            <a:ext cx="11548872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000"/>
                </a:solidFill>
              </a:rPr>
              <a:t>Total CER reduction:  OCR → RAG =  5.66% → 2.77%  =  51% relative improvement  (WER: 7.25% → 3.28% = 55% relative improvement)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80644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KHATT is the real target domain: high error rate gives LLM enough signal to correct without excessive false positives. RAG amplifies this further via domain-matched examples.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Per-Font Breakdown — PATS-A01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Not all fonts benefit equally; Tahoma uniquely resists LLM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9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4887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645920"/>
                <a:gridCol w="3136392"/>
              </a:tblGrid>
              <a:tr h="534924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Font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P1 CER
(OCR)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P2 CER
(ZeroShot)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P8 CER
(RAG)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Naskh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Already near-perfect; LLM hurts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Thuluth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78636"/>
                          </a:solidFill>
                        </a:rPr>
                        <a:t>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P8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RAG most effective 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Arial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1.21%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LLM degrades 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2774AE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ZeroShot 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Traditional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1.27%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Slight LLM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78636"/>
                          </a:solidFill>
                        </a:rPr>
                        <a:t>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P8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RAG recovers from P2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Andalus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1.54%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1.28%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2774AE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ZeroShot helps most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Tahoma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2.39%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2.70%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2.81%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C00000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No phase beats OCR baseline!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04040"/>
                          </a:solidFill>
                        </a:rPr>
                        <a:t>PATS avg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1.31%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404040"/>
                          </a:solidFill>
                        </a:rPr>
                        <a:t>1.32%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78636"/>
                          </a:solidFill>
                        </a:rPr>
                        <a:t>1.29%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378636"/>
                          </a:solidFill>
                        </a:rPr>
                        <a:t>P8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404040"/>
                          </a:solidFill>
                        </a:rPr>
                        <a:t>RAG is only phase to beat P1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Analysis — The Error-Rate Threshold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LLM correction is beneficial only when OCR error rate exceeds a critical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Hypothesis: below ~2% CER, LLM correction introduces more errors than it fixes.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657600" cy="32004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HARMFUL ZONE
CER &lt; ~1.5%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LLM makes text worse
Naskh, Arial, Traditional
Best strategy: return unchanged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91640"/>
            <a:ext cx="3657600" cy="320040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783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MIXED ZONE
CER 1.5 – 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6032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Depends on strategy
Andalus, Simplified, Tahoma
RAG and ZeroShot can help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BENEFICIAL ZONE
CER &gt; ~2.5%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LLM significantly improves
KHATT (5.66%), Tahoma (2.39%)
RAG gives best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07492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Implication for thesis: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1. Dataset difficulty must be reported alongside CER/WER improvements.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2. A selective-correction strategy (detect high-error samples, then apply LLM) could unlock gains on PATS.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807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3. Phase 2 (zero-shot) already achieves diminishing returns — advanced methods mainly help KHATT.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Experiment 2 — Prompt Design Study (8 Trials)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CCCCFF"/>
                </a:solidFill>
              </a:rPr>
              <a:t>11 / 15  ·  Testing 4 prompt styles × 2 strategies (zero-shot vs RAG)  ·  13 datasets  ·  4,664 samples  ·  Qwen3-4B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51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497D"/>
                </a:solidFill>
              </a:rPr>
              <a:t>Trial Configurations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37160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Trial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Prompt Style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T1  base_zs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Base (structured)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Zero-shot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Slight regression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T2  base_rag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Base (structured)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RAG (BM25)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≈ Phase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T3  cons_zs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Conservative (copy-first)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Zero-shot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✓ BEST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T4  cons_rag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Conservative (copy-first)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RAG (BM25)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Partial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T5  hp_zs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HP + error patterns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Zero-shot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Similar to T1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T6  hp_rag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HP + error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RAG (BM25)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Good 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T7  hp_cons_zs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HP + conservative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Zero-shot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⚠ FAILED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</a:rPr>
                        <a:t>T8  hp_cons_rag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HP + conservative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RAG (BM25)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</a:rPr>
                        <a:t>Partial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C00000"/>
                </a:solidFill>
              </a:rPr>
              <a:t>⚠  T7 failed: prompt-template tags leaked into LLM output (100-300%+ CER on PATS).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497D"/>
                </a:solidFill>
              </a:rPr>
              <a:t>Results Summary (Normal samples, no diacritics)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371600"/>
          <a:ext cx="57607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PATS avg CER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KHATT CER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OCR baseline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5.57%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34.24%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Phase 8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T1 base_zs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5.84%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33.25%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T2 base_rag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T3 cons_zs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5.27% ↓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32.93% ↓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T4 cons_rag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27.02%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T5 hp_zs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5.85%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32.90%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T6 hp_rag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19.64%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32.64%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T7 hp_cons_zs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190.6% 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51.64% 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T8 hp_cons_rag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46.6%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32.54%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42976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107336"/>
                </a:solidFill>
              </a:rPr>
              <a:t>* T3 Conservative zero-shot: best on PATS (5.27% avg) — beats OCR baseline AND Phase 8 RAG without retrieval.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457200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497D"/>
                </a:solidFill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937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7336"/>
                </a:solidFill>
              </a:rPr>
              <a:t>★  Conservative zero-shot (T3) BEST for PATS:  5.57% → 5.27% avg CER  (−5.4% vs OCR baseline; −3.3% vs Phase 8 RAG).  No retrieval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330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2E75B6"/>
                </a:solidFill>
              </a:rPr>
              <a:t>★  For KHATT (handwritten), T8/T6/T4 are best:  34.24% → 32.54-32.69%  (−5% vs OCR baseline; slight gain over Phase 8 33.83%).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72414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00000"/>
                </a:solidFill>
              </a:rPr>
              <a:t>★  HP error-pattern prompts cause catastrophic failures when combined with conservative mode (T7) or RAG (T4/T8).  Prompt overload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1173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33333"/>
                </a:solidFill>
              </a:rPr>
              <a:t>◉  New datasets (KHATT-Paragraph 256/440 runaway, Yarmouk 69%+, Muharaf/Historical 230%+ CER) are unsolvable with current approach.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 2 — Larger LLM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Hypothesis: a larger model has better Arabic orthographic knowledge → fewer over-corrections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12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</a:rPr>
              <a:t>Current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Model: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373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Qwen3-4B-Instruct-2507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Parameters: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21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4 Billion (dense)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054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Platform: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054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Kaggle T4 GPU (~15 GB VRAM)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95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Speed: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8895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~3–5 samples / 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73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Arabic skill: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73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Good — multilingual training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</a:rPr>
              <a:t>Limitation: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Borderline word-validity decisions;
limited orthographic certainty → over-corrects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26280"/>
            <a:ext cx="5394960" cy="2057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Expected Impact of Larger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PATS: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Better morphological knowledge → fewer false
positives → CER closer to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KHATT: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Stronger context modelling → better error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RAG: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989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Higher reasoning capacity → better use of examples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34440"/>
            <a:ext cx="5925312" cy="5349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12801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000"/>
                </a:solidFill>
              </a:rPr>
              <a:t>Candidate Larger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719072"/>
            <a:ext cx="5742432" cy="11430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1773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Qwen3-14B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1122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Size: 14B dense  ·  Platform: Kaggle A100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3865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Recommended: same family as current;
3.5x parameters, direct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953512"/>
            <a:ext cx="5742432" cy="11430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3008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Qwen3-30B-A3B (MoE)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Size: 30B / 3B active  ·  Platform: Kaggle A100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6210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Efficient MoE; near 14B quality
at fraction of compute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187952"/>
            <a:ext cx="5742432" cy="11430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42428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Qwen3-32B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581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Size: 32B dense  ·  Platform: 2x Kaggle A100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8554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Largest accessible Qwen3;
may need quantization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5422392"/>
            <a:ext cx="5742432" cy="11430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72200" y="54772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Llama-3.3-70B-Q4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8155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Size: 70B (4-bit)  ·  Platform: Colab Pro+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60899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Strong Arabic; higher cost;
different architecture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65105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000"/>
                </a:solidFill>
              </a:rPr>
              <a:t>Start with Qwen3-14B — same tokenizer, minimal code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</a:rPr>
              <a:t>Two targeted experiments before thesis finalisation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02920" cy="1188720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80160"/>
            <a:ext cx="992124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258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Implement p2v3 (ultra-conservative prompt)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Add prompt version to PromptBuilder.build_zero_shot(version='v3')
Update config to allow phase2.prompt_version: p2v3
Run export → infer → analyze on all 9 datasets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35640" y="1280160"/>
            <a:ext cx="987552" cy="1188720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35640" y="1600200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~1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51760"/>
            <a:ext cx="502920" cy="118872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971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651760"/>
            <a:ext cx="992124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6974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Run p2v2 + p2v3 on Qwen3-14B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632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Use same 3-stage pipeline (export → infer on Kaggle A100 → analyze)
Compare: 4B-p2v2, 4B-p2v3, 14B-p2v2, 14B-p2v3 (2x2 design)
Also run Phase 8 (RAG) with 14B to measure retrieval interaction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35640" y="2651760"/>
            <a:ext cx="987552" cy="118872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5640" y="2971800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~2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502920" cy="1188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023360"/>
            <a:ext cx="992124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690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Statistical significance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348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Run bootstrap CIs + paired t-test for best results vs Phase 2 baseline
Bonferroni correction for multiple comparisons across 9 datasets
Also: Wilcoxon signed-rank for non-normal per-sample CER distributions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5640" y="4023360"/>
            <a:ext cx="987552" cy="1188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35640" y="4343400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~3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457200" cy="822960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1560" y="3017520"/>
            <a:ext cx="10515600" cy="822960"/>
          </a:xfrm>
          <a:prstGeom prst="rect">
            <a:avLst/>
          </a:prstGeom>
          <a:solidFill>
            <a:srgbClr val="28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05409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LLMs work well on high-error Arabic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KHATT: 51% CER reduction (5.66% → 2.77%) using RAG + Qwen3-4B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45720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3977640"/>
            <a:ext cx="10515600" cy="822960"/>
          </a:xfrm>
          <a:prstGeom prst="rect">
            <a:avLst/>
          </a:prstGeom>
          <a:solidFill>
            <a:srgbClr val="28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01421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Prompt engineering regresses on low-error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891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PATS phases 3/4/6 increase CER vs zero-shot — over-correction at low noise 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457200" cy="82296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1560" y="4937760"/>
            <a:ext cx="10515600" cy="822960"/>
          </a:xfrm>
          <a:prstGeom prst="rect">
            <a:avLst/>
          </a:prstGeom>
          <a:solidFill>
            <a:srgbClr val="28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97433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RAG (BM25) is the best strategy overall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492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Domain-matched training examples outperform all pure-prompt approaches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97880"/>
            <a:ext cx="4572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1560" y="5897880"/>
            <a:ext cx="10515600" cy="822960"/>
          </a:xfrm>
          <a:prstGeom prst="rect">
            <a:avLst/>
          </a:prstGeom>
          <a:solidFill>
            <a:srgbClr val="28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93445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</a:rPr>
              <a:t>Exp 2: Conservative prompt beats Phase 8 RAG on PATS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630936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T3 (cons_zs): 5.27% avg PATS CER — best configuration tested. No RAG needed; simpler and faster than Phase 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/>
              <a:t>Mohamed Sabry · Master's Thesis ·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15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Why CER ≈ WER? — The Runaway Effect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Normal OCR errors: WER &gt; CER  |  Qaari repetition bug: CER ≈ WER  |  Formulas below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03000"/>
            <a:ext cx="3605784" cy="2750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7200" y="1363000"/>
            <a:ext cx="3485784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378635"/>
                </a:solidFill>
                <a:latin typeface="Calibri"/>
              </a:rPr>
              <a:t>NORMAL </a:t>
            </a:r>
            <a:r>
              <a:rPr sz="1300" b="1" i="0" dirty="0">
                <a:solidFill>
                  <a:srgbClr val="378635"/>
                </a:solidFill>
                <a:latin typeface="Calibri"/>
              </a:rPr>
              <a:t>Samples</a:t>
            </a:r>
          </a:p>
          <a:p>
            <a:pPr algn="l"/>
            <a:r>
              <a:rPr sz="900" b="0" i="0" dirty="0">
                <a:solidFill>
                  <a:srgbClr val="404040"/>
                </a:solidFill>
                <a:latin typeface="Calibri"/>
              </a:rPr>
              <a:t>(no runaway)</a:t>
            </a:r>
          </a:p>
          <a:p>
            <a:pPr algn="l"/>
            <a:endParaRPr sz="9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1 char error ruins the whole word.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WER is amplified at word level.</a:t>
            </a:r>
          </a:p>
          <a:p>
            <a:pPr algn="l"/>
            <a:endParaRPr sz="10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200" b="1" i="0" dirty="0">
                <a:solidFill>
                  <a:srgbClr val="378635"/>
                </a:solidFill>
                <a:latin typeface="Calibri"/>
              </a:rPr>
              <a:t>Result: WER &gt;&gt; </a:t>
            </a:r>
            <a:r>
              <a:rPr sz="1200" b="1" i="0" dirty="0" smtClean="0">
                <a:solidFill>
                  <a:srgbClr val="378635"/>
                </a:solidFill>
                <a:latin typeface="Calibri"/>
              </a:rPr>
              <a:t>CER</a:t>
            </a:r>
            <a:endParaRPr sz="1200" b="1" i="0" dirty="0">
              <a:solidFill>
                <a:srgbClr val="378635"/>
              </a:solidFill>
              <a:latin typeface="Calibri"/>
            </a:endParaRPr>
          </a:p>
          <a:p>
            <a:pPr algn="l"/>
            <a:r>
              <a:rPr sz="1000" b="1" i="0" dirty="0">
                <a:solidFill>
                  <a:srgbClr val="2E75B6"/>
                </a:solidFill>
                <a:latin typeface="Calibri"/>
              </a:rPr>
              <a:t>PATS-</a:t>
            </a:r>
            <a:r>
              <a:rPr sz="1000" b="1" i="0" dirty="0" err="1">
                <a:solidFill>
                  <a:srgbClr val="2E75B6"/>
                </a:solidFill>
                <a:latin typeface="Calibri"/>
              </a:rPr>
              <a:t>Akhbar</a:t>
            </a:r>
            <a:r>
              <a:rPr sz="1000" b="1" i="0" dirty="0">
                <a:solidFill>
                  <a:srgbClr val="2E75B6"/>
                </a:solidFill>
                <a:latin typeface="Calibri"/>
              </a:rPr>
              <a:t> normal (no </a:t>
            </a:r>
            <a:r>
              <a:rPr sz="1000" b="1" i="0" dirty="0" err="1">
                <a:solidFill>
                  <a:srgbClr val="2E75B6"/>
                </a:solidFill>
                <a:latin typeface="Calibri"/>
              </a:rPr>
              <a:t>diac</a:t>
            </a:r>
            <a:r>
              <a:rPr sz="1000" b="1" i="0" dirty="0">
                <a:solidFill>
                  <a:srgbClr val="2E75B6"/>
                </a:solidFill>
                <a:latin typeface="Calibri"/>
              </a:rPr>
              <a:t>):</a:t>
            </a:r>
          </a:p>
          <a:p>
            <a:pPr algn="l"/>
            <a:r>
              <a:rPr sz="1000" b="0" i="0" dirty="0">
                <a:solidFill>
                  <a:srgbClr val="378635"/>
                </a:solidFill>
                <a:latin typeface="Calibri"/>
              </a:rPr>
              <a:t>  CER = 2.12%</a:t>
            </a:r>
          </a:p>
          <a:p>
            <a:pPr algn="l"/>
            <a:r>
              <a:rPr sz="1000" b="0" i="0" dirty="0">
                <a:solidFill>
                  <a:srgbClr val="378635"/>
                </a:solidFill>
                <a:latin typeface="Calibri"/>
              </a:rPr>
              <a:t>  WER = 4.84%</a:t>
            </a:r>
          </a:p>
          <a:p>
            <a:pPr algn="l"/>
            <a:r>
              <a:rPr sz="1000" b="0" i="0" dirty="0">
                <a:solidFill>
                  <a:srgbClr val="378635"/>
                </a:solidFill>
                <a:latin typeface="Calibri"/>
              </a:rPr>
              <a:t>  WER/CER = 2.28x</a:t>
            </a:r>
          </a:p>
          <a:p>
            <a:pPr algn="l"/>
            <a:endParaRPr sz="1000" b="0" i="0" dirty="0">
              <a:solidFill>
                <a:srgbClr val="378635"/>
              </a:solidFill>
              <a:latin typeface="Calibri"/>
            </a:endParaRPr>
          </a:p>
          <a:p>
            <a:pPr algn="l"/>
            <a:r>
              <a:rPr sz="1000" b="1" i="0" dirty="0">
                <a:solidFill>
                  <a:srgbClr val="2E75B6"/>
                </a:solidFill>
                <a:latin typeface="Calibri"/>
              </a:rPr>
              <a:t>KHATT normal (no </a:t>
            </a:r>
            <a:r>
              <a:rPr sz="1000" b="1" i="0" dirty="0" err="1">
                <a:solidFill>
                  <a:srgbClr val="2E75B6"/>
                </a:solidFill>
                <a:latin typeface="Calibri"/>
              </a:rPr>
              <a:t>diac</a:t>
            </a:r>
            <a:r>
              <a:rPr sz="1000" b="1" i="0" dirty="0">
                <a:solidFill>
                  <a:srgbClr val="2E75B6"/>
                </a:solidFill>
                <a:latin typeface="Calibri"/>
              </a:rPr>
              <a:t>):</a:t>
            </a:r>
          </a:p>
          <a:p>
            <a:pPr algn="l"/>
            <a:r>
              <a:rPr sz="1000" b="0" i="0" dirty="0">
                <a:solidFill>
                  <a:srgbClr val="378635"/>
                </a:solidFill>
                <a:latin typeface="Calibri"/>
              </a:rPr>
              <a:t>  CER = 34.24%</a:t>
            </a:r>
          </a:p>
          <a:p>
            <a:pPr algn="l"/>
            <a:r>
              <a:rPr sz="1000" b="0" i="0" dirty="0">
                <a:solidFill>
                  <a:srgbClr val="378635"/>
                </a:solidFill>
                <a:latin typeface="Calibri"/>
              </a:rPr>
              <a:t>  WER = 75.60%</a:t>
            </a:r>
          </a:p>
          <a:p>
            <a:pPr algn="l"/>
            <a:r>
              <a:rPr sz="1000" b="0" i="0" dirty="0">
                <a:solidFill>
                  <a:srgbClr val="378635"/>
                </a:solidFill>
                <a:latin typeface="Calibri"/>
              </a:rPr>
              <a:t>  WER/CER = 2.21x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0184" y="1303000"/>
            <a:ext cx="3605784" cy="2750000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0184" y="1363000"/>
            <a:ext cx="3485784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C00000"/>
                </a:solidFill>
                <a:latin typeface="Calibri"/>
              </a:rPr>
              <a:t>RUNAWAY </a:t>
            </a:r>
            <a:r>
              <a:rPr sz="1300" b="1" i="0" dirty="0">
                <a:solidFill>
                  <a:srgbClr val="C00000"/>
                </a:solidFill>
                <a:latin typeface="Calibri"/>
              </a:rPr>
              <a:t>Samples</a:t>
            </a:r>
          </a:p>
          <a:p>
            <a:pPr algn="l"/>
            <a:r>
              <a:rPr sz="900" b="0" i="0" dirty="0">
                <a:solidFill>
                  <a:srgbClr val="404040"/>
                </a:solidFill>
                <a:latin typeface="Calibri"/>
              </a:rPr>
              <a:t>(</a:t>
            </a:r>
            <a:r>
              <a:rPr sz="900" b="0" i="0" dirty="0" err="1">
                <a:solidFill>
                  <a:srgbClr val="404040"/>
                </a:solidFill>
                <a:latin typeface="Calibri"/>
              </a:rPr>
              <a:t>Qaari</a:t>
            </a:r>
            <a:r>
              <a:rPr sz="900" b="0" i="0" dirty="0">
                <a:solidFill>
                  <a:srgbClr val="404040"/>
                </a:solidFill>
                <a:latin typeface="Calibri"/>
              </a:rPr>
              <a:t> repetition bug)</a:t>
            </a:r>
          </a:p>
          <a:p>
            <a:pPr algn="l"/>
            <a:endParaRPr sz="9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OCR repeats entire phrases: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"word </a:t>
            </a:r>
            <a:r>
              <a:rPr sz="1000" b="0" i="0" dirty="0" err="1">
                <a:solidFill>
                  <a:srgbClr val="404040"/>
                </a:solidFill>
                <a:latin typeface="Calibri"/>
              </a:rPr>
              <a:t>word</a:t>
            </a:r>
            <a:r>
              <a:rPr sz="1000" b="0" i="0" dirty="0">
                <a:solidFill>
                  <a:srgbClr val="404040"/>
                </a:solidFill>
                <a:latin typeface="Calibri"/>
              </a:rPr>
              <a:t> word..." x24 times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Both chars AND words inflate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by exactly the same factor k.</a:t>
            </a:r>
          </a:p>
          <a:p>
            <a:pPr algn="l"/>
            <a:endParaRPr sz="10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200" b="1" i="0" dirty="0">
                <a:solidFill>
                  <a:srgbClr val="C00000"/>
                </a:solidFill>
                <a:latin typeface="Calibri"/>
              </a:rPr>
              <a:t>Result: CER = WER = k-1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(ratio = 1.0x exactly)</a:t>
            </a:r>
          </a:p>
          <a:p>
            <a:pPr algn="l"/>
            <a:endParaRPr sz="10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 dirty="0">
                <a:solidFill>
                  <a:srgbClr val="C00000"/>
                </a:solidFill>
                <a:latin typeface="Calibri"/>
              </a:rPr>
              <a:t>Example (k=24 repeats):</a:t>
            </a:r>
          </a:p>
          <a:p>
            <a:pPr algn="l"/>
            <a:r>
              <a:rPr sz="1000" b="0" i="0" dirty="0">
                <a:solidFill>
                  <a:srgbClr val="C00000"/>
                </a:solidFill>
                <a:latin typeface="Calibri"/>
              </a:rPr>
              <a:t>  CER = 24-1 = 23 = 2300%</a:t>
            </a:r>
          </a:p>
          <a:p>
            <a:pPr algn="l"/>
            <a:r>
              <a:rPr sz="1000" b="0" i="0" dirty="0">
                <a:solidFill>
                  <a:srgbClr val="C00000"/>
                </a:solidFill>
                <a:latin typeface="Calibri"/>
              </a:rPr>
              <a:t>  WER = 24-1 = 23 = 2300%</a:t>
            </a:r>
          </a:p>
          <a:p>
            <a:pPr algn="l"/>
            <a:r>
              <a:rPr sz="1000" b="0" i="0" dirty="0">
                <a:solidFill>
                  <a:srgbClr val="C00000"/>
                </a:solidFill>
                <a:latin typeface="Calibri"/>
              </a:rPr>
              <a:t>  Ratio = 1.0x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83168" y="1303000"/>
            <a:ext cx="3605784" cy="275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3168" y="1363000"/>
            <a:ext cx="348578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ED7D31"/>
                </a:solidFill>
                <a:latin typeface="Calibri"/>
              </a:rPr>
              <a:t>MEAN </a:t>
            </a:r>
            <a:r>
              <a:rPr sz="1300" b="1" i="0" dirty="0">
                <a:solidFill>
                  <a:srgbClr val="ED7D31"/>
                </a:solidFill>
                <a:latin typeface="Calibri"/>
              </a:rPr>
              <a:t>(All Samples)</a:t>
            </a:r>
          </a:p>
          <a:p>
            <a:pPr algn="l"/>
            <a:r>
              <a:rPr sz="900" b="0" i="0" dirty="0">
                <a:solidFill>
                  <a:srgbClr val="404040"/>
                </a:solidFill>
                <a:latin typeface="Calibri"/>
              </a:rPr>
              <a:t>(normal + runaway mixed</a:t>
            </a:r>
            <a:r>
              <a:rPr sz="900" b="0" i="0" dirty="0" smtClean="0">
                <a:solidFill>
                  <a:srgbClr val="404040"/>
                </a:solidFill>
                <a:latin typeface="Calibri"/>
              </a:rPr>
              <a:t>)</a:t>
            </a:r>
            <a:endParaRPr sz="9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A few extreme runaway values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(CER ~ 2300%) swamp the mean.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=&gt; all-samples CER ~ </a:t>
            </a:r>
            <a:r>
              <a:rPr sz="1000" b="0" i="0" dirty="0" smtClean="0">
                <a:solidFill>
                  <a:srgbClr val="404040"/>
                </a:solidFill>
                <a:latin typeface="Calibri"/>
              </a:rPr>
              <a:t>WER</a:t>
            </a:r>
            <a:endParaRPr sz="1000" b="0" i="0" dirty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200" b="1" i="0" dirty="0">
                <a:solidFill>
                  <a:srgbClr val="ED7D31"/>
                </a:solidFill>
                <a:latin typeface="Calibri"/>
              </a:rPr>
              <a:t>Result: CER ~ WER (mean</a:t>
            </a:r>
            <a:r>
              <a:rPr sz="1200" b="1" i="0" dirty="0" smtClean="0">
                <a:solidFill>
                  <a:srgbClr val="ED7D31"/>
                </a:solidFill>
                <a:latin typeface="Calibri"/>
              </a:rPr>
              <a:t>)</a:t>
            </a:r>
            <a:endParaRPr sz="1200" b="1" i="0" dirty="0">
              <a:solidFill>
                <a:srgbClr val="ED7D31"/>
              </a:solidFill>
              <a:latin typeface="Calibri"/>
            </a:endParaRPr>
          </a:p>
          <a:p>
            <a:pPr algn="l"/>
            <a:r>
              <a:rPr sz="1000" b="1" i="0" dirty="0">
                <a:solidFill>
                  <a:srgbClr val="ED7D31"/>
                </a:solidFill>
                <a:latin typeface="Calibri"/>
              </a:rPr>
              <a:t>PATS-</a:t>
            </a:r>
            <a:r>
              <a:rPr sz="1000" b="1" i="0" dirty="0" err="1">
                <a:solidFill>
                  <a:srgbClr val="ED7D31"/>
                </a:solidFill>
                <a:latin typeface="Calibri"/>
              </a:rPr>
              <a:t>Akhbar</a:t>
            </a:r>
            <a:r>
              <a:rPr sz="1000" b="1" i="0" dirty="0">
                <a:solidFill>
                  <a:srgbClr val="ED7D31"/>
                </a:solidFill>
                <a:latin typeface="Calibri"/>
              </a:rPr>
              <a:t> ALL: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  22/459 runaway (4.8%)</a:t>
            </a:r>
          </a:p>
          <a:p>
            <a:pPr algn="l"/>
            <a:r>
              <a:rPr sz="1000" b="0" i="0" dirty="0">
                <a:solidFill>
                  <a:srgbClr val="ED7D31"/>
                </a:solidFill>
                <a:latin typeface="Calibri"/>
              </a:rPr>
              <a:t>  CER = 114.42%</a:t>
            </a:r>
          </a:p>
          <a:p>
            <a:pPr algn="l"/>
            <a:r>
              <a:rPr sz="1000" b="0" i="0" dirty="0">
                <a:solidFill>
                  <a:srgbClr val="ED7D31"/>
                </a:solidFill>
                <a:latin typeface="Calibri"/>
              </a:rPr>
              <a:t>  WER = 110.82%</a:t>
            </a:r>
          </a:p>
          <a:p>
            <a:pPr algn="l"/>
            <a:r>
              <a:rPr sz="1000" b="0" i="0" dirty="0">
                <a:solidFill>
                  <a:srgbClr val="ED7D31"/>
                </a:solidFill>
                <a:latin typeface="Calibri"/>
              </a:rPr>
              <a:t>  Ratio = 0.97x</a:t>
            </a:r>
          </a:p>
          <a:p>
            <a:pPr algn="l"/>
            <a:endParaRPr sz="1000" b="0" i="0" dirty="0">
              <a:solidFill>
                <a:srgbClr val="ED7D31"/>
              </a:solidFill>
              <a:latin typeface="Calibri"/>
            </a:endParaRPr>
          </a:p>
          <a:p>
            <a:pPr algn="l"/>
            <a:r>
              <a:rPr sz="1000" b="1" i="0" dirty="0">
                <a:solidFill>
                  <a:srgbClr val="ED7D31"/>
                </a:solidFill>
                <a:latin typeface="Calibri"/>
              </a:rPr>
              <a:t>KHATT ALL:</a:t>
            </a:r>
          </a:p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  40/226 runaway (17.7%)</a:t>
            </a:r>
          </a:p>
          <a:p>
            <a:pPr algn="l"/>
            <a:r>
              <a:rPr sz="1000" b="0" i="0" dirty="0">
                <a:solidFill>
                  <a:srgbClr val="ED7D31"/>
                </a:solidFill>
                <a:latin typeface="Calibri"/>
              </a:rPr>
              <a:t>  CER = 565.58%</a:t>
            </a:r>
          </a:p>
          <a:p>
            <a:pPr algn="l"/>
            <a:r>
              <a:rPr sz="1000" b="0" i="0" dirty="0">
                <a:solidFill>
                  <a:srgbClr val="ED7D31"/>
                </a:solidFill>
                <a:latin typeface="Calibri"/>
              </a:rPr>
              <a:t>  WER = 725.03%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53000"/>
            <a:ext cx="5408676" cy="2555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7200" y="4213000"/>
            <a:ext cx="5248676" cy="24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378635"/>
                </a:solidFill>
                <a:latin typeface="Calibri"/>
              </a:rPr>
              <a:t>Normal OCR Error — Key Formula</a:t>
            </a:r>
          </a:p>
          <a:p>
            <a:pPr algn="l"/>
            <a:endParaRPr sz="1100" b="1" i="0">
              <a:solidFill>
                <a:srgbClr val="378635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E75B6"/>
                </a:solidFill>
                <a:latin typeface="Calibri"/>
              </a:rPr>
              <a:t>CER = edit_dist(ref_chars, ocr_chars) / |ref_chars|</a:t>
            </a:r>
          </a:p>
          <a:p>
            <a:pPr algn="l"/>
            <a:r>
              <a:rPr sz="900" b="0" i="0">
                <a:solidFill>
                  <a:srgbClr val="2E75B6"/>
                </a:solidFill>
                <a:latin typeface="Calibri"/>
              </a:rPr>
              <a:t>WER = edit_dist(ref_words, ocr_words) / |ref_words|</a:t>
            </a:r>
          </a:p>
          <a:p>
            <a:pPr algn="l"/>
            <a:endParaRPr sz="900" b="0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1 char error =&gt; 1 bad word: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CER weight: 1 / |ref_chars|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WER weight: 1 / |ref_words|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WER/CER ratio ~ |ref_chars|/|ref_words|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           = avg chars per word</a:t>
            </a:r>
          </a:p>
          <a:p>
            <a:pPr algn="l"/>
            <a:r>
              <a:rPr sz="900" b="0" i="0">
                <a:solidFill>
                  <a:srgbClr val="378635"/>
                </a:solidFill>
                <a:latin typeface="Calibri"/>
              </a:rPr>
              <a:t>  Arabic avg ~ 5-8 chars =&gt; WER &gt; 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3076" y="4153000"/>
            <a:ext cx="5408676" cy="2555000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3076" y="4213000"/>
            <a:ext cx="5248676" cy="24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Runaway (k repetitions) — Key Formula</a:t>
            </a:r>
          </a:p>
          <a:p>
            <a:pPr algn="l"/>
            <a:endParaRPr sz="1100" b="1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OCR = GT repeated k times:</a:t>
            </a:r>
          </a:p>
          <a:p>
            <a:pPr algn="l"/>
            <a:r>
              <a:rPr sz="900" b="0" i="0">
                <a:solidFill>
                  <a:srgbClr val="2E75B6"/>
                </a:solidFill>
                <a:latin typeface="Calibri"/>
              </a:rPr>
              <a:t>  edit_dist = (k-1) x |GT_chars|</a:t>
            </a:r>
          </a:p>
          <a:p>
            <a:pPr algn="l"/>
            <a:r>
              <a:rPr sz="900" b="0" i="0">
                <a:solidFill>
                  <a:srgbClr val="2E75B6"/>
                </a:solidFill>
                <a:latin typeface="Calibri"/>
              </a:rPr>
              <a:t>  CER = (k-1)|GT_c| / |GT_c| = k-1</a:t>
            </a:r>
          </a:p>
          <a:p>
            <a:pPr algn="l"/>
            <a:r>
              <a:rPr sz="900" b="0" i="0">
                <a:solidFill>
                  <a:srgbClr val="2E75B6"/>
                </a:solidFill>
                <a:latin typeface="Calibri"/>
              </a:rPr>
              <a:t>  WER = (k-1)|GT_w| / |GT_w| = k-1</a:t>
            </a:r>
          </a:p>
          <a:p>
            <a:pPr algn="l"/>
            <a:endParaRPr sz="900" b="0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=&gt; CER = WER = k-1  (ratio = 1.0x)</a:t>
            </a:r>
          </a:p>
          <a:p>
            <a:pPr algn="l"/>
            <a:endParaRPr sz="1000" b="1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Mean contamination:</a:t>
            </a:r>
          </a:p>
          <a:p>
            <a:pPr algn="l"/>
            <a:r>
              <a:rPr sz="900" b="0" i="0">
                <a:solidFill>
                  <a:srgbClr val="2E75B6"/>
                </a:solidFill>
                <a:latin typeface="Calibri"/>
              </a:rPr>
              <a:t>  CER_all = (N_norm x CER_n + N_run x CER_r) / N</a:t>
            </a:r>
          </a:p>
          <a:p>
            <a:pPr algn="l"/>
            <a:r>
              <a:rPr sz="900" b="0" i="0">
                <a:solidFill>
                  <a:srgbClr val="C00000"/>
                </a:solidFill>
                <a:latin typeface="Calibri"/>
              </a:rPr>
              <a:t>  Few large CER_r values dominate =&gt; CER_all ~ WER_all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16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Mathematical Derivation — Runaway Contamination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Formal derivation of CER=WER=k-1 + PATS-Akhbar back-calculation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3000"/>
            <a:ext cx="5408676" cy="54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Formal Derivation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Setup: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Let GT have N_c chars and N_w words.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Qaari outputs GT repeated k times exactly.</a:t>
            </a:r>
          </a:p>
          <a:p>
            <a:pPr algn="l"/>
            <a:endParaRPr sz="10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CER calculation: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OCR_chars = k x N_c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To transform OCR -&gt; GT: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  delete (k-1) x N_c extra chars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edit_dist = (k-1) x N_c</a:t>
            </a:r>
          </a:p>
          <a:p>
            <a:pPr algn="l"/>
            <a:r>
              <a:rPr sz="1000" b="0" i="0">
                <a:solidFill>
                  <a:srgbClr val="C00000"/>
                </a:solidFill>
                <a:latin typeface="Calibri"/>
              </a:rPr>
              <a:t>  CER = (k-1) x N_c / N_c = k-1</a:t>
            </a:r>
          </a:p>
          <a:p>
            <a:pPr algn="l"/>
            <a:endParaRPr sz="1000" b="0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WER calculation: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OCR_words = k x N_w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edit_dist = (k-1) x N_w</a:t>
            </a:r>
          </a:p>
          <a:p>
            <a:pPr algn="l"/>
            <a:r>
              <a:rPr sz="1000" b="0" i="0">
                <a:solidFill>
                  <a:srgbClr val="C00000"/>
                </a:solidFill>
                <a:latin typeface="Calibri"/>
              </a:rPr>
              <a:t>  WER = (k-1) x N_w / N_w = k-1</a:t>
            </a:r>
          </a:p>
          <a:p>
            <a:pPr algn="l"/>
            <a:endParaRPr sz="1000" b="0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Therefore: CER = WER = k-1  (ratio = 1.0x)</a:t>
            </a:r>
          </a:p>
          <a:p>
            <a:pPr algn="l"/>
            <a:endParaRPr sz="1100" b="1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Mean contamination formula: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CER_all x N_c_all = CER_n x N_c_n + CER_r x N_c_r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=&gt; CER_r = (CER_all x N_c_all - CER_n x N_c_n) / N_c_r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(weighted by reference char count, not sample count)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378635"/>
                </a:solidFill>
                <a:latin typeface="Calibri"/>
              </a:rPr>
              <a:t>Key Result: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All-samples mean CER ~ WER because runaway samples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drive both metrics equally. Only normal-only separates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6" y="1323000"/>
            <a:ext cx="5408676" cy="54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Case Study: PATS-Akhbar Validation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Observed data (Phase 1 baseline):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Total samples: 459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Normal: 437  |  Runaway: 22 (4.8%)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Ref chars (all): 37,101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Ref chars (normal): 35,285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  Ref chars (runaway): 37,101-35,285 = 1,816</a:t>
            </a:r>
          </a:p>
          <a:p>
            <a:pPr algn="l"/>
            <a:endParaRPr sz="1000" b="0" i="0">
              <a:solidFill>
                <a:srgbClr val="ED7D31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Measured metrics (with diacritics):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CER_all = 114.42%  (= 1.1442 ratio)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CER_normal = 2.22%  (= 0.0222 ratio)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WER_all = 110.82%  (= 1.1082 ratio)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WER_normal = 5.12%  (= 0.0512 ratio)</a:t>
            </a:r>
          </a:p>
          <a:p>
            <a:pPr algn="l"/>
            <a:endParaRPr sz="10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Back-calculate CER for runaway samples: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CER_r x 1,816 = 1.1442x37,101 - 0.0222x35,285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              = 42,449 - 783 = 41,666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  CER_r = 41,666 / 1,816 = 22.95 = 2295%</a:t>
            </a:r>
          </a:p>
          <a:p>
            <a:pPr algn="l"/>
            <a:endParaRPr sz="1000" b="1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Back-calculate WER for runaway samples: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Ref words (all)=7,631  (normal)=7,255  (runaway)=376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WER_r x 376 = 1.1082x7,631 - 0.0512x7,255</a:t>
            </a:r>
          </a:p>
          <a:p>
            <a:pPr algn="l"/>
            <a:r>
              <a:rPr sz="1000" b="0" i="0">
                <a:solidFill>
                  <a:srgbClr val="2E75B6"/>
                </a:solidFill>
                <a:latin typeface="Calibri"/>
              </a:rPr>
              <a:t>             = 8,457 - 371 = 8,086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  WER_r = 8,086 / 376 = 21.50 = 2150%</a:t>
            </a:r>
          </a:p>
          <a:p>
            <a:pPr algn="l"/>
            <a:endParaRPr sz="1000" b="1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378635"/>
                </a:solidFill>
                <a:latin typeface="Calibri"/>
              </a:rPr>
              <a:t>Interpretation:</a:t>
            </a:r>
          </a:p>
          <a:p>
            <a:pPr algn="l"/>
            <a:r>
              <a:rPr sz="1000" b="0" i="0">
                <a:solidFill>
                  <a:srgbClr val="378635"/>
                </a:solidFill>
                <a:latin typeface="Calibri"/>
              </a:rPr>
              <a:t>  CER_r / WER_r = 2295 / 2150 = 1.07x  (theory: 1.0x)</a:t>
            </a:r>
          </a:p>
          <a:p>
            <a:pPr algn="l"/>
            <a:r>
              <a:rPr sz="1000" b="0" i="0">
                <a:solidFill>
                  <a:srgbClr val="378635"/>
                </a:solidFill>
                <a:latin typeface="Calibri"/>
              </a:rPr>
              <a:t>  k-1 = 22.95  =&gt;  avg repetition count k ~ 24x</a:t>
            </a:r>
          </a:p>
          <a:p>
            <a:pPr algn="l"/>
            <a:r>
              <a:rPr sz="1000" b="0" i="0">
                <a:solidFill>
                  <a:srgbClr val="C00000"/>
                </a:solidFill>
                <a:latin typeface="Calibri"/>
              </a:rPr>
              <a:t>  22 runaway samples contribute ~98% of all-samples CER!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=&gt; Normal-only is essential for true quality measurement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17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Understanding the Results — Metric Context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All-samples CER/WER is inflated by Qaari runaway bug  |  Normal-only = true OCR quality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63000"/>
          <a:ext cx="6800000" cy="2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1100000"/>
                <a:gridCol w="1100000"/>
                <a:gridCol w="1100000"/>
                <a:gridCol w="1100000"/>
                <a:gridCol w="700000"/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Dataset (Phase 1)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All+Diac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 NoDiac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Norm+Diac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 NoDiac CER *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Runaway 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PATS avg (8 fonts)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131.55%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127.56%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E75B6"/>
                          </a:solidFill>
                        </a:rPr>
                        <a:t>5.57%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5.5%</a:t>
                      </a:r>
                    </a:p>
                  </a:txBody>
                  <a:tcPr/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E75B6"/>
                          </a:solidFill>
                        </a:rPr>
                        <a:t>KHATT-validation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565.58%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404.64%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60.59%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E75B6"/>
                          </a:solidFill>
                        </a:rPr>
                        <a:t>34.24%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</a:rPr>
                        <a:t>KHATT / PATS 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4.30x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3.17x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9.32x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6.15x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14400" y="1323000"/>
            <a:ext cx="4017352" cy="55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Key Claims Validated</a:t>
            </a:r>
          </a:p>
          <a:p>
            <a:pPr algn="l"/>
            <a:endParaRPr sz="1200" b="1" i="0">
              <a:solidFill>
                <a:srgbClr val="1F3864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Claim 1: KHATT 4.3x harder than PATS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Context: all-samples + diacritics CER</a:t>
            </a:r>
          </a:p>
          <a:p>
            <a:pPr algn="l"/>
            <a:r>
              <a:rPr sz="1000" b="0" i="0">
                <a:solidFill>
                  <a:srgbClr val="378635"/>
                </a:solidFill>
                <a:latin typeface="Calibri"/>
              </a:rPr>
              <a:t>565.58 / 131.55 = 4.30x  [verified]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Normal-only no-diac: 34.24/5.57 = 6.15x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(true difficulty gap is larger!)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Claim 2: 51% improvement (P8 KHATT)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Context: all-samples CER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P1=565.58%, P8=277.27%</a:t>
            </a:r>
          </a:p>
          <a:p>
            <a:pPr algn="l"/>
            <a:r>
              <a:rPr sz="1000" b="0" i="0">
                <a:solidFill>
                  <a:srgbClr val="378635"/>
                </a:solidFill>
                <a:latin typeface="Calibri"/>
              </a:rPr>
              <a:t>(565.58-277.27)/565.58 = 51.0%  [verified]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But normal-only no-diac:</a:t>
            </a:r>
          </a:p>
          <a:p>
            <a:pPr algn="l"/>
            <a:r>
              <a:rPr sz="1000" b="0" i="0">
                <a:solidFill>
                  <a:srgbClr val="C00000"/>
                </a:solidFill>
                <a:latin typeface="Calibri"/>
              </a:rPr>
              <a:t>P1=34.24%, P8=33.83% =&gt; 1.2% gain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(51% = runaway resolution, not OCR fix)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Why normal-only no-diac is primary: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1. Removes runaway contamination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 (17.7% KHATT / 5.5% PATS runaway)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2. Removes diacritic artifacts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 (Qaari inconsistently adds/drops diacritics)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3. Shows true character correction quality</a:t>
            </a:r>
          </a:p>
          <a:p>
            <a:pPr algn="l"/>
            <a:endParaRPr sz="10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* PATS avg = simple mean of 8 fonts (CER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38000"/>
            <a:ext cx="11274552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Data source: Phase 1 baseline_metrics.json (OCR = Qaari v1, no LLM). PATS avg is arithmetic mean across 8 fonts. All-samples includes 22-47 runaway samples per PATS font (avg 5.5%) and 40 runaway samples for KHATT (17.7%).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18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Phase 1 Baseline — Complete Metric Breakdown (4 Variants)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Each dataset x {All / Normal-only} x {With diacritics / Without diacritics}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43000"/>
          <a:ext cx="9400000" cy="4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900000"/>
                <a:gridCol w="900000"/>
                <a:gridCol w="900000"/>
                <a:gridCol w="900000"/>
                <a:gridCol w="900000"/>
                <a:gridCol w="900000"/>
                <a:gridCol w="900000"/>
                <a:gridCol w="900000"/>
                <a:gridCol w="700000"/>
              </a:tblGrid>
              <a:tr h="49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All+Diac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All+Diac 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 NoDiac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 NoDiac 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 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 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 NoDiac CER *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 NoDiac WER *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Runaway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PATS-Akhbar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114.42%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110.82%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111.91%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110.53%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4.8%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PATS-Andalus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154.43%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166.20%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143.75%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162.61%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14.61%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37.21%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33.67%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106.43%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106.22%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4.6%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85.96%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92.35%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81.97%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88.04%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13.77%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9.56%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PATS-Simplified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131.77%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131.69%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132.83%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5.7%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PATS-Tahoma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239.25%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235.11%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238.79%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234.99%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5.87%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9.18%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10.4%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PATS-Thuluth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107.18%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90.24%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104.09%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12.93%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33.96%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31.11%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3.9%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PATS-Traditional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117.72%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122.20%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115.91%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121.39%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3.87%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10.07%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9.35%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5B6"/>
                          </a:solidFill>
                        </a:rPr>
                        <a:t>KHATT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565.58%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725.03%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404.64%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672.77%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89.25%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34.24%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75.60%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17.7%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08000"/>
            <a:ext cx="1127455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Primary metric (starred): Normal-Only + No Diacritics. All-samples CER ~ WER because runaway inflates both equally. Normal-only shows true OCR quality: WER &gt; CER as expected.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19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All-Phase Comparison — KHATT Validation (226 samples, 40 runaway)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Primary metric: Normal-Only + No Diacritics (*)  |  Lower is better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43000"/>
          <a:ext cx="12188952" cy="4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1236119"/>
                <a:gridCol w="1236119"/>
                <a:gridCol w="1236119"/>
                <a:gridCol w="1236119"/>
                <a:gridCol w="1236119"/>
                <a:gridCol w="1236119"/>
                <a:gridCol w="1236119"/>
                <a:gridCol w="1236119"/>
              </a:tblGrid>
              <a:tr h="49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Normal-Only (with diacritics)</a:t>
                      </a:r>
                    </a:p>
                  </a:txBody>
                  <a:tcPr>
                    <a:solidFill>
                      <a:srgbClr val="3786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3786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Normal-Only NO diacritics (*)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 Samples (with diacritics)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 Samples (NO diacritics)</a:t>
                      </a:r>
                    </a:p>
                  </a:txBody>
                  <a:tcPr>
                    <a:solidFill>
                      <a:srgbClr val="7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7B000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Phase / Variant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04040"/>
                          </a:solidFill>
                        </a:rPr>
                        <a:t>P1 — OCR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89.25%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34.24%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75.60%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565.58%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725.03%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404.64%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672.77%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P2 — Zero-Shot (v2)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50.93%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82.64%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33.25%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73.94%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320.73%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453.14%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281.75%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445.32%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P3 — OCR-Aware (conf.mat)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50.72%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83.04%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74.12%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332.98%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358.75%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276.86%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350.62%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P4 — Self-Reflective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47.68%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79.77%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33.24%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72.67%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301.94%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343.97%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258.63%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337.23%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D528A"/>
                          </a:solidFill>
                        </a:rPr>
                        <a:t>P8 — RAG BM25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45.91%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33.83%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73.76%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277.27%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327.75%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255.56%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323.06%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0000"/>
                          </a:solidFill>
                        </a:rPr>
                        <a:t>P9 — Error-Sig 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50.47%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81.65%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33.13%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73.06%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317.57%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364.94%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280.24%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357.20%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28000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Primary metric for thesis: Normal-Only + No Diacritics. P8 (RAG BM25) achieves best all-samples CER (277.27% vs 565.58% P1 = 51% improvement). On normal-only no-diac the improvement is modest: P1=34.24% -&gt; P4=33.24% (best, -1.0 pp). P1 all-samples data corrected: 565.58%/725.03% (with diac), 404.64%/672.77% (no diac).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20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Prompt Structure — Phase 2: Zero-Shot (Crafted Prompt)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Base prompt shared by all phases  |  Injected XML sections vary per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3000"/>
            <a:ext cx="5437276" cy="50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System Prompt Structure (XML tags)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&lt;system&gt;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OCR post-correction engine role + output rule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&lt;task&gt;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Sequential word-by-word alignment instruction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&lt;rules priority&gt;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8 absolute rules (detail right)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  [Phase 3]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=&gt; &lt;confusion_patterns&gt; injected here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  [Phase 4]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=&gt; &lt;self_analysis&gt; injected here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  [Phase 8/9]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=&gt; &lt;retrieved_corrections&gt; injected here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&lt;examples&gt;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Static + dynamic few-shot pairs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  [Phase 8/9]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=&gt; retrieved pairs appended here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&lt;output_format&gt;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Output is ONLY corrected text, nothing else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94476" y="1343000"/>
            <a:ext cx="5437276" cy="50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Critical Rules (Phase 2 base)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1. STRICT VISUAL CORRECTION ONLY -- fix misread chars, not grammar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2. COLLAPSE HALLUCINATION LOOPS -- truncate &gt;3 repeats to once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3. NO TASHKEEL -- strip all diacritics from output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4. PRESERVE CLASSICAL SPELLING -- no modernization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5. DELETE LATIN ARTIFACTS -- OCR errors only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6. UNRECOGNIZABLE TEXT -- leave unchanged if unsure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7. PROPER NOUNS -- correct only unambiguous visual errors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8. PRESERVE ALF LAM -- do not add or remove definite article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Real Example (PATS-Thuluth):</a:t>
            </a:r>
          </a:p>
          <a:p>
            <a:pPr algn="l"/>
            <a:endParaRPr sz="11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OCR input:</a:t>
            </a:r>
          </a:p>
          <a:p>
            <a:pPr algn="l" rtl="1"/>
            <a:r>
              <a:rPr sz="1000" b="0" i="0">
                <a:solidFill>
                  <a:srgbClr val="ED7D31"/>
                </a:solidFill>
                <a:latin typeface="Calibri"/>
              </a:rPr>
              <a:t>منه فلما خرج سكعج سكعئين في قبل الحكعت وقال هذة القبلة</a:t>
            </a:r>
          </a:p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LLM output:</a:t>
            </a:r>
          </a:p>
          <a:p>
            <a:pPr algn="l" rtl="1"/>
            <a:r>
              <a:rPr sz="1000" b="0" i="0">
                <a:solidFill>
                  <a:srgbClr val="2E75B6"/>
                </a:solidFill>
                <a:latin typeface="Calibri"/>
              </a:rPr>
              <a:t>منه فلما خرج سكعج سكعئين في قبل الحكمة وقال هذه القبلة</a:t>
            </a:r>
          </a:p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Ground truth:</a:t>
            </a:r>
          </a:p>
          <a:p>
            <a:pPr algn="l" rtl="1"/>
            <a:r>
              <a:rPr sz="1000" b="0" i="0">
                <a:solidFill>
                  <a:srgbClr val="378635"/>
                </a:solidFill>
                <a:latin typeface="Calibri"/>
              </a:rPr>
              <a:t>منه فلما خرج ركع ركعتين في قبل الكعبة وقال هذه القبلة</a:t>
            </a:r>
          </a:p>
          <a:p>
            <a:pPr algn="l"/>
            <a:endParaRPr sz="1000" b="0" i="0">
              <a:solidFill>
                <a:srgbClr val="378635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LLM partially corrected (fixed typo) but missed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systematic Thuluth font distortions throughout.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21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Prompt Augmentation — Phase 3 (OCR-Aware) vs Phase 4 (Self-Reflective)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Both phases inject additional XML sections into the Phase 2 base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3000"/>
            <a:ext cx="5408676" cy="54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Phase 3 -- OCR-Aware: &lt;confusion_patterns&gt;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What is injected: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Top character confusion pairs from Phase 1 confusion matrix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Cross-referenced with LLM failures from training set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Format: LEFT (OCR form) -&gt; RIGHT (correct form)</a:t>
            </a:r>
          </a:p>
          <a:p>
            <a:pPr algn="l"/>
            <a:endParaRPr sz="10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Prompt section injected (example):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&lt;confusion_patterns&gt;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This OCR system makes these systematic errors.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When you see LEFT, correct to RIGHT: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ح -&gt; ج    (same shape, dot difference)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ص -&gt; ض   (very similar forms)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ر -&gt; ز    (dot above/below)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ن -&gt; ي    (confusion in cursive)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WORD-LEVEL FAILURES from training: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صلاة &lt;- حلطة    (OCR -&gt; correct)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وسلم &lt;- وسله    (OCR -&gt; correct)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&lt;/confusion_patterns&gt;</a:t>
            </a:r>
          </a:p>
          <a:p>
            <a:pPr algn="l"/>
            <a:endParaRPr sz="1000" b="0" i="0">
              <a:solidFill>
                <a:srgbClr val="ED7D31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Result: KHATT normal CER 60.59%-&gt;50.72% (+16.3% rel).</a:t>
            </a:r>
          </a:p>
          <a:p>
            <a:pPr algn="l"/>
            <a:r>
              <a:rPr sz="1000" b="0" i="0">
                <a:solidFill>
                  <a:srgbClr val="C00000"/>
                </a:solidFill>
                <a:latin typeface="Calibri"/>
              </a:rPr>
              <a:t>Hurts PATS -- over-triggers on already-correct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6" y="1323000"/>
            <a:ext cx="5408676" cy="54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Phase 4 -- Self-Reflective: &lt;self_analysis&gt;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What is injected: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Systematic weaknesses from Phase 2 training analysis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Known word-level errors (OCR-&gt;GT pairs from training)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* Over-correction warnings (errors LLM INTRODUCED)</a:t>
            </a:r>
          </a:p>
          <a:p>
            <a:pPr algn="l"/>
            <a:endParaRPr sz="10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Prompt section injected (example):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&lt;self_analysis&gt;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Based on analysis of this model's corrections: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SYSTEMATIC WEAKNESSES: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* Confuses h/j, s/d, n/y systematically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* Often misses bin names (bn) in isnad chains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KNOWN WORD-LEVEL ERRORS: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حلطة -&gt; صلاة     وسله -&gt; وسلم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اخنا -&gt; اذا      حادثنا -&gt; حدثنا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OVER-CORRECTION TRAPS (DO NOT change):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علي -&gt; على  (model wrongly normalizes)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مريرة -&gt; هريرة  (wrong proper noun fix)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&lt;/self_analysis&gt;</a:t>
            </a:r>
          </a:p>
          <a:p>
            <a:pPr algn="l"/>
            <a:endParaRPr sz="1000" b="0" i="0">
              <a:solidFill>
                <a:srgbClr val="ED7D31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Result: Best pure-prompt on KHATT normal: 60.59%-&gt;47.68%</a:t>
            </a:r>
          </a:p>
          <a:p>
            <a:pPr algn="l"/>
            <a:r>
              <a:rPr sz="1000" b="0" i="0">
                <a:solidFill>
                  <a:srgbClr val="C00000"/>
                </a:solidFill>
                <a:latin typeface="Calibri"/>
              </a:rPr>
              <a:t>(-21.3% rel). Still regresses on PATS (more context = more edits).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22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RAG Phase 8 — BM25 Character N-gram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Retrieves the 5 most similar (OCR-&gt;GT) pairs from Phase 2 training 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3000"/>
            <a:ext cx="48000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Pipeline Architecture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BUILD INDEX (once)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Input: 18,363 training (OCR, GT) pairs from Phase 2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Tokenize each OCR text as character 3-grams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  Example: 'ktab' -&gt; ['kta', 'tab']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Build BM25Okapi index over char n-grams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Also extract word-level error pairs (OCR-&gt;GT)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QUERY (per sample)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For each validation OCR text: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  Tokenize as char 3-grams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  BM25 query -&gt; top-5 most similar training texts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  Also retrieve top-10 word-level fixes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INJECT INTO PROMPT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Inject retrieved sentences as &lt;retrieved_corrections&gt;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Inject word fixes as &lt;retrieved_word_fixes&gt;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LLM sees concrete examples of similar corrections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Why char n-grams?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* Robust to OCR noise (word boundaries corrupted)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* Character-level similarity captures confusable patterns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* No embedding model needed (fast, deterministic)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400" y="1323000"/>
            <a:ext cx="601735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Concrete Example -- KHATT Sample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QUERY (validation OCR):</a:t>
            </a:r>
          </a:p>
          <a:p>
            <a:pPr algn="l" rtl="1"/>
            <a:r>
              <a:rPr sz="1000" b="0" i="0">
                <a:solidFill>
                  <a:srgbClr val="ED7D31"/>
                </a:solidFill>
                <a:latin typeface="Calibri"/>
              </a:rPr>
              <a:t>وفد كانت حرة نستهلكة عاسًت أمها هلولبِّا كمايخلِّر من وصف العمهايِّ</a:t>
            </a:r>
          </a:p>
          <a:p>
            <a:pPr algn="l"/>
            <a:endParaRPr sz="1000" b="0" i="0">
              <a:solidFill>
                <a:srgbClr val="ED7D31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378635"/>
                </a:solidFill>
                <a:latin typeface="Calibri"/>
              </a:rPr>
              <a:t>TOP-2 RETRIEVED CORRECTIONS:</a:t>
            </a:r>
          </a:p>
          <a:p>
            <a:pPr algn="l" rtl="1"/>
            <a:r>
              <a:rPr sz="900" b="0" i="0">
                <a:solidFill>
                  <a:srgbClr val="404040"/>
                </a:solidFill>
                <a:latin typeface="Calibri"/>
              </a:rPr>
              <a:t>INPUT:  oze cab jnt tfq mys ghby khf dght as fzl hzf</a:t>
            </a:r>
          </a:p>
          <a:p>
            <a:pPr algn="l" rtl="1"/>
            <a:r>
              <a:rPr sz="900" b="0" i="0">
                <a:solidFill>
                  <a:srgbClr val="404040"/>
                </a:solidFill>
                <a:latin typeface="Calibri"/>
              </a:rPr>
              <a:t>OUTPUT: ezh kab jnt tfq mys ghby khf dght as fzl hzf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 rtl="1"/>
            <a:r>
              <a:rPr sz="900" b="0" i="0">
                <a:solidFill>
                  <a:srgbClr val="404040"/>
                </a:solidFill>
                <a:latin typeface="Calibri"/>
              </a:rPr>
              <a:t>INPUT:  fzl hzf ezh kab jnt tfq mys ghby khf dbght as</a:t>
            </a:r>
          </a:p>
          <a:p>
            <a:pPr algn="l" rtl="1"/>
            <a:r>
              <a:rPr sz="900" b="0" i="0">
                <a:solidFill>
                  <a:srgbClr val="404040"/>
                </a:solidFill>
                <a:latin typeface="Calibri"/>
              </a:rPr>
              <a:t>OUTPUT: fzl hzf ezh kab jnt tfq mys ghby khf dght as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378635"/>
                </a:solidFill>
                <a:latin typeface="Calibri"/>
              </a:rPr>
              <a:t>TOP-5 WORD-LEVEL FIXES: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"ضغت" -&gt; "ضغط"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"غضبي" -&gt; "غضبى"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"مضغتته" -&gt; "مضغته"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"حذف" -&gt; "دخل"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"عزيزة" -&gt; "هريرة"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RESULT:</a:t>
            </a:r>
          </a:p>
          <a:p>
            <a:pPr algn="l"/>
            <a:r>
              <a:rPr sz="1000" b="0" i="0">
                <a:solidFill>
                  <a:srgbClr val="378635"/>
                </a:solidFill>
                <a:latin typeface="Calibri"/>
              </a:rPr>
              <a:t>Best all-phases: KHATT CER 60.59%-&gt;45.91% (normal+diac)</a:t>
            </a:r>
          </a:p>
          <a:p>
            <a:pPr algn="l"/>
            <a:r>
              <a:rPr sz="1000" b="0" i="0">
                <a:solidFill>
                  <a:srgbClr val="ED7D31"/>
                </a:solidFill>
                <a:latin typeface="Calibri"/>
              </a:rPr>
              <a:t>Normal no-diac: 34.24%-&gt;33.83% (modest +1.2% rel)</a:t>
            </a:r>
          </a:p>
          <a:p>
            <a:pPr algn="l"/>
            <a:r>
              <a:rPr sz="1000" b="0" i="0">
                <a:solidFill>
                  <a:srgbClr val="378635"/>
                </a:solidFill>
                <a:latin typeface="Calibri"/>
              </a:rPr>
              <a:t>All-samples: 565.58%-&gt;277.27% (51.0% improvement)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Index: 18,363 training pairs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23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RAG Phase 9 — Error-Signature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Retrieves by structural error similarity rather than text similarity (Phase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3000"/>
            <a:ext cx="52000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Phase 9 vs Phase 8 -- Key Difference</a:t>
            </a:r>
          </a:p>
          <a:p>
            <a:pPr algn="l"/>
            <a:endParaRPr sz="1300" b="1" i="0">
              <a:solidFill>
                <a:srgbClr val="2E75B6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93000"/>
          <a:ext cx="52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700000"/>
                <a:gridCol w="1700000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8 (BM25)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9 (Error-Sig)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404040"/>
                          </a:solidFill>
                        </a:rPr>
                        <a:t>Retrieval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Text similarity (char n-grams)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Error structural similarity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404040"/>
                          </a:solidFill>
                        </a:rPr>
                        <a:t>Index features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BM25 over OCR char 3-grams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Error signature vector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404040"/>
                          </a:solidFill>
                        </a:rPr>
                        <a:t>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OCR text tokenized as n-grams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Predicted error profile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404040"/>
                          </a:solidFill>
                        </a:rPr>
                        <a:t>GPU needed?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No (BM25 only)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</a:rPr>
                        <a:t>No (CAMeL + confusion matrix)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404040"/>
                          </a:solidFill>
                        </a:rPr>
                        <a:t>KHATT CER (norm)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78635"/>
                          </a:solidFill>
                        </a:rPr>
                        <a:t>45.91% -- 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</a:rPr>
                        <a:t>50.47% (worse than P2)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43000"/>
            <a:ext cx="5200000" cy="20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Phase 9 Error Signature Pipeline:</a:t>
            </a:r>
          </a:p>
          <a:p>
            <a:pPr algn="l"/>
            <a:endParaRPr sz="1200" b="1" i="0">
              <a:solidFill>
                <a:srgbClr val="2E75B6"/>
              </a:solidFill>
              <a:latin typeface="Calibri"/>
            </a:endParaRPr>
          </a:p>
          <a:p>
            <a:pPr algn="l"/>
            <a:r>
              <a:rPr sz="900" b="1" i="0">
                <a:solidFill>
                  <a:srgbClr val="2E75B6"/>
                </a:solidFill>
                <a:latin typeface="Calibri"/>
              </a:rPr>
              <a:t>&gt;&gt; BUILD INDEX: For each training pair, compute error signature: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* CAMeL invalid word count (morphological)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* Phase 1 confusion-matrix high-freq confused chars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* CER estimate, error density per word</a:t>
            </a:r>
          </a:p>
          <a:p>
            <a:pPr algn="l"/>
            <a:r>
              <a:rPr sz="900" b="1" i="0">
                <a:solidFill>
                  <a:srgbClr val="2E75B6"/>
                </a:solidFill>
                <a:latin typeface="Calibri"/>
              </a:rPr>
              <a:t>&gt;&gt; QUERY: For new OCR text, predict its error signature: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* Run CAMeL on OCR text -&gt; invalid word rate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* Scan for known confusion-matrix characters</a:t>
            </a:r>
          </a:p>
          <a:p>
            <a:pPr algn="l"/>
            <a:r>
              <a:rPr sz="900" b="1" i="0">
                <a:solidFill>
                  <a:srgbClr val="2E75B6"/>
                </a:solidFill>
                <a:latin typeface="Calibri"/>
              </a:rPr>
              <a:t>&gt;&gt; RETRIEVE: Find training samples with closest error signatures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* Cosine similarity over signature vectors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4400" y="1323000"/>
            <a:ext cx="561735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Why Phase 9 Underperforms Phase 8</a:t>
            </a:r>
          </a:p>
          <a:p>
            <a:pPr algn="l"/>
            <a:endParaRPr sz="1300" b="1" i="0">
              <a:solidFill>
                <a:srgbClr val="C0000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Signature noise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OCR errors corrupt the features used to build the
error signature -- predicted profile is unreliable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Wrong proxy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Two texts can share the same error type (e.g., h/j
confusion) but need completely different corrections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Content mismatch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Structural similarity != useful correction examples.
Retrieved pairs may have similar error patterns but
unrelated words =&gt; unhelpful context for the LLM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&gt;&gt; Text similarity wins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Phase 8 direct text matching finds examples
where actual Arabic words are similar, making
corrections directly applicable</a:t>
            </a:r>
          </a:p>
          <a:p>
            <a:pPr algn="l"/>
            <a:endParaRPr sz="900" b="0" i="0">
              <a:solidFill>
                <a:srgbClr val="404040"/>
              </a:solidFill>
              <a:latin typeface="Calibri"/>
            </a:endParaRPr>
          </a:p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Verdict: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Error-signature retrieval is theoretically appealing
but fails in practice: OCR-corrupted text makes accurate
error profiling impossible. BM25 text similarity (P8)
is simpler and works better.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88952" y="30000"/>
            <a:ext cx="8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DD7EE"/>
                </a:solidFill>
                <a:latin typeface="Calibri"/>
              </a:rPr>
              <a:t>24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00"/>
            <a:ext cx="11274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Real Correction Examples — Phase 2 (Zero-Shot)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0000"/>
            <a:ext cx="112745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DD7EE"/>
                </a:solidFill>
                <a:latin typeface="Calibri"/>
              </a:rPr>
              <a:t>Actual OCR -&gt; LLM corrected -&gt; Ground Truth  |  KHATT (handwritten) + PATS (typewritten)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3000"/>
            <a:ext cx="11274552" cy="17716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200" y="1333000"/>
            <a:ext cx="11074552" cy="172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378635"/>
                </a:solidFill>
                <a:latin typeface="Calibri"/>
              </a:rPr>
              <a:t>KHATT (Handwritten Arabic -- good correction)</a:t>
            </a:r>
          </a:p>
          <a:p>
            <a:pPr algn="l" rtl="1"/>
            <a:r>
              <a:rPr sz="900" b="0" i="0">
                <a:solidFill>
                  <a:srgbClr val="ED7D31"/>
                </a:solidFill>
                <a:latin typeface="Calibri"/>
              </a:rPr>
              <a:t>OCR:  وهي مساحات من الأراضين تعلوهارمال حمر في الغالب ، تمّدمن النفود</a:t>
            </a:r>
          </a:p>
          <a:p>
            <a:pPr algn="l" rtl="1"/>
            <a:r>
              <a:rPr sz="900" b="0" i="0">
                <a:solidFill>
                  <a:srgbClr val="2E75B6"/>
                </a:solidFill>
                <a:latin typeface="Calibri"/>
              </a:rPr>
              <a:t>LLM:  وهي مساحات من الأراضي تعلوها رمال حمر في الغالب تمتد من النفوذ</a:t>
            </a:r>
          </a:p>
          <a:p>
            <a:pPr algn="l" rtl="1"/>
            <a:r>
              <a:rPr sz="900" b="0" i="0">
                <a:solidFill>
                  <a:srgbClr val="378635"/>
                </a:solidFill>
                <a:latin typeface="Calibri"/>
              </a:rPr>
              <a:t>GT:   وهي مساحات من الأرضين تعلوها رمال حمر في الغالب، تمتد من النفود</a:t>
            </a:r>
          </a:p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Fixed merged word 'taloharaml' -&gt; two words. Fixed 'tmdmn' -&gt; 'tmtd mn'. Overcorrected 'lnfod' -&gt; 'lnfoz' (GT keeps original). Missed 'laradyn' vs 'lardyn' (minor variant).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14666"/>
            <a:ext cx="11274552" cy="17716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200" y="3154666"/>
            <a:ext cx="11074552" cy="172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PATS-Andalus (Typewritten -- harmful over-correction)</a:t>
            </a:r>
          </a:p>
          <a:p>
            <a:pPr algn="l" rtl="1"/>
            <a:r>
              <a:rPr sz="900" b="0" i="0">
                <a:solidFill>
                  <a:srgbClr val="ED7D31"/>
                </a:solidFill>
                <a:latin typeface="Calibri"/>
              </a:rPr>
              <a:t>OCR:  بابه من نسي حلطة فليجل إخنا ذكَرها ولا يعيد إلا تلك الحلطة</a:t>
            </a:r>
          </a:p>
          <a:p>
            <a:pPr algn="l" rtl="1"/>
            <a:r>
              <a:rPr sz="900" b="0" i="0">
                <a:solidFill>
                  <a:srgbClr val="2E75B6"/>
                </a:solidFill>
                <a:latin typeface="Calibri"/>
              </a:rPr>
              <a:t>LLM:  بابه من نسي حلاوة فليجل إخنا ذكّرها ولا يعيد إلا تلك الحلاوة</a:t>
            </a:r>
          </a:p>
          <a:p>
            <a:pPr algn="l" rtl="1"/>
            <a:r>
              <a:rPr sz="900" b="0" i="0">
                <a:solidFill>
                  <a:srgbClr val="378635"/>
                </a:solidFill>
                <a:latin typeface="Calibri"/>
              </a:rPr>
              <a:t>GT:   باب من نسي صلاة فليصل إذا ذكرها ولا يعيد إلا تلك الصلاة</a:t>
            </a:r>
          </a:p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LLM changed 'hlth' -&gt; 'hlawt' (wrong -- GT is 'slah'). Missed systematic Andalus font errors throughout. LLM 'guessed' semantically rather than correcting visually. CER got worse.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6332"/>
            <a:ext cx="11274552" cy="17716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200" y="4976332"/>
            <a:ext cx="11074552" cy="172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PATS-Thuluth (Typewritten -- partial correction)</a:t>
            </a:r>
          </a:p>
          <a:p>
            <a:pPr algn="l" rtl="1"/>
            <a:r>
              <a:rPr sz="900" b="0" i="0">
                <a:solidFill>
                  <a:srgbClr val="ED7D31"/>
                </a:solidFill>
                <a:latin typeface="Calibri"/>
              </a:rPr>
              <a:t>OCR:  منه فلما خرج سكعج سكعئين في قبل الحكعت وقال هذة القبلة</a:t>
            </a:r>
          </a:p>
          <a:p>
            <a:pPr algn="l" rtl="1"/>
            <a:r>
              <a:rPr sz="900" b="0" i="0">
                <a:solidFill>
                  <a:srgbClr val="2E75B6"/>
                </a:solidFill>
                <a:latin typeface="Calibri"/>
              </a:rPr>
              <a:t>LLM:  منه فلما خرج سكعج سكعئين في قبل الحكمة وقال هذه القبلة</a:t>
            </a:r>
          </a:p>
          <a:p>
            <a:pPr algn="l" rtl="1"/>
            <a:r>
              <a:rPr sz="900" b="0" i="0">
                <a:solidFill>
                  <a:srgbClr val="378635"/>
                </a:solidFill>
                <a:latin typeface="Calibri"/>
              </a:rPr>
              <a:t>GT:   منه فلما خرج ركع ركعتين في قبل الكعبة وقال هذه القبلة</a:t>
            </a:r>
          </a:p>
          <a:p>
            <a:pPr algn="l"/>
            <a:r>
              <a:rPr sz="800" b="0" i="0">
                <a:solidFill>
                  <a:srgbClr val="404040"/>
                </a:solidFill>
                <a:latin typeface="Calibri"/>
              </a:rPr>
              <a:t>Fixed 'hzh' -&gt; 'hzh' (diacritic). Fixed 'lhkot' -&gt; 'lhkmt' (partial). Missed 'skoaj' -&gt; 'rko', 'skoine' -&gt; 'rkotin', 'lhkobh' -&gt; 'lkobh'. Thuluth extreme shape distortions exceed model's visual decoding.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4976</Words>
  <Application>Microsoft Office PowerPoint</Application>
  <PresentationFormat>Custom</PresentationFormat>
  <Paragraphs>996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mohamed sabry</dc:creator>
  <cp:keywords/>
  <dc:description>generated using python-pptx</dc:description>
  <cp:lastModifiedBy>mohamed sabry</cp:lastModifiedBy>
  <cp:revision>5</cp:revision>
  <dcterms:created xsi:type="dcterms:W3CDTF">2013-01-27T09:14:16Z</dcterms:created>
  <dcterms:modified xsi:type="dcterms:W3CDTF">2026-05-09T19:12:10Z</dcterms:modified>
  <cp:category/>
</cp:coreProperties>
</file>